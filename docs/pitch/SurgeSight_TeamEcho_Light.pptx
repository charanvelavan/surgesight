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Echo: Charan and Vishal. This is SurgeSight. It lets district officials see a cyclone’s impact on schools, hospitals, power and roads before it reaches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IMD’s forecasts are good, but they stop at the storm. Before landfall a District Collector still has to work out, by phone and spreadsheet, which school, which hospital and which road will be hit, and what changes if the track shifts. The challenge is to turn one forecast into answers every department can act on, in its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it, we built SurgeSight: Gemini reads the bulletin, our models score every facility and road with Earth Engine data, the map shows what was alerted and why, Gemini writes each department’s advisory, and an officer approves before anything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SurgeSight we replayed Cyclone Michaung, December 2023, in Tamil Nadu and Andhra Pradesh. Under the storm: 4,214 critical facilities, nearly 34,000 km of main roads, 10.5 million people in the priority area, and seven departments that each needed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one, the impact map on Google Maps: every facility under the storm is coloured from low to critical, alert zones move with the storm, you see the observed track and our forecast with its uncertainty, and the road layer shows which roads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two answers why a facility was alerted. For KGVB School in Kothapatnam: the numbers first, then what drives the score, then Gemini’s plain-language reason, with every number checked against the table. It also flags that road access to the nearest hospital is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reads bulletins, explains why each facility was alerted, writes each department’s plan, speaks six Indian languages, reasons with 29 tools as an ADK agent team, and searches for the latest bulletins. It never calculates the risk; our models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department gets its own advisory, written by Gemini in its own language, here the Health Department in Tamil, with audio and a CAP 1.2 alert. Nothing is sent until an officer approves; then it goes out by Gmail and phone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comes from the IMD bulletin, ten Earth Engine datasets and OpenStreetMap. Our models compute wind, surge, rain, roads, hospital access, the ensemble and what-ifs. Gemini with the Agent Development Kit explains and advises behind a number guard. Checked against Michaung: 27.6 km 6-hour track error, 0.71 rain correlation, and twice as much satellite-seen water on the roads we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Google services, each with a real job: Gemini and Vertex AI with Gemini Live and the Agent Development Kit, Earth Engine and the Maps Platform, BigQuery, Firestore and Cloud Storage, Gmail and Firebase, and Cloud Run with Scheduler, Secret Manager, Cloud Build and Artifact Registry. It runs on Cloud Run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 citizen app, cascading-failure analysis, alerts to every phone through SACHET, voice for village officers with Gemini Live, parametric money before landfall, and a model that learns from every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Collectors know what to protect first and why. Hospitals plan fuel, power and patient moves before roads flood. Power and water boards send crews where the risk is highest. And people on the coast get warnings in their own language. SurgeSight does not replace IMD; it turns forecasts into action before landfall. Thank you. We are Team 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7" Type="http://schemas.openxmlformats.org/officeDocument/2006/relationships/hyperlink" Target="https://surgesight-221627601364.asia-south1.run.app" TargetMode="External"/><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3/-Users-CharanVelavan-Charan-Projects-SurgeSight/9ee263a0-0835-4556-8164-6a5a42928b6b/scratchpad/deck/img/logo.png">    </p:cNvPr>
          <p:cNvPicPr>
            <a:picLocks noChangeAspect="1"/>
          </p:cNvPicPr>
          <p:nvPr/>
        </p:nvPicPr>
        <p:blipFill>
          <a:blip r:embed="rId2"/>
          <a:stretch>
            <a:fillRect/>
          </a:stretch>
        </p:blipFill>
        <p:spPr>
          <a:xfrm>
            <a:off x="5432908" y="868680"/>
            <a:ext cx="1325880" cy="1325880"/>
          </a:xfrm>
          <a:prstGeom prst="rect">
            <a:avLst/>
          </a:prstGeom>
        </p:spPr>
      </p:pic>
      <p:sp>
        <p:nvSpPr>
          <p:cNvPr id="3" name="Text 0"/>
          <p:cNvSpPr txBox="1"/>
          <p:nvPr/>
        </p:nvSpPr>
        <p:spPr>
          <a:xfrm>
            <a:off x="0" y="2377440"/>
            <a:ext cx="12191695" cy="1143000"/>
          </a:xfrm>
          <a:prstGeom prst="rect">
            <a:avLst/>
          </a:prstGeom>
          <a:noFill/>
          <a:ln/>
        </p:spPr>
        <p:txBody>
          <a:bodyPr wrap="square" lIns="0" tIns="0" rIns="0" bIns="0" rtlCol="0" anchor="ctr"/>
          <a:lstStyle/>
          <a:p>
            <a:pPr algn="ctr" indent="0" marL="0">
              <a:buNone/>
            </a:pPr>
            <a:r>
              <a:rPr lang="en-US" sz="7200" b="1" dirty="0">
                <a:solidFill>
                  <a:srgbClr val="202124"/>
                </a:solidFill>
                <a:latin typeface="Arial" pitchFamily="34" charset="0"/>
                <a:ea typeface="Arial" pitchFamily="34" charset="-122"/>
                <a:cs typeface="Arial" pitchFamily="34" charset="-120"/>
              </a:rPr>
              <a:t>SurgeSight</a:t>
            </a:r>
            <a:endParaRPr lang="en-US" sz="7200" dirty="0"/>
          </a:p>
        </p:txBody>
      </p:sp>
      <p:sp>
        <p:nvSpPr>
          <p:cNvPr id="4" name="Text 1"/>
          <p:cNvSpPr txBox="1"/>
          <p:nvPr/>
        </p:nvSpPr>
        <p:spPr>
          <a:xfrm>
            <a:off x="0" y="3566160"/>
            <a:ext cx="12191695" cy="502920"/>
          </a:xfrm>
          <a:prstGeom prst="rect">
            <a:avLst/>
          </a:prstGeom>
          <a:noFill/>
          <a:ln/>
        </p:spPr>
        <p:txBody>
          <a:bodyPr wrap="square" lIns="0" tIns="0" rIns="0" bIns="0" rtlCol="0" anchor="t"/>
          <a:lstStyle/>
          <a:p>
            <a:pPr algn="ctr" indent="0" marL="0">
              <a:buNone/>
            </a:pPr>
            <a:r>
              <a:rPr lang="en-US" sz="2200" dirty="0">
                <a:solidFill>
                  <a:srgbClr val="3C4043"/>
                </a:solidFill>
                <a:latin typeface="Arial" pitchFamily="34" charset="0"/>
                <a:ea typeface="Arial" pitchFamily="34" charset="-122"/>
                <a:cs typeface="Arial" pitchFamily="34" charset="-120"/>
              </a:rPr>
              <a:t>See a cyclone’s impact before it reaches the coast.</a:t>
            </a:r>
            <a:endParaRPr lang="en-US" sz="2200" dirty="0"/>
          </a:p>
        </p:txBody>
      </p:sp>
      <p:sp>
        <p:nvSpPr>
          <p:cNvPr id="5" name="Shape 2"/>
          <p:cNvSpPr/>
          <p:nvPr/>
        </p:nvSpPr>
        <p:spPr>
          <a:xfrm>
            <a:off x="4678528" y="4507992"/>
            <a:ext cx="137160" cy="137160"/>
          </a:xfrm>
          <a:prstGeom prst="ellipse">
            <a:avLst/>
          </a:prstGeom>
          <a:solidFill>
            <a:srgbClr val="1A73E8"/>
          </a:solidFill>
          <a:ln/>
        </p:spPr>
      </p:sp>
      <p:sp>
        <p:nvSpPr>
          <p:cNvPr id="6" name="Shape 3"/>
          <p:cNvSpPr/>
          <p:nvPr/>
        </p:nvSpPr>
        <p:spPr>
          <a:xfrm>
            <a:off x="4888840" y="4507992"/>
            <a:ext cx="137160" cy="137160"/>
          </a:xfrm>
          <a:prstGeom prst="ellipse">
            <a:avLst/>
          </a:prstGeom>
          <a:solidFill>
            <a:srgbClr val="EA4335"/>
          </a:solidFill>
          <a:ln/>
        </p:spPr>
      </p:sp>
      <p:sp>
        <p:nvSpPr>
          <p:cNvPr id="7" name="Shape 4"/>
          <p:cNvSpPr/>
          <p:nvPr/>
        </p:nvSpPr>
        <p:spPr>
          <a:xfrm>
            <a:off x="5099152" y="4507992"/>
            <a:ext cx="137160" cy="137160"/>
          </a:xfrm>
          <a:prstGeom prst="ellipse">
            <a:avLst/>
          </a:prstGeom>
          <a:solidFill>
            <a:srgbClr val="FBBC04"/>
          </a:solidFill>
          <a:ln/>
        </p:spPr>
      </p:sp>
      <p:sp>
        <p:nvSpPr>
          <p:cNvPr id="8" name="Shape 5"/>
          <p:cNvSpPr/>
          <p:nvPr/>
        </p:nvSpPr>
        <p:spPr>
          <a:xfrm>
            <a:off x="5309464" y="4507992"/>
            <a:ext cx="137160" cy="137160"/>
          </a:xfrm>
          <a:prstGeom prst="ellipse">
            <a:avLst/>
          </a:prstGeom>
          <a:solidFill>
            <a:srgbClr val="34A853"/>
          </a:solidFill>
          <a:ln/>
        </p:spPr>
      </p:sp>
      <p:sp>
        <p:nvSpPr>
          <p:cNvPr id="9" name="Text 6"/>
          <p:cNvSpPr txBox="1"/>
          <p:nvPr/>
        </p:nvSpPr>
        <p:spPr>
          <a:xfrm>
            <a:off x="5592928" y="4370832"/>
            <a:ext cx="2377440" cy="411480"/>
          </a:xfrm>
          <a:prstGeom prst="rect">
            <a:avLst/>
          </a:prstGeom>
          <a:noFill/>
          <a:ln/>
        </p:spPr>
        <p:txBody>
          <a:bodyPr wrap="square" lIns="0" tIns="0" rIns="0" bIns="0" rtlCol="0" anchor="ctr"/>
          <a:lstStyle/>
          <a:p>
            <a:pPr indent="0" marL="0">
              <a:buNone/>
            </a:pPr>
            <a:r>
              <a:rPr lang="en-US" sz="2000" b="1" spc="500" kern="0" dirty="0">
                <a:solidFill>
                  <a:srgbClr val="202124"/>
                </a:solidFill>
                <a:latin typeface="Arial" pitchFamily="34" charset="0"/>
                <a:ea typeface="Arial" pitchFamily="34" charset="-122"/>
                <a:cs typeface="Arial" pitchFamily="34" charset="-120"/>
              </a:rPr>
              <a:t>TEAM ECHO</a:t>
            </a:r>
            <a:endParaRPr lang="en-US" sz="2000" dirty="0"/>
          </a:p>
        </p:txBody>
      </p:sp>
      <p:sp>
        <p:nvSpPr>
          <p:cNvPr id="10" name="Text 7"/>
          <p:cNvSpPr txBox="1"/>
          <p:nvPr/>
        </p:nvSpPr>
        <p:spPr>
          <a:xfrm>
            <a:off x="0" y="4846320"/>
            <a:ext cx="12191695" cy="365760"/>
          </a:xfrm>
          <a:prstGeom prst="rect">
            <a:avLst/>
          </a:prstGeom>
          <a:noFill/>
          <a:ln/>
        </p:spPr>
        <p:txBody>
          <a:bodyPr wrap="square" lIns="0" tIns="0" rIns="0" bIns="0" rtlCol="0" anchor="t"/>
          <a:lstStyle/>
          <a:p>
            <a:pPr algn="ctr" indent="0" marL="0">
              <a:buNone/>
            </a:pPr>
            <a:r>
              <a:rPr lang="en-US" sz="1500" dirty="0">
                <a:solidFill>
                  <a:srgbClr val="4A5A78"/>
                </a:solidFill>
                <a:latin typeface="Arial" pitchFamily="34" charset="0"/>
                <a:ea typeface="Arial" pitchFamily="34" charset="-122"/>
                <a:cs typeface="Arial" pitchFamily="34" charset="-120"/>
              </a:rPr>
              <a:t>Charan  ·  Vishal</a:t>
            </a:r>
            <a:endParaRPr lang="en-US" sz="1500" dirty="0"/>
          </a:p>
        </p:txBody>
      </p:sp>
      <p:sp>
        <p:nvSpPr>
          <p:cNvPr id="11" name="Text 8"/>
          <p:cNvSpPr txBox="1"/>
          <p:nvPr/>
        </p:nvSpPr>
        <p:spPr>
          <a:xfrm>
            <a:off x="0" y="5989320"/>
            <a:ext cx="12191695" cy="274320"/>
          </a:xfrm>
          <a:prstGeom prst="rect">
            <a:avLst/>
          </a:prstGeom>
          <a:noFill/>
          <a:ln/>
        </p:spPr>
        <p:txBody>
          <a:bodyPr wrap="square" lIns="0" tIns="0" rIns="0" bIns="0" rtlCol="0" anchor="t"/>
          <a:lstStyle/>
          <a:p>
            <a:pPr algn="ctr" indent="0" marL="0">
              <a:buNone/>
            </a:pPr>
            <a:r>
              <a:rPr lang="en-US" sz="1100" b="1" spc="200" kern="0" dirty="0">
                <a:solidFill>
                  <a:srgbClr val="4A5A78"/>
                </a:solidFill>
                <a:latin typeface="Arial" pitchFamily="34" charset="0"/>
                <a:ea typeface="Arial" pitchFamily="34" charset="-122"/>
                <a:cs typeface="Arial" pitchFamily="34" charset="-120"/>
              </a:rPr>
              <a:t>BUILD WITH AI: CODE FOR COMMUNITIES 2.0  ·  PROBLEM STATEMENT 05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THE PROBLEM</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Forecasts tell us where a cyclone will go.</a:t>
            </a:r>
            <a:endParaRPr lang="en-US" sz="3000" dirty="0"/>
          </a:p>
          <a:p>
            <a:pPr indent="0" marL="0">
              <a:buNone/>
            </a:pPr>
            <a:r>
              <a:rPr lang="en-US" sz="3000" b="1" dirty="0">
                <a:solidFill>
                  <a:srgbClr val="D93025"/>
                </a:solidFill>
                <a:latin typeface="Arial" pitchFamily="34" charset="0"/>
                <a:ea typeface="Arial" pitchFamily="34" charset="-122"/>
                <a:cs typeface="Arial" pitchFamily="34" charset="-120"/>
              </a:rPr>
              <a:t>Not what it will hit.</a:t>
            </a:r>
            <a:endParaRPr lang="en-US" sz="3000" dirty="0"/>
          </a:p>
        </p:txBody>
      </p:sp>
      <p:sp>
        <p:nvSpPr>
          <p:cNvPr id="4" name="Shape 2"/>
          <p:cNvSpPr/>
          <p:nvPr/>
        </p:nvSpPr>
        <p:spPr>
          <a:xfrm>
            <a:off x="640080" y="2240280"/>
            <a:ext cx="2468880" cy="1005840"/>
          </a:xfrm>
          <a:prstGeom prst="roundRect">
            <a:avLst>
              <a:gd name="adj" fmla="val 16364"/>
            </a:avLst>
          </a:prstGeom>
          <a:solidFill>
            <a:srgbClr val="E8F0FE"/>
          </a:solidFill>
          <a:ln/>
        </p:spPr>
      </p:sp>
      <p:sp>
        <p:nvSpPr>
          <p:cNvPr id="5" name="Text 3"/>
          <p:cNvSpPr txBox="1"/>
          <p:nvPr/>
        </p:nvSpPr>
        <p:spPr>
          <a:xfrm>
            <a:off x="640080" y="2240280"/>
            <a:ext cx="2468880" cy="1005840"/>
          </a:xfrm>
          <a:prstGeom prst="rect">
            <a:avLst/>
          </a:prstGeom>
          <a:noFill/>
          <a:ln/>
        </p:spPr>
        <p:txBody>
          <a:bodyPr wrap="square" lIns="0" tIns="0" rIns="0" bIns="0" rtlCol="0" anchor="ctr"/>
          <a:lstStyle/>
          <a:p>
            <a:pPr algn="ctr" indent="0" marL="0">
              <a:buNone/>
            </a:pPr>
            <a:r>
              <a:rPr lang="en-US" sz="2200" b="1" spc="300" kern="0" dirty="0">
                <a:solidFill>
                  <a:srgbClr val="1967D2"/>
                </a:solidFill>
                <a:latin typeface="Arial" pitchFamily="34" charset="0"/>
                <a:ea typeface="Arial" pitchFamily="34" charset="-122"/>
                <a:cs typeface="Arial" pitchFamily="34" charset="-120"/>
              </a:rPr>
              <a:t>FORECAST</a:t>
            </a:r>
            <a:endParaRPr lang="en-US" sz="2200" dirty="0"/>
          </a:p>
        </p:txBody>
      </p:sp>
      <p:sp>
        <p:nvSpPr>
          <p:cNvPr id="6" name="Shape 4"/>
          <p:cNvSpPr/>
          <p:nvPr/>
        </p:nvSpPr>
        <p:spPr>
          <a:xfrm>
            <a:off x="3218688" y="2743200"/>
            <a:ext cx="466344" cy="914"/>
          </a:xfrm>
          <a:prstGeom prst="line">
            <a:avLst/>
          </a:prstGeom>
          <a:noFill/>
          <a:ln w="28575">
            <a:solidFill>
              <a:srgbClr val="A7B0C0"/>
            </a:solidFill>
            <a:prstDash val="solid"/>
            <a:tailEnd type="triangle"/>
          </a:ln>
        </p:spPr>
      </p:sp>
      <p:sp>
        <p:nvSpPr>
          <p:cNvPr id="7" name="Shape 5"/>
          <p:cNvSpPr/>
          <p:nvPr/>
        </p:nvSpPr>
        <p:spPr>
          <a:xfrm>
            <a:off x="3794760" y="2240280"/>
            <a:ext cx="2468880" cy="1005840"/>
          </a:xfrm>
          <a:prstGeom prst="roundRect">
            <a:avLst>
              <a:gd name="adj" fmla="val 16364"/>
            </a:avLst>
          </a:prstGeom>
          <a:solidFill>
            <a:srgbClr val="FFFFFF"/>
          </a:solidFill>
          <a:ln w="38100">
            <a:solidFill>
              <a:srgbClr val="EA4335"/>
            </a:solidFill>
            <a:prstDash val="dash"/>
          </a:ln>
        </p:spPr>
      </p:sp>
      <p:sp>
        <p:nvSpPr>
          <p:cNvPr id="8" name="Text 6"/>
          <p:cNvSpPr txBox="1"/>
          <p:nvPr/>
        </p:nvSpPr>
        <p:spPr>
          <a:xfrm>
            <a:off x="3794760" y="2240280"/>
            <a:ext cx="2468880" cy="1005840"/>
          </a:xfrm>
          <a:prstGeom prst="rect">
            <a:avLst/>
          </a:prstGeom>
          <a:noFill/>
          <a:ln/>
        </p:spPr>
        <p:txBody>
          <a:bodyPr wrap="square" lIns="0" tIns="0" rIns="0" bIns="0" rtlCol="0" anchor="ctr"/>
          <a:lstStyle/>
          <a:p>
            <a:pPr algn="ctr" indent="0" marL="0">
              <a:buNone/>
            </a:pPr>
            <a:r>
              <a:rPr lang="en-US" sz="4400" b="1" dirty="0">
                <a:solidFill>
                  <a:srgbClr val="EA4335"/>
                </a:solidFill>
                <a:latin typeface="Arial" pitchFamily="34" charset="0"/>
                <a:ea typeface="Arial" pitchFamily="34" charset="-122"/>
                <a:cs typeface="Arial" pitchFamily="34" charset="-120"/>
              </a:rPr>
              <a:t>?</a:t>
            </a:r>
            <a:endParaRPr lang="en-US" sz="4400" dirty="0"/>
          </a:p>
        </p:txBody>
      </p:sp>
      <p:sp>
        <p:nvSpPr>
          <p:cNvPr id="9" name="Shape 7"/>
          <p:cNvSpPr/>
          <p:nvPr/>
        </p:nvSpPr>
        <p:spPr>
          <a:xfrm>
            <a:off x="6373368" y="2743200"/>
            <a:ext cx="466344" cy="914"/>
          </a:xfrm>
          <a:prstGeom prst="line">
            <a:avLst/>
          </a:prstGeom>
          <a:noFill/>
          <a:ln w="28575">
            <a:solidFill>
              <a:srgbClr val="A7B0C0"/>
            </a:solidFill>
            <a:prstDash val="solid"/>
            <a:tailEnd type="triangle"/>
          </a:ln>
        </p:spPr>
      </p:sp>
      <p:sp>
        <p:nvSpPr>
          <p:cNvPr id="10" name="Shape 8"/>
          <p:cNvSpPr/>
          <p:nvPr/>
        </p:nvSpPr>
        <p:spPr>
          <a:xfrm>
            <a:off x="6949440" y="2240280"/>
            <a:ext cx="2468880" cy="1005840"/>
          </a:xfrm>
          <a:prstGeom prst="roundRect">
            <a:avLst>
              <a:gd name="adj" fmla="val 16364"/>
            </a:avLst>
          </a:prstGeom>
          <a:solidFill>
            <a:srgbClr val="E6F4EA"/>
          </a:solidFill>
          <a:ln/>
        </p:spPr>
      </p:sp>
      <p:sp>
        <p:nvSpPr>
          <p:cNvPr id="11" name="Text 9"/>
          <p:cNvSpPr txBox="1"/>
          <p:nvPr/>
        </p:nvSpPr>
        <p:spPr>
          <a:xfrm>
            <a:off x="6949440" y="2240280"/>
            <a:ext cx="2468880" cy="1005840"/>
          </a:xfrm>
          <a:prstGeom prst="rect">
            <a:avLst/>
          </a:prstGeom>
          <a:noFill/>
          <a:ln/>
        </p:spPr>
        <p:txBody>
          <a:bodyPr wrap="square" lIns="0" tIns="0" rIns="0" bIns="0" rtlCol="0" anchor="ctr"/>
          <a:lstStyle/>
          <a:p>
            <a:pPr algn="ctr" indent="0" marL="0">
              <a:buNone/>
            </a:pPr>
            <a:r>
              <a:rPr lang="en-US" sz="2200" b="1" spc="300" kern="0" dirty="0">
                <a:solidFill>
                  <a:srgbClr val="188038"/>
                </a:solidFill>
                <a:latin typeface="Arial" pitchFamily="34" charset="0"/>
                <a:ea typeface="Arial" pitchFamily="34" charset="-122"/>
                <a:cs typeface="Arial" pitchFamily="34" charset="-120"/>
              </a:rPr>
              <a:t>ACTION</a:t>
            </a:r>
            <a:endParaRPr lang="en-US" sz="2200" dirty="0"/>
          </a:p>
        </p:txBody>
      </p:sp>
      <p:sp>
        <p:nvSpPr>
          <p:cNvPr id="12" name="Shape 10"/>
          <p:cNvSpPr/>
          <p:nvPr/>
        </p:nvSpPr>
        <p:spPr>
          <a:xfrm>
            <a:off x="640080" y="3703320"/>
            <a:ext cx="1902562" cy="566928"/>
          </a:xfrm>
          <a:prstGeom prst="roundRect">
            <a:avLst>
              <a:gd name="adj" fmla="val 50000"/>
            </a:avLst>
          </a:prstGeom>
          <a:solidFill>
            <a:srgbClr val="E8F0FE"/>
          </a:solidFill>
          <a:ln/>
        </p:spPr>
      </p:sp>
      <p:sp>
        <p:nvSpPr>
          <p:cNvPr id="13" name="Text 11"/>
          <p:cNvSpPr txBox="1"/>
          <p:nvPr/>
        </p:nvSpPr>
        <p:spPr>
          <a:xfrm>
            <a:off x="640080" y="3703320"/>
            <a:ext cx="1902562" cy="566928"/>
          </a:xfrm>
          <a:prstGeom prst="rect">
            <a:avLst/>
          </a:prstGeom>
          <a:noFill/>
          <a:ln/>
        </p:spPr>
        <p:txBody>
          <a:bodyPr wrap="square" lIns="0" tIns="0" rIns="0" bIns="0" rtlCol="0" anchor="ctr"/>
          <a:lstStyle/>
          <a:p>
            <a:pPr algn="ctr" indent="0" marL="0">
              <a:buNone/>
            </a:pPr>
            <a:r>
              <a:rPr lang="en-US" sz="1700" b="1" dirty="0">
                <a:solidFill>
                  <a:srgbClr val="1967D2"/>
                </a:solidFill>
                <a:latin typeface="Arial" pitchFamily="34" charset="0"/>
                <a:ea typeface="Arial" pitchFamily="34" charset="-122"/>
                <a:cs typeface="Arial" pitchFamily="34" charset="-120"/>
              </a:rPr>
              <a:t>Which school?</a:t>
            </a:r>
            <a:endParaRPr lang="en-US" sz="1700" dirty="0"/>
          </a:p>
        </p:txBody>
      </p:sp>
      <p:sp>
        <p:nvSpPr>
          <p:cNvPr id="14" name="Shape 12"/>
          <p:cNvSpPr/>
          <p:nvPr/>
        </p:nvSpPr>
        <p:spPr>
          <a:xfrm>
            <a:off x="2743810" y="3703320"/>
            <a:ext cx="2130552" cy="566928"/>
          </a:xfrm>
          <a:prstGeom prst="roundRect">
            <a:avLst>
              <a:gd name="adj" fmla="val 50000"/>
            </a:avLst>
          </a:prstGeom>
          <a:solidFill>
            <a:srgbClr val="FCE8E6"/>
          </a:solidFill>
          <a:ln/>
        </p:spPr>
      </p:sp>
      <p:sp>
        <p:nvSpPr>
          <p:cNvPr id="15" name="Text 13"/>
          <p:cNvSpPr txBox="1"/>
          <p:nvPr/>
        </p:nvSpPr>
        <p:spPr>
          <a:xfrm>
            <a:off x="2743810" y="3703320"/>
            <a:ext cx="2130552" cy="566928"/>
          </a:xfrm>
          <a:prstGeom prst="rect">
            <a:avLst/>
          </a:prstGeom>
          <a:noFill/>
          <a:ln/>
        </p:spPr>
        <p:txBody>
          <a:bodyPr wrap="square" lIns="0" tIns="0" rIns="0" bIns="0" rtlCol="0" anchor="ctr"/>
          <a:lstStyle/>
          <a:p>
            <a:pPr algn="ctr" indent="0" marL="0">
              <a:buNone/>
            </a:pPr>
            <a:r>
              <a:rPr lang="en-US" sz="1700" b="1" dirty="0">
                <a:solidFill>
                  <a:srgbClr val="C5221F"/>
                </a:solidFill>
                <a:latin typeface="Arial" pitchFamily="34" charset="0"/>
                <a:ea typeface="Arial" pitchFamily="34" charset="-122"/>
                <a:cs typeface="Arial" pitchFamily="34" charset="-120"/>
              </a:rPr>
              <a:t>Which hospital?</a:t>
            </a:r>
            <a:endParaRPr lang="en-US" sz="1700" dirty="0"/>
          </a:p>
        </p:txBody>
      </p:sp>
      <p:sp>
        <p:nvSpPr>
          <p:cNvPr id="16" name="Shape 14"/>
          <p:cNvSpPr/>
          <p:nvPr/>
        </p:nvSpPr>
        <p:spPr>
          <a:xfrm>
            <a:off x="5075530" y="3703320"/>
            <a:ext cx="1674571" cy="566928"/>
          </a:xfrm>
          <a:prstGeom prst="roundRect">
            <a:avLst>
              <a:gd name="adj" fmla="val 50000"/>
            </a:avLst>
          </a:prstGeom>
          <a:solidFill>
            <a:srgbClr val="FEF7E0"/>
          </a:solidFill>
          <a:ln/>
        </p:spPr>
      </p:sp>
      <p:sp>
        <p:nvSpPr>
          <p:cNvPr id="17" name="Text 15"/>
          <p:cNvSpPr txBox="1"/>
          <p:nvPr/>
        </p:nvSpPr>
        <p:spPr>
          <a:xfrm>
            <a:off x="5075530" y="3703320"/>
            <a:ext cx="1674571" cy="566928"/>
          </a:xfrm>
          <a:prstGeom prst="rect">
            <a:avLst/>
          </a:prstGeom>
          <a:noFill/>
          <a:ln/>
        </p:spPr>
        <p:txBody>
          <a:bodyPr wrap="square" lIns="0" tIns="0" rIns="0" bIns="0" rtlCol="0" anchor="ctr"/>
          <a:lstStyle/>
          <a:p>
            <a:pPr algn="ctr" indent="0" marL="0">
              <a:buNone/>
            </a:pPr>
            <a:r>
              <a:rPr lang="en-US" sz="1700" b="1" dirty="0">
                <a:solidFill>
                  <a:srgbClr val="B06000"/>
                </a:solidFill>
                <a:latin typeface="Arial" pitchFamily="34" charset="0"/>
                <a:ea typeface="Arial" pitchFamily="34" charset="-122"/>
                <a:cs typeface="Arial" pitchFamily="34" charset="-120"/>
              </a:rPr>
              <a:t>Which road?</a:t>
            </a:r>
            <a:endParaRPr lang="en-US" sz="1700" dirty="0"/>
          </a:p>
        </p:txBody>
      </p:sp>
      <p:sp>
        <p:nvSpPr>
          <p:cNvPr id="18" name="Shape 16"/>
          <p:cNvSpPr/>
          <p:nvPr/>
        </p:nvSpPr>
        <p:spPr>
          <a:xfrm>
            <a:off x="6951269" y="3703320"/>
            <a:ext cx="3270504" cy="566928"/>
          </a:xfrm>
          <a:prstGeom prst="roundRect">
            <a:avLst>
              <a:gd name="adj" fmla="val 50000"/>
            </a:avLst>
          </a:prstGeom>
          <a:solidFill>
            <a:srgbClr val="E6F4EA"/>
          </a:solidFill>
          <a:ln/>
        </p:spPr>
      </p:sp>
      <p:sp>
        <p:nvSpPr>
          <p:cNvPr id="19" name="Text 17"/>
          <p:cNvSpPr txBox="1"/>
          <p:nvPr/>
        </p:nvSpPr>
        <p:spPr>
          <a:xfrm>
            <a:off x="6951269" y="3703320"/>
            <a:ext cx="3270504" cy="566928"/>
          </a:xfrm>
          <a:prstGeom prst="rect">
            <a:avLst/>
          </a:prstGeom>
          <a:noFill/>
          <a:ln/>
        </p:spPr>
        <p:txBody>
          <a:bodyPr wrap="square" lIns="0" tIns="0" rIns="0" bIns="0" rtlCol="0" anchor="ctr"/>
          <a:lstStyle/>
          <a:p>
            <a:pPr algn="ctr" indent="0" marL="0">
              <a:buNone/>
            </a:pPr>
            <a:r>
              <a:rPr lang="en-US" sz="1700" b="1" dirty="0">
                <a:solidFill>
                  <a:srgbClr val="188038"/>
                </a:solidFill>
                <a:latin typeface="Arial" pitchFamily="34" charset="0"/>
                <a:ea typeface="Arial" pitchFamily="34" charset="-122"/>
                <a:cs typeface="Arial" pitchFamily="34" charset="-120"/>
              </a:rPr>
              <a:t>What if the track shifts?</a:t>
            </a:r>
            <a:endParaRPr lang="en-US" sz="1700" dirty="0"/>
          </a:p>
        </p:txBody>
      </p:sp>
      <p:sp>
        <p:nvSpPr>
          <p:cNvPr id="20" name="Shape 18"/>
          <p:cNvSpPr/>
          <p:nvPr/>
        </p:nvSpPr>
        <p:spPr>
          <a:xfrm>
            <a:off x="640080" y="4709160"/>
            <a:ext cx="10911535" cy="1325880"/>
          </a:xfrm>
          <a:prstGeom prst="roundRect">
            <a:avLst>
              <a:gd name="adj" fmla="val 11034"/>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1" name="Text 19"/>
          <p:cNvSpPr txBox="1"/>
          <p:nvPr/>
        </p:nvSpPr>
        <p:spPr>
          <a:xfrm>
            <a:off x="960120" y="4892040"/>
            <a:ext cx="3657600" cy="274320"/>
          </a:xfrm>
          <a:prstGeom prst="rect">
            <a:avLst/>
          </a:prstGeom>
          <a:noFill/>
          <a:ln/>
        </p:spPr>
        <p:txBody>
          <a:bodyPr wrap="square" lIns="0" tIns="0" rIns="0" bIns="0" rtlCol="0" anchor="t"/>
          <a:lstStyle/>
          <a:p>
            <a:pPr indent="0" marL="0">
              <a:buNone/>
            </a:pPr>
            <a:r>
              <a:rPr lang="en-US" sz="1200" b="1" spc="300" kern="0" dirty="0">
                <a:solidFill>
                  <a:srgbClr val="4A5A78"/>
                </a:solidFill>
                <a:latin typeface="Arial" pitchFamily="34" charset="0"/>
                <a:ea typeface="Arial" pitchFamily="34" charset="-122"/>
                <a:cs typeface="Arial" pitchFamily="34" charset="-120"/>
              </a:rPr>
              <a:t>THE CHALLENGE</a:t>
            </a:r>
            <a:endParaRPr lang="en-US" sz="1200" dirty="0"/>
          </a:p>
        </p:txBody>
      </p:sp>
      <p:sp>
        <p:nvSpPr>
          <p:cNvPr id="22" name="Text 20"/>
          <p:cNvSpPr txBox="1"/>
          <p:nvPr/>
        </p:nvSpPr>
        <p:spPr>
          <a:xfrm>
            <a:off x="960120" y="5230368"/>
            <a:ext cx="10271455" cy="640080"/>
          </a:xfrm>
          <a:prstGeom prst="rect">
            <a:avLst/>
          </a:prstGeom>
          <a:noFill/>
          <a:ln/>
        </p:spPr>
        <p:txBody>
          <a:bodyPr wrap="square" lIns="0" tIns="0" rIns="0" bIns="0" rtlCol="0" anchor="t"/>
          <a:lstStyle/>
          <a:p>
            <a:pPr indent="0" marL="0">
              <a:buNone/>
            </a:pPr>
            <a:r>
              <a:rPr lang="en-US" sz="1900" dirty="0">
                <a:solidFill>
                  <a:srgbClr val="3C4043"/>
                </a:solidFill>
                <a:latin typeface="Arial" pitchFamily="34" charset="0"/>
                <a:ea typeface="Arial" pitchFamily="34" charset="-122"/>
                <a:cs typeface="Arial" pitchFamily="34" charset="-120"/>
              </a:rPr>
              <a:t>Turn one cyclone forecast into answers every department can act on, in its own language, before landfall.</a:t>
            </a:r>
            <a:endParaRPr lang="en-US" sz="1900" dirty="0"/>
          </a:p>
        </p:txBody>
      </p:sp>
      <p:sp>
        <p:nvSpPr>
          <p:cNvPr id="23" name="Shape 21"/>
          <p:cNvSpPr/>
          <p:nvPr/>
        </p:nvSpPr>
        <p:spPr>
          <a:xfrm>
            <a:off x="640080" y="6473952"/>
            <a:ext cx="82296" cy="82296"/>
          </a:xfrm>
          <a:prstGeom prst="ellipse">
            <a:avLst/>
          </a:prstGeom>
          <a:solidFill>
            <a:srgbClr val="1A73E8"/>
          </a:solidFill>
          <a:ln/>
        </p:spPr>
      </p:sp>
      <p:sp>
        <p:nvSpPr>
          <p:cNvPr id="24" name="Shape 22"/>
          <p:cNvSpPr/>
          <p:nvPr/>
        </p:nvSpPr>
        <p:spPr>
          <a:xfrm>
            <a:off x="768096" y="6473952"/>
            <a:ext cx="82296" cy="82296"/>
          </a:xfrm>
          <a:prstGeom prst="ellipse">
            <a:avLst/>
          </a:prstGeom>
          <a:solidFill>
            <a:srgbClr val="EA4335"/>
          </a:solidFill>
          <a:ln/>
        </p:spPr>
      </p:sp>
      <p:sp>
        <p:nvSpPr>
          <p:cNvPr id="25" name="Shape 23"/>
          <p:cNvSpPr/>
          <p:nvPr/>
        </p:nvSpPr>
        <p:spPr>
          <a:xfrm>
            <a:off x="896112" y="6473952"/>
            <a:ext cx="82296" cy="82296"/>
          </a:xfrm>
          <a:prstGeom prst="ellipse">
            <a:avLst/>
          </a:prstGeom>
          <a:solidFill>
            <a:srgbClr val="FBBC04"/>
          </a:solidFill>
          <a:ln/>
        </p:spPr>
      </p:sp>
      <p:sp>
        <p:nvSpPr>
          <p:cNvPr id="26" name="Shape 24"/>
          <p:cNvSpPr/>
          <p:nvPr/>
        </p:nvSpPr>
        <p:spPr>
          <a:xfrm>
            <a:off x="1024128" y="6473952"/>
            <a:ext cx="82296" cy="82296"/>
          </a:xfrm>
          <a:prstGeom prst="ellipse">
            <a:avLst/>
          </a:prstGeom>
          <a:solidFill>
            <a:srgbClr val="34A853"/>
          </a:solidFill>
          <a:ln/>
        </p:spPr>
      </p:sp>
      <p:sp>
        <p:nvSpPr>
          <p:cNvPr id="27" name="Text 25"/>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28" name="Text 26"/>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OUR SOLUTION</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To solve it, we built SurgeSight. One bulletin in. Approved action out.</a:t>
            </a:r>
            <a:endParaRPr lang="en-US" sz="3000" dirty="0"/>
          </a:p>
        </p:txBody>
      </p:sp>
      <p:sp>
        <p:nvSpPr>
          <p:cNvPr id="4" name="Shape 2"/>
          <p:cNvSpPr/>
          <p:nvPr/>
        </p:nvSpPr>
        <p:spPr>
          <a:xfrm>
            <a:off x="1731234" y="2720340"/>
            <a:ext cx="8729228" cy="0"/>
          </a:xfrm>
          <a:prstGeom prst="line">
            <a:avLst/>
          </a:prstGeom>
          <a:noFill/>
          <a:ln w="50800">
            <a:solidFill>
              <a:srgbClr val="DADCE0"/>
            </a:solidFill>
            <a:prstDash val="solid"/>
          </a:ln>
        </p:spPr>
      </p:sp>
      <p:sp>
        <p:nvSpPr>
          <p:cNvPr id="5" name="Shape 3"/>
          <p:cNvSpPr/>
          <p:nvPr/>
        </p:nvSpPr>
        <p:spPr>
          <a:xfrm>
            <a:off x="1159734" y="2148840"/>
            <a:ext cx="1143000" cy="1143000"/>
          </a:xfrm>
          <a:prstGeom prst="ellipse">
            <a:avLst/>
          </a:prstGeom>
          <a:solidFill>
            <a:srgbClr val="1A73E8"/>
          </a:solidFill>
          <a:ln/>
        </p:spPr>
      </p:sp>
      <p:sp>
        <p:nvSpPr>
          <p:cNvPr id="6" name="Text 4"/>
          <p:cNvSpPr txBox="1"/>
          <p:nvPr/>
        </p:nvSpPr>
        <p:spPr>
          <a:xfrm>
            <a:off x="1159734" y="2148840"/>
            <a:ext cx="1143000" cy="1143000"/>
          </a:xfrm>
          <a:prstGeom prst="rect">
            <a:avLst/>
          </a:prstGeom>
          <a:noFill/>
          <a:ln/>
        </p:spPr>
        <p:txBody>
          <a:bodyPr wrap="square" lIns="0" tIns="0" rIns="0" bIns="0" rtlCol="0" anchor="ctr"/>
          <a:lstStyle/>
          <a:p>
            <a:pPr algn="ctr" indent="0" marL="0">
              <a:buNone/>
            </a:pPr>
            <a:r>
              <a:rPr lang="en-US" sz="4000" b="1" dirty="0">
                <a:solidFill>
                  <a:srgbClr val="202124"/>
                </a:solidFill>
                <a:latin typeface="Arial" pitchFamily="34" charset="0"/>
                <a:ea typeface="Arial" pitchFamily="34" charset="-122"/>
                <a:cs typeface="Arial" pitchFamily="34" charset="-120"/>
              </a:rPr>
              <a:t>1</a:t>
            </a:r>
            <a:endParaRPr lang="en-US" sz="4000" dirty="0"/>
          </a:p>
        </p:txBody>
      </p:sp>
      <p:sp>
        <p:nvSpPr>
          <p:cNvPr id="7" name="Text 5"/>
          <p:cNvSpPr txBox="1"/>
          <p:nvPr/>
        </p:nvSpPr>
        <p:spPr>
          <a:xfrm>
            <a:off x="640080" y="3474720"/>
            <a:ext cx="2182307" cy="457200"/>
          </a:xfrm>
          <a:prstGeom prst="rect">
            <a:avLst/>
          </a:prstGeom>
          <a:noFill/>
          <a:ln/>
        </p:spPr>
        <p:txBody>
          <a:bodyPr wrap="square" lIns="0" tIns="0" rIns="0" bIns="0" rtlCol="0" anchor="t"/>
          <a:lstStyle/>
          <a:p>
            <a:pPr algn="ctr" indent="0" marL="0">
              <a:buNone/>
            </a:pPr>
            <a:r>
              <a:rPr lang="en-US" sz="2400" b="1" dirty="0">
                <a:solidFill>
                  <a:srgbClr val="202124"/>
                </a:solidFill>
                <a:latin typeface="Arial" pitchFamily="34" charset="0"/>
                <a:ea typeface="Arial" pitchFamily="34" charset="-122"/>
                <a:cs typeface="Arial" pitchFamily="34" charset="-120"/>
              </a:rPr>
              <a:t>Read</a:t>
            </a:r>
            <a:endParaRPr lang="en-US" sz="2400" dirty="0"/>
          </a:p>
        </p:txBody>
      </p:sp>
      <p:sp>
        <p:nvSpPr>
          <p:cNvPr id="8" name="Shape 6"/>
          <p:cNvSpPr/>
          <p:nvPr/>
        </p:nvSpPr>
        <p:spPr>
          <a:xfrm>
            <a:off x="1306038" y="3995928"/>
            <a:ext cx="850392" cy="347472"/>
          </a:xfrm>
          <a:prstGeom prst="roundRect">
            <a:avLst>
              <a:gd name="adj" fmla="val 50000"/>
            </a:avLst>
          </a:prstGeom>
          <a:solidFill>
            <a:srgbClr val="FFFFFF"/>
          </a:solidFill>
          <a:ln/>
        </p:spPr>
      </p:sp>
      <p:sp>
        <p:nvSpPr>
          <p:cNvPr id="9" name="Text 7"/>
          <p:cNvSpPr txBox="1"/>
          <p:nvPr/>
        </p:nvSpPr>
        <p:spPr>
          <a:xfrm>
            <a:off x="1306038" y="3995928"/>
            <a:ext cx="850392" cy="347472"/>
          </a:xfrm>
          <a:prstGeom prst="rect">
            <a:avLst/>
          </a:prstGeom>
          <a:noFill/>
          <a:ln/>
        </p:spPr>
        <p:txBody>
          <a:bodyPr wrap="square" lIns="0" tIns="0" rIns="0" bIns="0" rtlCol="0" anchor="ctr"/>
          <a:lstStyle/>
          <a:p>
            <a:pPr algn="ctr" indent="0" marL="0">
              <a:buNone/>
            </a:pPr>
            <a:r>
              <a:rPr lang="en-US" sz="1150" b="1" dirty="0">
                <a:solidFill>
                  <a:srgbClr val="4A5A78"/>
                </a:solidFill>
                <a:latin typeface="Arial" pitchFamily="34" charset="0"/>
                <a:ea typeface="Arial" pitchFamily="34" charset="-122"/>
                <a:cs typeface="Arial" pitchFamily="34" charset="-120"/>
              </a:rPr>
              <a:t>Gemini</a:t>
            </a:r>
            <a:endParaRPr lang="en-US" sz="1150" dirty="0"/>
          </a:p>
        </p:txBody>
      </p:sp>
      <p:sp>
        <p:nvSpPr>
          <p:cNvPr id="10" name="Text 8"/>
          <p:cNvSpPr txBox="1"/>
          <p:nvPr/>
        </p:nvSpPr>
        <p:spPr>
          <a:xfrm>
            <a:off x="777240" y="4507992"/>
            <a:ext cx="1907987" cy="822960"/>
          </a:xfrm>
          <a:prstGeom prst="rect">
            <a:avLst/>
          </a:prstGeom>
          <a:noFill/>
          <a:ln/>
        </p:spPr>
        <p:txBody>
          <a:bodyPr wrap="square" lIns="0" tIns="0" rIns="0" bIns="0" rtlCol="0" anchor="t"/>
          <a:lstStyle/>
          <a:p>
            <a:pPr algn="ctr" indent="0" marL="0">
              <a:buNone/>
            </a:pPr>
            <a:r>
              <a:rPr lang="en-US" sz="1300" dirty="0">
                <a:solidFill>
                  <a:srgbClr val="3C4043"/>
                </a:solidFill>
                <a:latin typeface="Arial" pitchFamily="34" charset="0"/>
                <a:ea typeface="Arial" pitchFamily="34" charset="-122"/>
                <a:cs typeface="Arial" pitchFamily="34" charset="-120"/>
              </a:rPr>
              <a:t>Gemini reads the IMD bulletin: text, PDF or photo</a:t>
            </a:r>
            <a:endParaRPr lang="en-US" sz="1300" dirty="0"/>
          </a:p>
        </p:txBody>
      </p:sp>
      <p:sp>
        <p:nvSpPr>
          <p:cNvPr id="11" name="Shape 9"/>
          <p:cNvSpPr/>
          <p:nvPr/>
        </p:nvSpPr>
        <p:spPr>
          <a:xfrm>
            <a:off x="3342041" y="2148840"/>
            <a:ext cx="1143000" cy="1143000"/>
          </a:xfrm>
          <a:prstGeom prst="ellipse">
            <a:avLst/>
          </a:prstGeom>
          <a:solidFill>
            <a:srgbClr val="EA4335"/>
          </a:solidFill>
          <a:ln/>
        </p:spPr>
      </p:sp>
      <p:sp>
        <p:nvSpPr>
          <p:cNvPr id="12" name="Text 10"/>
          <p:cNvSpPr txBox="1"/>
          <p:nvPr/>
        </p:nvSpPr>
        <p:spPr>
          <a:xfrm>
            <a:off x="3342041" y="2148840"/>
            <a:ext cx="1143000" cy="1143000"/>
          </a:xfrm>
          <a:prstGeom prst="rect">
            <a:avLst/>
          </a:prstGeom>
          <a:noFill/>
          <a:ln/>
        </p:spPr>
        <p:txBody>
          <a:bodyPr wrap="square" lIns="0" tIns="0" rIns="0" bIns="0" rtlCol="0" anchor="ctr"/>
          <a:lstStyle/>
          <a:p>
            <a:pPr algn="ctr" indent="0" marL="0">
              <a:buNone/>
            </a:pPr>
            <a:r>
              <a:rPr lang="en-US" sz="4000" b="1" dirty="0">
                <a:solidFill>
                  <a:srgbClr val="202124"/>
                </a:solidFill>
                <a:latin typeface="Arial" pitchFamily="34" charset="0"/>
                <a:ea typeface="Arial" pitchFamily="34" charset="-122"/>
                <a:cs typeface="Arial" pitchFamily="34" charset="-120"/>
              </a:rPr>
              <a:t>2</a:t>
            </a:r>
            <a:endParaRPr lang="en-US" sz="4000" dirty="0"/>
          </a:p>
        </p:txBody>
      </p:sp>
      <p:sp>
        <p:nvSpPr>
          <p:cNvPr id="13" name="Text 11"/>
          <p:cNvSpPr txBox="1"/>
          <p:nvPr/>
        </p:nvSpPr>
        <p:spPr>
          <a:xfrm>
            <a:off x="2822387" y="3474720"/>
            <a:ext cx="2182307" cy="457200"/>
          </a:xfrm>
          <a:prstGeom prst="rect">
            <a:avLst/>
          </a:prstGeom>
          <a:noFill/>
          <a:ln/>
        </p:spPr>
        <p:txBody>
          <a:bodyPr wrap="square" lIns="0" tIns="0" rIns="0" bIns="0" rtlCol="0" anchor="t"/>
          <a:lstStyle/>
          <a:p>
            <a:pPr algn="ctr" indent="0" marL="0">
              <a:buNone/>
            </a:pPr>
            <a:r>
              <a:rPr lang="en-US" sz="2400" b="1" dirty="0">
                <a:solidFill>
                  <a:srgbClr val="202124"/>
                </a:solidFill>
                <a:latin typeface="Arial" pitchFamily="34" charset="0"/>
                <a:ea typeface="Arial" pitchFamily="34" charset="-122"/>
                <a:cs typeface="Arial" pitchFamily="34" charset="-120"/>
              </a:rPr>
              <a:t>Score</a:t>
            </a:r>
            <a:endParaRPr lang="en-US" sz="2400" dirty="0"/>
          </a:p>
        </p:txBody>
      </p:sp>
      <p:sp>
        <p:nvSpPr>
          <p:cNvPr id="14" name="Shape 12"/>
          <p:cNvSpPr/>
          <p:nvPr/>
        </p:nvSpPr>
        <p:spPr>
          <a:xfrm>
            <a:off x="3255173" y="3995928"/>
            <a:ext cx="1316736" cy="347472"/>
          </a:xfrm>
          <a:prstGeom prst="roundRect">
            <a:avLst>
              <a:gd name="adj" fmla="val 50000"/>
            </a:avLst>
          </a:prstGeom>
          <a:solidFill>
            <a:srgbClr val="FFFFFF"/>
          </a:solidFill>
          <a:ln/>
        </p:spPr>
      </p:sp>
      <p:sp>
        <p:nvSpPr>
          <p:cNvPr id="15" name="Text 13"/>
          <p:cNvSpPr txBox="1"/>
          <p:nvPr/>
        </p:nvSpPr>
        <p:spPr>
          <a:xfrm>
            <a:off x="3255173" y="3995928"/>
            <a:ext cx="1316736" cy="347472"/>
          </a:xfrm>
          <a:prstGeom prst="rect">
            <a:avLst/>
          </a:prstGeom>
          <a:noFill/>
          <a:ln/>
        </p:spPr>
        <p:txBody>
          <a:bodyPr wrap="square" lIns="0" tIns="0" rIns="0" bIns="0" rtlCol="0" anchor="ctr"/>
          <a:lstStyle/>
          <a:p>
            <a:pPr algn="ctr" indent="0" marL="0">
              <a:buNone/>
            </a:pPr>
            <a:r>
              <a:rPr lang="en-US" sz="1150" b="1" dirty="0">
                <a:solidFill>
                  <a:srgbClr val="4A5A78"/>
                </a:solidFill>
                <a:latin typeface="Arial" pitchFamily="34" charset="0"/>
                <a:ea typeface="Arial" pitchFamily="34" charset="-122"/>
                <a:cs typeface="Arial" pitchFamily="34" charset="-120"/>
              </a:rPr>
              <a:t>Earth Engine</a:t>
            </a:r>
            <a:endParaRPr lang="en-US" sz="1150" dirty="0"/>
          </a:p>
        </p:txBody>
      </p:sp>
      <p:sp>
        <p:nvSpPr>
          <p:cNvPr id="16" name="Text 14"/>
          <p:cNvSpPr txBox="1"/>
          <p:nvPr/>
        </p:nvSpPr>
        <p:spPr>
          <a:xfrm>
            <a:off x="2959547" y="4507992"/>
            <a:ext cx="1907987" cy="822960"/>
          </a:xfrm>
          <a:prstGeom prst="rect">
            <a:avLst/>
          </a:prstGeom>
          <a:noFill/>
          <a:ln/>
        </p:spPr>
        <p:txBody>
          <a:bodyPr wrap="square" lIns="0" tIns="0" rIns="0" bIns="0" rtlCol="0" anchor="t"/>
          <a:lstStyle/>
          <a:p>
            <a:pPr algn="ctr" indent="0" marL="0">
              <a:buNone/>
            </a:pPr>
            <a:r>
              <a:rPr lang="en-US" sz="1300" dirty="0">
                <a:solidFill>
                  <a:srgbClr val="3C4043"/>
                </a:solidFill>
                <a:latin typeface="Arial" pitchFamily="34" charset="0"/>
                <a:ea typeface="Arial" pitchFamily="34" charset="-122"/>
                <a:cs typeface="Arial" pitchFamily="34" charset="-120"/>
              </a:rPr>
              <a:t>Every facility and main road scored for wind, surge and rain</a:t>
            </a:r>
            <a:endParaRPr lang="en-US" sz="1300" dirty="0"/>
          </a:p>
        </p:txBody>
      </p:sp>
      <p:sp>
        <p:nvSpPr>
          <p:cNvPr id="17" name="Shape 15"/>
          <p:cNvSpPr/>
          <p:nvPr/>
        </p:nvSpPr>
        <p:spPr>
          <a:xfrm>
            <a:off x="5524348" y="2148840"/>
            <a:ext cx="1143000" cy="1143000"/>
          </a:xfrm>
          <a:prstGeom prst="ellipse">
            <a:avLst/>
          </a:prstGeom>
          <a:solidFill>
            <a:srgbClr val="E3A008"/>
          </a:solidFill>
          <a:ln/>
        </p:spPr>
      </p:sp>
      <p:sp>
        <p:nvSpPr>
          <p:cNvPr id="18" name="Text 16"/>
          <p:cNvSpPr txBox="1"/>
          <p:nvPr/>
        </p:nvSpPr>
        <p:spPr>
          <a:xfrm>
            <a:off x="5524348" y="2148840"/>
            <a:ext cx="1143000" cy="1143000"/>
          </a:xfrm>
          <a:prstGeom prst="rect">
            <a:avLst/>
          </a:prstGeom>
          <a:noFill/>
          <a:ln/>
        </p:spPr>
        <p:txBody>
          <a:bodyPr wrap="square" lIns="0" tIns="0" rIns="0" bIns="0" rtlCol="0" anchor="ctr"/>
          <a:lstStyle/>
          <a:p>
            <a:pPr algn="ctr" indent="0" marL="0">
              <a:buNone/>
            </a:pPr>
            <a:r>
              <a:rPr lang="en-US" sz="4000" b="1" dirty="0">
                <a:solidFill>
                  <a:srgbClr val="202124"/>
                </a:solidFill>
                <a:latin typeface="Arial" pitchFamily="34" charset="0"/>
                <a:ea typeface="Arial" pitchFamily="34" charset="-122"/>
                <a:cs typeface="Arial" pitchFamily="34" charset="-120"/>
              </a:rPr>
              <a:t>3</a:t>
            </a:r>
            <a:endParaRPr lang="en-US" sz="4000" dirty="0"/>
          </a:p>
        </p:txBody>
      </p:sp>
      <p:sp>
        <p:nvSpPr>
          <p:cNvPr id="19" name="Text 17"/>
          <p:cNvSpPr txBox="1"/>
          <p:nvPr/>
        </p:nvSpPr>
        <p:spPr>
          <a:xfrm>
            <a:off x="5004694" y="3474720"/>
            <a:ext cx="2182307" cy="457200"/>
          </a:xfrm>
          <a:prstGeom prst="rect">
            <a:avLst/>
          </a:prstGeom>
          <a:noFill/>
          <a:ln/>
        </p:spPr>
        <p:txBody>
          <a:bodyPr wrap="square" lIns="0" tIns="0" rIns="0" bIns="0" rtlCol="0" anchor="t"/>
          <a:lstStyle/>
          <a:p>
            <a:pPr algn="ctr" indent="0" marL="0">
              <a:buNone/>
            </a:pPr>
            <a:r>
              <a:rPr lang="en-US" sz="2400" b="1" dirty="0">
                <a:solidFill>
                  <a:srgbClr val="202124"/>
                </a:solidFill>
                <a:latin typeface="Arial" pitchFamily="34" charset="0"/>
                <a:ea typeface="Arial" pitchFamily="34" charset="-122"/>
                <a:cs typeface="Arial" pitchFamily="34" charset="-120"/>
              </a:rPr>
              <a:t>Show</a:t>
            </a:r>
            <a:endParaRPr lang="en-US" sz="2400" dirty="0"/>
          </a:p>
        </p:txBody>
      </p:sp>
      <p:sp>
        <p:nvSpPr>
          <p:cNvPr id="20" name="Shape 18"/>
          <p:cNvSpPr/>
          <p:nvPr/>
        </p:nvSpPr>
        <p:spPr>
          <a:xfrm>
            <a:off x="5476342" y="3995928"/>
            <a:ext cx="1239012" cy="347472"/>
          </a:xfrm>
          <a:prstGeom prst="roundRect">
            <a:avLst>
              <a:gd name="adj" fmla="val 50000"/>
            </a:avLst>
          </a:prstGeom>
          <a:solidFill>
            <a:srgbClr val="FFFFFF"/>
          </a:solidFill>
          <a:ln/>
        </p:spPr>
      </p:sp>
      <p:sp>
        <p:nvSpPr>
          <p:cNvPr id="21" name="Text 19"/>
          <p:cNvSpPr txBox="1"/>
          <p:nvPr/>
        </p:nvSpPr>
        <p:spPr>
          <a:xfrm>
            <a:off x="5476342" y="3995928"/>
            <a:ext cx="1239012" cy="347472"/>
          </a:xfrm>
          <a:prstGeom prst="rect">
            <a:avLst/>
          </a:prstGeom>
          <a:noFill/>
          <a:ln/>
        </p:spPr>
        <p:txBody>
          <a:bodyPr wrap="square" lIns="0" tIns="0" rIns="0" bIns="0" rtlCol="0" anchor="ctr"/>
          <a:lstStyle/>
          <a:p>
            <a:pPr algn="ctr" indent="0" marL="0">
              <a:buNone/>
            </a:pPr>
            <a:r>
              <a:rPr lang="en-US" sz="1150" b="1" dirty="0">
                <a:solidFill>
                  <a:srgbClr val="4A5A78"/>
                </a:solidFill>
                <a:latin typeface="Arial" pitchFamily="34" charset="0"/>
                <a:ea typeface="Arial" pitchFamily="34" charset="-122"/>
                <a:cs typeface="Arial" pitchFamily="34" charset="-120"/>
              </a:rPr>
              <a:t>Google Maps</a:t>
            </a:r>
            <a:endParaRPr lang="en-US" sz="1150" dirty="0"/>
          </a:p>
        </p:txBody>
      </p:sp>
      <p:sp>
        <p:nvSpPr>
          <p:cNvPr id="22" name="Text 20"/>
          <p:cNvSpPr txBox="1"/>
          <p:nvPr/>
        </p:nvSpPr>
        <p:spPr>
          <a:xfrm>
            <a:off x="5141854" y="4507992"/>
            <a:ext cx="1907987" cy="822960"/>
          </a:xfrm>
          <a:prstGeom prst="rect">
            <a:avLst/>
          </a:prstGeom>
          <a:noFill/>
          <a:ln/>
        </p:spPr>
        <p:txBody>
          <a:bodyPr wrap="square" lIns="0" tIns="0" rIns="0" bIns="0" rtlCol="0" anchor="t"/>
          <a:lstStyle/>
          <a:p>
            <a:pPr algn="ctr" indent="0" marL="0">
              <a:buNone/>
            </a:pPr>
            <a:r>
              <a:rPr lang="en-US" sz="1300" dirty="0">
                <a:solidFill>
                  <a:srgbClr val="3C4043"/>
                </a:solidFill>
                <a:latin typeface="Arial" pitchFamily="34" charset="0"/>
                <a:ea typeface="Arial" pitchFamily="34" charset="-122"/>
                <a:cs typeface="Arial" pitchFamily="34" charset="-120"/>
              </a:rPr>
              <a:t>Alerted schools, hospitals and roads, each with its reason</a:t>
            </a:r>
            <a:endParaRPr lang="en-US" sz="1300" dirty="0"/>
          </a:p>
        </p:txBody>
      </p:sp>
      <p:sp>
        <p:nvSpPr>
          <p:cNvPr id="23" name="Shape 21"/>
          <p:cNvSpPr/>
          <p:nvPr/>
        </p:nvSpPr>
        <p:spPr>
          <a:xfrm>
            <a:off x="7706655" y="2148840"/>
            <a:ext cx="1143000" cy="1143000"/>
          </a:xfrm>
          <a:prstGeom prst="ellipse">
            <a:avLst/>
          </a:prstGeom>
          <a:solidFill>
            <a:srgbClr val="34A853"/>
          </a:solidFill>
          <a:ln/>
        </p:spPr>
      </p:sp>
      <p:sp>
        <p:nvSpPr>
          <p:cNvPr id="24" name="Text 22"/>
          <p:cNvSpPr txBox="1"/>
          <p:nvPr/>
        </p:nvSpPr>
        <p:spPr>
          <a:xfrm>
            <a:off x="7706655" y="2148840"/>
            <a:ext cx="1143000" cy="1143000"/>
          </a:xfrm>
          <a:prstGeom prst="rect">
            <a:avLst/>
          </a:prstGeom>
          <a:noFill/>
          <a:ln/>
        </p:spPr>
        <p:txBody>
          <a:bodyPr wrap="square" lIns="0" tIns="0" rIns="0" bIns="0" rtlCol="0" anchor="ctr"/>
          <a:lstStyle/>
          <a:p>
            <a:pPr algn="ctr" indent="0" marL="0">
              <a:buNone/>
            </a:pPr>
            <a:r>
              <a:rPr lang="en-US" sz="4000" b="1" dirty="0">
                <a:solidFill>
                  <a:srgbClr val="202124"/>
                </a:solidFill>
                <a:latin typeface="Arial" pitchFamily="34" charset="0"/>
                <a:ea typeface="Arial" pitchFamily="34" charset="-122"/>
                <a:cs typeface="Arial" pitchFamily="34" charset="-120"/>
              </a:rPr>
              <a:t>4</a:t>
            </a:r>
            <a:endParaRPr lang="en-US" sz="4000" dirty="0"/>
          </a:p>
        </p:txBody>
      </p:sp>
      <p:sp>
        <p:nvSpPr>
          <p:cNvPr id="25" name="Text 23"/>
          <p:cNvSpPr txBox="1"/>
          <p:nvPr/>
        </p:nvSpPr>
        <p:spPr>
          <a:xfrm>
            <a:off x="7187001" y="3474720"/>
            <a:ext cx="2182307" cy="457200"/>
          </a:xfrm>
          <a:prstGeom prst="rect">
            <a:avLst/>
          </a:prstGeom>
          <a:noFill/>
          <a:ln/>
        </p:spPr>
        <p:txBody>
          <a:bodyPr wrap="square" lIns="0" tIns="0" rIns="0" bIns="0" rtlCol="0" anchor="t"/>
          <a:lstStyle/>
          <a:p>
            <a:pPr algn="ctr" indent="0" marL="0">
              <a:buNone/>
            </a:pPr>
            <a:r>
              <a:rPr lang="en-US" sz="2400" b="1" dirty="0">
                <a:solidFill>
                  <a:srgbClr val="202124"/>
                </a:solidFill>
                <a:latin typeface="Arial" pitchFamily="34" charset="0"/>
                <a:ea typeface="Arial" pitchFamily="34" charset="-122"/>
                <a:cs typeface="Arial" pitchFamily="34" charset="-120"/>
              </a:rPr>
              <a:t>Advise</a:t>
            </a:r>
            <a:endParaRPr lang="en-US" sz="2400" dirty="0"/>
          </a:p>
        </p:txBody>
      </p:sp>
      <p:sp>
        <p:nvSpPr>
          <p:cNvPr id="26" name="Shape 24"/>
          <p:cNvSpPr/>
          <p:nvPr/>
        </p:nvSpPr>
        <p:spPr>
          <a:xfrm>
            <a:off x="7852959" y="3995928"/>
            <a:ext cx="850392" cy="347472"/>
          </a:xfrm>
          <a:prstGeom prst="roundRect">
            <a:avLst>
              <a:gd name="adj" fmla="val 50000"/>
            </a:avLst>
          </a:prstGeom>
          <a:solidFill>
            <a:srgbClr val="FFFFFF"/>
          </a:solidFill>
          <a:ln/>
        </p:spPr>
      </p:sp>
      <p:sp>
        <p:nvSpPr>
          <p:cNvPr id="27" name="Text 25"/>
          <p:cNvSpPr txBox="1"/>
          <p:nvPr/>
        </p:nvSpPr>
        <p:spPr>
          <a:xfrm>
            <a:off x="7852959" y="3995928"/>
            <a:ext cx="850392" cy="347472"/>
          </a:xfrm>
          <a:prstGeom prst="rect">
            <a:avLst/>
          </a:prstGeom>
          <a:noFill/>
          <a:ln/>
        </p:spPr>
        <p:txBody>
          <a:bodyPr wrap="square" lIns="0" tIns="0" rIns="0" bIns="0" rtlCol="0" anchor="ctr"/>
          <a:lstStyle/>
          <a:p>
            <a:pPr algn="ctr" indent="0" marL="0">
              <a:buNone/>
            </a:pPr>
            <a:r>
              <a:rPr lang="en-US" sz="1150" b="1" dirty="0">
                <a:solidFill>
                  <a:srgbClr val="4A5A78"/>
                </a:solidFill>
                <a:latin typeface="Arial" pitchFamily="34" charset="0"/>
                <a:ea typeface="Arial" pitchFamily="34" charset="-122"/>
                <a:cs typeface="Arial" pitchFamily="34" charset="-120"/>
              </a:rPr>
              <a:t>Gemini</a:t>
            </a:r>
            <a:endParaRPr lang="en-US" sz="1150" dirty="0"/>
          </a:p>
        </p:txBody>
      </p:sp>
      <p:sp>
        <p:nvSpPr>
          <p:cNvPr id="28" name="Text 26"/>
          <p:cNvSpPr txBox="1"/>
          <p:nvPr/>
        </p:nvSpPr>
        <p:spPr>
          <a:xfrm>
            <a:off x="7324161" y="4507992"/>
            <a:ext cx="1907987" cy="822960"/>
          </a:xfrm>
          <a:prstGeom prst="rect">
            <a:avLst/>
          </a:prstGeom>
          <a:noFill/>
          <a:ln/>
        </p:spPr>
        <p:txBody>
          <a:bodyPr wrap="square" lIns="0" tIns="0" rIns="0" bIns="0" rtlCol="0" anchor="t"/>
          <a:lstStyle/>
          <a:p>
            <a:pPr algn="ctr" indent="0" marL="0">
              <a:buNone/>
            </a:pPr>
            <a:r>
              <a:rPr lang="en-US" sz="1300" dirty="0">
                <a:solidFill>
                  <a:srgbClr val="3C4043"/>
                </a:solidFill>
                <a:latin typeface="Arial" pitchFamily="34" charset="0"/>
                <a:ea typeface="Arial" pitchFamily="34" charset="-122"/>
                <a:cs typeface="Arial" pitchFamily="34" charset="-120"/>
              </a:rPr>
              <a:t>Each department’s advisory, in its own language</a:t>
            </a:r>
            <a:endParaRPr lang="en-US" sz="1300" dirty="0"/>
          </a:p>
        </p:txBody>
      </p:sp>
      <p:sp>
        <p:nvSpPr>
          <p:cNvPr id="29" name="Shape 27"/>
          <p:cNvSpPr/>
          <p:nvPr/>
        </p:nvSpPr>
        <p:spPr>
          <a:xfrm>
            <a:off x="9888962" y="2148840"/>
            <a:ext cx="1143000" cy="1143000"/>
          </a:xfrm>
          <a:prstGeom prst="ellipse">
            <a:avLst/>
          </a:prstGeom>
          <a:solidFill>
            <a:srgbClr val="1A73E8"/>
          </a:solidFill>
          <a:ln/>
        </p:spPr>
      </p:sp>
      <p:sp>
        <p:nvSpPr>
          <p:cNvPr id="30" name="Text 28"/>
          <p:cNvSpPr txBox="1"/>
          <p:nvPr/>
        </p:nvSpPr>
        <p:spPr>
          <a:xfrm>
            <a:off x="9888962" y="2148840"/>
            <a:ext cx="1143000" cy="1143000"/>
          </a:xfrm>
          <a:prstGeom prst="rect">
            <a:avLst/>
          </a:prstGeom>
          <a:noFill/>
          <a:ln/>
        </p:spPr>
        <p:txBody>
          <a:bodyPr wrap="square" lIns="0" tIns="0" rIns="0" bIns="0" rtlCol="0" anchor="ctr"/>
          <a:lstStyle/>
          <a:p>
            <a:pPr algn="ctr" indent="0" marL="0">
              <a:buNone/>
            </a:pPr>
            <a:r>
              <a:rPr lang="en-US" sz="4000" b="1" dirty="0">
                <a:solidFill>
                  <a:srgbClr val="202124"/>
                </a:solidFill>
                <a:latin typeface="Arial" pitchFamily="34" charset="0"/>
                <a:ea typeface="Arial" pitchFamily="34" charset="-122"/>
                <a:cs typeface="Arial" pitchFamily="34" charset="-120"/>
              </a:rPr>
              <a:t>5</a:t>
            </a:r>
            <a:endParaRPr lang="en-US" sz="4000" dirty="0"/>
          </a:p>
        </p:txBody>
      </p:sp>
      <p:sp>
        <p:nvSpPr>
          <p:cNvPr id="31" name="Text 29"/>
          <p:cNvSpPr txBox="1"/>
          <p:nvPr/>
        </p:nvSpPr>
        <p:spPr>
          <a:xfrm>
            <a:off x="9369308" y="3474720"/>
            <a:ext cx="2182307" cy="457200"/>
          </a:xfrm>
          <a:prstGeom prst="rect">
            <a:avLst/>
          </a:prstGeom>
          <a:noFill/>
          <a:ln/>
        </p:spPr>
        <p:txBody>
          <a:bodyPr wrap="square" lIns="0" tIns="0" rIns="0" bIns="0" rtlCol="0" anchor="t"/>
          <a:lstStyle/>
          <a:p>
            <a:pPr algn="ctr" indent="0" marL="0">
              <a:buNone/>
            </a:pPr>
            <a:r>
              <a:rPr lang="en-US" sz="2400" b="1" dirty="0">
                <a:solidFill>
                  <a:srgbClr val="202124"/>
                </a:solidFill>
                <a:latin typeface="Arial" pitchFamily="34" charset="0"/>
                <a:ea typeface="Arial" pitchFamily="34" charset="-122"/>
                <a:cs typeface="Arial" pitchFamily="34" charset="-120"/>
              </a:rPr>
              <a:t>Approve</a:t>
            </a:r>
            <a:endParaRPr lang="en-US" sz="2400" dirty="0"/>
          </a:p>
        </p:txBody>
      </p:sp>
      <p:sp>
        <p:nvSpPr>
          <p:cNvPr id="32" name="Shape 30"/>
          <p:cNvSpPr/>
          <p:nvPr/>
        </p:nvSpPr>
        <p:spPr>
          <a:xfrm>
            <a:off x="9646646" y="3995928"/>
            <a:ext cx="1627632" cy="347472"/>
          </a:xfrm>
          <a:prstGeom prst="roundRect">
            <a:avLst>
              <a:gd name="adj" fmla="val 50000"/>
            </a:avLst>
          </a:prstGeom>
          <a:solidFill>
            <a:srgbClr val="FFFFFF"/>
          </a:solidFill>
          <a:ln/>
        </p:spPr>
      </p:sp>
      <p:sp>
        <p:nvSpPr>
          <p:cNvPr id="33" name="Text 31"/>
          <p:cNvSpPr txBox="1"/>
          <p:nvPr/>
        </p:nvSpPr>
        <p:spPr>
          <a:xfrm>
            <a:off x="9646646" y="3995928"/>
            <a:ext cx="1627632" cy="347472"/>
          </a:xfrm>
          <a:prstGeom prst="rect">
            <a:avLst/>
          </a:prstGeom>
          <a:noFill/>
          <a:ln/>
        </p:spPr>
        <p:txBody>
          <a:bodyPr wrap="square" lIns="0" tIns="0" rIns="0" bIns="0" rtlCol="0" anchor="ctr"/>
          <a:lstStyle/>
          <a:p>
            <a:pPr algn="ctr" indent="0" marL="0">
              <a:buNone/>
            </a:pPr>
            <a:r>
              <a:rPr lang="en-US" sz="1150" b="1" dirty="0">
                <a:solidFill>
                  <a:srgbClr val="4A5A78"/>
                </a:solidFill>
                <a:latin typeface="Arial" pitchFamily="34" charset="0"/>
                <a:ea typeface="Arial" pitchFamily="34" charset="-122"/>
                <a:cs typeface="Arial" pitchFamily="34" charset="-120"/>
              </a:rPr>
              <a:t>Gmail · Firebase</a:t>
            </a:r>
            <a:endParaRPr lang="en-US" sz="1150" dirty="0"/>
          </a:p>
        </p:txBody>
      </p:sp>
      <p:sp>
        <p:nvSpPr>
          <p:cNvPr id="34" name="Text 32"/>
          <p:cNvSpPr txBox="1"/>
          <p:nvPr/>
        </p:nvSpPr>
        <p:spPr>
          <a:xfrm>
            <a:off x="9506468" y="4507992"/>
            <a:ext cx="1907987" cy="822960"/>
          </a:xfrm>
          <a:prstGeom prst="rect">
            <a:avLst/>
          </a:prstGeom>
          <a:noFill/>
          <a:ln/>
        </p:spPr>
        <p:txBody>
          <a:bodyPr wrap="square" lIns="0" tIns="0" rIns="0" bIns="0" rtlCol="0" anchor="t"/>
          <a:lstStyle/>
          <a:p>
            <a:pPr algn="ctr" indent="0" marL="0">
              <a:buNone/>
            </a:pPr>
            <a:r>
              <a:rPr lang="en-US" sz="1300" dirty="0">
                <a:solidFill>
                  <a:srgbClr val="3C4043"/>
                </a:solidFill>
                <a:latin typeface="Arial" pitchFamily="34" charset="0"/>
                <a:ea typeface="Arial" pitchFamily="34" charset="-122"/>
                <a:cs typeface="Arial" pitchFamily="34" charset="-120"/>
              </a:rPr>
              <a:t>An officer approves, then alerts go out</a:t>
            </a:r>
            <a:endParaRPr lang="en-US" sz="1300" dirty="0"/>
          </a:p>
        </p:txBody>
      </p:sp>
      <p:sp>
        <p:nvSpPr>
          <p:cNvPr id="35" name="Text 33"/>
          <p:cNvSpPr txBox="1"/>
          <p:nvPr/>
        </p:nvSpPr>
        <p:spPr>
          <a:xfrm>
            <a:off x="0" y="5669280"/>
            <a:ext cx="12191695" cy="411480"/>
          </a:xfrm>
          <a:prstGeom prst="rect">
            <a:avLst/>
          </a:prstGeom>
          <a:noFill/>
          <a:ln/>
        </p:spPr>
        <p:txBody>
          <a:bodyPr wrap="square" lIns="0" tIns="0" rIns="0" bIns="0" rtlCol="0" anchor="t"/>
          <a:lstStyle/>
          <a:p>
            <a:pPr algn="ctr" indent="0" marL="0">
              <a:buNone/>
            </a:pPr>
            <a:r>
              <a:rPr lang="en-US" sz="2000" b="1" dirty="0">
                <a:solidFill>
                  <a:srgbClr val="3C4043"/>
                </a:solidFill>
                <a:latin typeface="Arial" pitchFamily="34" charset="0"/>
                <a:ea typeface="Arial" pitchFamily="34" charset="-122"/>
                <a:cs typeface="Arial" pitchFamily="34" charset="-120"/>
              </a:rPr>
              <a:t>Numbers come from our models. Words come from Gemini.</a:t>
            </a:r>
            <a:endParaRPr lang="en-US" sz="2000" dirty="0"/>
          </a:p>
        </p:txBody>
      </p:sp>
      <p:sp>
        <p:nvSpPr>
          <p:cNvPr id="36" name="Shape 34"/>
          <p:cNvSpPr/>
          <p:nvPr/>
        </p:nvSpPr>
        <p:spPr>
          <a:xfrm>
            <a:off x="640080" y="6473952"/>
            <a:ext cx="82296" cy="82296"/>
          </a:xfrm>
          <a:prstGeom prst="ellipse">
            <a:avLst/>
          </a:prstGeom>
          <a:solidFill>
            <a:srgbClr val="1A73E8"/>
          </a:solidFill>
          <a:ln/>
        </p:spPr>
      </p:sp>
      <p:sp>
        <p:nvSpPr>
          <p:cNvPr id="37" name="Shape 35"/>
          <p:cNvSpPr/>
          <p:nvPr/>
        </p:nvSpPr>
        <p:spPr>
          <a:xfrm>
            <a:off x="768096" y="6473952"/>
            <a:ext cx="82296" cy="82296"/>
          </a:xfrm>
          <a:prstGeom prst="ellipse">
            <a:avLst/>
          </a:prstGeom>
          <a:solidFill>
            <a:srgbClr val="EA4335"/>
          </a:solidFill>
          <a:ln/>
        </p:spPr>
      </p:sp>
      <p:sp>
        <p:nvSpPr>
          <p:cNvPr id="38" name="Shape 36"/>
          <p:cNvSpPr/>
          <p:nvPr/>
        </p:nvSpPr>
        <p:spPr>
          <a:xfrm>
            <a:off x="896112" y="6473952"/>
            <a:ext cx="82296" cy="82296"/>
          </a:xfrm>
          <a:prstGeom prst="ellipse">
            <a:avLst/>
          </a:prstGeom>
          <a:solidFill>
            <a:srgbClr val="FBBC04"/>
          </a:solidFill>
          <a:ln/>
        </p:spPr>
      </p:sp>
      <p:sp>
        <p:nvSpPr>
          <p:cNvPr id="39" name="Shape 37"/>
          <p:cNvSpPr/>
          <p:nvPr/>
        </p:nvSpPr>
        <p:spPr>
          <a:xfrm>
            <a:off x="1024128" y="6473952"/>
            <a:ext cx="82296" cy="82296"/>
          </a:xfrm>
          <a:prstGeom prst="ellipse">
            <a:avLst/>
          </a:prstGeom>
          <a:solidFill>
            <a:srgbClr val="34A853"/>
          </a:solidFill>
          <a:ln/>
        </p:spPr>
      </p:sp>
      <p:sp>
        <p:nvSpPr>
          <p:cNvPr id="40" name="Text 38"/>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41" name="Text 39"/>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45720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CASE STUDY</a:t>
            </a:r>
            <a:endParaRPr lang="en-US" sz="1300" dirty="0"/>
          </a:p>
        </p:txBody>
      </p:sp>
      <p:sp>
        <p:nvSpPr>
          <p:cNvPr id="3" name="Text 1"/>
          <p:cNvSpPr txBox="1"/>
          <p:nvPr/>
        </p:nvSpPr>
        <p:spPr>
          <a:xfrm>
            <a:off x="640080" y="868680"/>
            <a:ext cx="5943600" cy="868680"/>
          </a:xfrm>
          <a:prstGeom prst="rect">
            <a:avLst/>
          </a:prstGeom>
          <a:noFill/>
          <a:ln/>
        </p:spPr>
        <p:txBody>
          <a:bodyPr wrap="square" lIns="0" tIns="0" rIns="0" bIns="0" rtlCol="0" anchor="t"/>
          <a:lstStyle/>
          <a:p>
            <a:pPr indent="0" marL="0">
              <a:buNone/>
            </a:pPr>
            <a:r>
              <a:rPr lang="en-US" sz="4800" b="1" dirty="0">
                <a:solidFill>
                  <a:srgbClr val="202124"/>
                </a:solidFill>
                <a:latin typeface="Arial" pitchFamily="34" charset="0"/>
                <a:ea typeface="Arial" pitchFamily="34" charset="-122"/>
                <a:cs typeface="Arial" pitchFamily="34" charset="-120"/>
              </a:rPr>
              <a:t>Cyclone Michaung</a:t>
            </a:r>
            <a:endParaRPr lang="en-US" sz="4800" dirty="0"/>
          </a:p>
        </p:txBody>
      </p:sp>
      <p:sp>
        <p:nvSpPr>
          <p:cNvPr id="4" name="Text 2"/>
          <p:cNvSpPr txBox="1"/>
          <p:nvPr/>
        </p:nvSpPr>
        <p:spPr>
          <a:xfrm>
            <a:off x="640080" y="1737360"/>
            <a:ext cx="5943600" cy="365760"/>
          </a:xfrm>
          <a:prstGeom prst="rect">
            <a:avLst/>
          </a:prstGeom>
          <a:noFill/>
          <a:ln/>
        </p:spPr>
        <p:txBody>
          <a:bodyPr wrap="square" lIns="0" tIns="0" rIns="0" bIns="0" rtlCol="0" anchor="t"/>
          <a:lstStyle/>
          <a:p>
            <a:pPr indent="0" marL="0">
              <a:buNone/>
            </a:pPr>
            <a:r>
              <a:rPr lang="en-US" sz="1700" dirty="0">
                <a:solidFill>
                  <a:srgbClr val="3C4043"/>
                </a:solidFill>
                <a:latin typeface="Arial" pitchFamily="34" charset="0"/>
                <a:ea typeface="Arial" pitchFamily="34" charset="-122"/>
                <a:cs typeface="Arial" pitchFamily="34" charset="-120"/>
              </a:rPr>
              <a:t>December 2023  ·  Tamil Nadu and Andhra Pradesh</a:t>
            </a:r>
            <a:endParaRPr lang="en-US" sz="1700" dirty="0"/>
          </a:p>
        </p:txBody>
      </p:sp>
      <p:sp>
        <p:nvSpPr>
          <p:cNvPr id="5" name="Text 3"/>
          <p:cNvSpPr txBox="1"/>
          <p:nvPr/>
        </p:nvSpPr>
        <p:spPr>
          <a:xfrm>
            <a:off x="640080" y="2240280"/>
            <a:ext cx="5120640" cy="822960"/>
          </a:xfrm>
          <a:prstGeom prst="rect">
            <a:avLst/>
          </a:prstGeom>
          <a:noFill/>
          <a:ln/>
        </p:spPr>
        <p:txBody>
          <a:bodyPr wrap="square" lIns="0" tIns="0" rIns="0" bIns="0" rtlCol="0" anchor="t"/>
          <a:lstStyle/>
          <a:p>
            <a:pPr indent="0" marL="0">
              <a:buNone/>
            </a:pPr>
            <a:r>
              <a:rPr lang="en-US" sz="1400" dirty="0">
                <a:solidFill>
                  <a:srgbClr val="4A5A78"/>
                </a:solidFill>
                <a:latin typeface="Arial" pitchFamily="34" charset="0"/>
                <a:ea typeface="Arial" pitchFamily="34" charset="-122"/>
                <a:cs typeface="Arial" pitchFamily="34" charset="-120"/>
              </a:rPr>
              <a:t>To study and test SurgeSight, we replayed it bulletin by bulletin, and checked our estimates against open satellite and weather data.</a:t>
            </a:r>
            <a:endParaRPr lang="en-US" sz="1400" dirty="0"/>
          </a:p>
        </p:txBody>
      </p:sp>
      <p:sp>
        <p:nvSpPr>
          <p:cNvPr id="6" name="Shape 4"/>
          <p:cNvSpPr/>
          <p:nvPr/>
        </p:nvSpPr>
        <p:spPr>
          <a:xfrm>
            <a:off x="640080" y="3291840"/>
            <a:ext cx="2514600" cy="1188720"/>
          </a:xfrm>
          <a:prstGeom prst="roundRect">
            <a:avLst>
              <a:gd name="adj" fmla="val 12308"/>
            </a:avLst>
          </a:prstGeom>
          <a:solidFill>
            <a:srgbClr val="FFFFFF">
              <a:alpha val="90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7" name="Text 5"/>
          <p:cNvSpPr txBox="1"/>
          <p:nvPr/>
        </p:nvSpPr>
        <p:spPr>
          <a:xfrm>
            <a:off x="896112" y="3429000"/>
            <a:ext cx="2148840" cy="594360"/>
          </a:xfrm>
          <a:prstGeom prst="rect">
            <a:avLst/>
          </a:prstGeom>
          <a:noFill/>
          <a:ln/>
        </p:spPr>
        <p:txBody>
          <a:bodyPr wrap="square" lIns="0" tIns="0" rIns="0" bIns="0" rtlCol="0" anchor="ctr"/>
          <a:lstStyle/>
          <a:p>
            <a:pPr indent="0" marL="0">
              <a:buNone/>
            </a:pPr>
            <a:r>
              <a:rPr lang="en-US" sz="3000" b="1" dirty="0">
                <a:solidFill>
                  <a:srgbClr val="1A73E8"/>
                </a:solidFill>
                <a:latin typeface="Arial" pitchFamily="34" charset="0"/>
                <a:ea typeface="Arial" pitchFamily="34" charset="-122"/>
                <a:cs typeface="Arial" pitchFamily="34" charset="-120"/>
              </a:rPr>
              <a:t>4,214</a:t>
            </a:r>
            <a:endParaRPr lang="en-US" sz="3000" dirty="0"/>
          </a:p>
        </p:txBody>
      </p:sp>
      <p:sp>
        <p:nvSpPr>
          <p:cNvPr id="8" name="Text 6"/>
          <p:cNvSpPr txBox="1"/>
          <p:nvPr/>
        </p:nvSpPr>
        <p:spPr>
          <a:xfrm>
            <a:off x="896112" y="4023360"/>
            <a:ext cx="2148840" cy="3200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critical facilities</a:t>
            </a:r>
            <a:endParaRPr lang="en-US" sz="1250" dirty="0"/>
          </a:p>
        </p:txBody>
      </p:sp>
      <p:sp>
        <p:nvSpPr>
          <p:cNvPr id="9" name="Shape 7"/>
          <p:cNvSpPr/>
          <p:nvPr/>
        </p:nvSpPr>
        <p:spPr>
          <a:xfrm>
            <a:off x="3337560" y="3291840"/>
            <a:ext cx="2514600" cy="1188720"/>
          </a:xfrm>
          <a:prstGeom prst="roundRect">
            <a:avLst>
              <a:gd name="adj" fmla="val 12308"/>
            </a:avLst>
          </a:prstGeom>
          <a:solidFill>
            <a:srgbClr val="FFFFFF">
              <a:alpha val="90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0" name="Text 8"/>
          <p:cNvSpPr txBox="1"/>
          <p:nvPr/>
        </p:nvSpPr>
        <p:spPr>
          <a:xfrm>
            <a:off x="3593592" y="3429000"/>
            <a:ext cx="2148840" cy="594360"/>
          </a:xfrm>
          <a:prstGeom prst="rect">
            <a:avLst/>
          </a:prstGeom>
          <a:noFill/>
          <a:ln/>
        </p:spPr>
        <p:txBody>
          <a:bodyPr wrap="square" lIns="0" tIns="0" rIns="0" bIns="0" rtlCol="0" anchor="ctr"/>
          <a:lstStyle/>
          <a:p>
            <a:pPr indent="0" marL="0">
              <a:buNone/>
            </a:pPr>
            <a:r>
              <a:rPr lang="en-US" sz="3000" b="1" dirty="0">
                <a:solidFill>
                  <a:srgbClr val="D93025"/>
                </a:solidFill>
                <a:latin typeface="Arial" pitchFamily="34" charset="0"/>
                <a:ea typeface="Arial" pitchFamily="34" charset="-122"/>
                <a:cs typeface="Arial" pitchFamily="34" charset="-120"/>
              </a:rPr>
              <a:t>33,930 km</a:t>
            </a:r>
            <a:endParaRPr lang="en-US" sz="3000" dirty="0"/>
          </a:p>
        </p:txBody>
      </p:sp>
      <p:sp>
        <p:nvSpPr>
          <p:cNvPr id="11" name="Text 9"/>
          <p:cNvSpPr txBox="1"/>
          <p:nvPr/>
        </p:nvSpPr>
        <p:spPr>
          <a:xfrm>
            <a:off x="3593592" y="4023360"/>
            <a:ext cx="2148840" cy="3200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main roads</a:t>
            </a:r>
            <a:endParaRPr lang="en-US" sz="1250" dirty="0"/>
          </a:p>
        </p:txBody>
      </p:sp>
      <p:sp>
        <p:nvSpPr>
          <p:cNvPr id="12" name="Shape 10"/>
          <p:cNvSpPr/>
          <p:nvPr/>
        </p:nvSpPr>
        <p:spPr>
          <a:xfrm>
            <a:off x="640080" y="4663440"/>
            <a:ext cx="2514600" cy="1188720"/>
          </a:xfrm>
          <a:prstGeom prst="roundRect">
            <a:avLst>
              <a:gd name="adj" fmla="val 12308"/>
            </a:avLst>
          </a:prstGeom>
          <a:solidFill>
            <a:srgbClr val="FFFFFF">
              <a:alpha val="90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3" name="Text 11"/>
          <p:cNvSpPr txBox="1"/>
          <p:nvPr/>
        </p:nvSpPr>
        <p:spPr>
          <a:xfrm>
            <a:off x="896112" y="4800600"/>
            <a:ext cx="2148840" cy="594360"/>
          </a:xfrm>
          <a:prstGeom prst="rect">
            <a:avLst/>
          </a:prstGeom>
          <a:noFill/>
          <a:ln/>
        </p:spPr>
        <p:txBody>
          <a:bodyPr wrap="square" lIns="0" tIns="0" rIns="0" bIns="0" rtlCol="0" anchor="ctr"/>
          <a:lstStyle/>
          <a:p>
            <a:pPr indent="0" marL="0">
              <a:buNone/>
            </a:pPr>
            <a:r>
              <a:rPr lang="en-US" sz="3000" b="1" dirty="0">
                <a:solidFill>
                  <a:srgbClr val="B06000"/>
                </a:solidFill>
                <a:latin typeface="Arial" pitchFamily="34" charset="0"/>
                <a:ea typeface="Arial" pitchFamily="34" charset="-122"/>
                <a:cs typeface="Arial" pitchFamily="34" charset="-120"/>
              </a:rPr>
              <a:t>10.5 M</a:t>
            </a:r>
            <a:endParaRPr lang="en-US" sz="3000" dirty="0"/>
          </a:p>
        </p:txBody>
      </p:sp>
      <p:sp>
        <p:nvSpPr>
          <p:cNvPr id="14" name="Text 12"/>
          <p:cNvSpPr txBox="1"/>
          <p:nvPr/>
        </p:nvSpPr>
        <p:spPr>
          <a:xfrm>
            <a:off x="896112" y="5394960"/>
            <a:ext cx="2148840" cy="3200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people in the priority area</a:t>
            </a:r>
            <a:endParaRPr lang="en-US" sz="1250" dirty="0"/>
          </a:p>
        </p:txBody>
      </p:sp>
      <p:sp>
        <p:nvSpPr>
          <p:cNvPr id="15" name="Shape 13"/>
          <p:cNvSpPr/>
          <p:nvPr/>
        </p:nvSpPr>
        <p:spPr>
          <a:xfrm>
            <a:off x="3337560" y="4663440"/>
            <a:ext cx="2514600" cy="1188720"/>
          </a:xfrm>
          <a:prstGeom prst="roundRect">
            <a:avLst>
              <a:gd name="adj" fmla="val 12308"/>
            </a:avLst>
          </a:prstGeom>
          <a:solidFill>
            <a:srgbClr val="FFFFFF">
              <a:alpha val="90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6" name="Text 14"/>
          <p:cNvSpPr txBox="1"/>
          <p:nvPr/>
        </p:nvSpPr>
        <p:spPr>
          <a:xfrm>
            <a:off x="3593592" y="4800600"/>
            <a:ext cx="2148840" cy="594360"/>
          </a:xfrm>
          <a:prstGeom prst="rect">
            <a:avLst/>
          </a:prstGeom>
          <a:noFill/>
          <a:ln/>
        </p:spPr>
        <p:txBody>
          <a:bodyPr wrap="square" lIns="0" tIns="0" rIns="0" bIns="0" rtlCol="0" anchor="ctr"/>
          <a:lstStyle/>
          <a:p>
            <a:pPr indent="0" marL="0">
              <a:buNone/>
            </a:pPr>
            <a:r>
              <a:rPr lang="en-US" sz="3000" b="1" dirty="0">
                <a:solidFill>
                  <a:srgbClr val="188038"/>
                </a:solidFill>
                <a:latin typeface="Arial" pitchFamily="34" charset="0"/>
                <a:ea typeface="Arial" pitchFamily="34" charset="-122"/>
                <a:cs typeface="Arial" pitchFamily="34" charset="-120"/>
              </a:rPr>
              <a:t>7</a:t>
            </a:r>
            <a:endParaRPr lang="en-US" sz="3000" dirty="0"/>
          </a:p>
        </p:txBody>
      </p:sp>
      <p:sp>
        <p:nvSpPr>
          <p:cNvPr id="17" name="Text 15"/>
          <p:cNvSpPr txBox="1"/>
          <p:nvPr/>
        </p:nvSpPr>
        <p:spPr>
          <a:xfrm>
            <a:off x="3593592" y="5394960"/>
            <a:ext cx="2148840" cy="3200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departments</a:t>
            </a:r>
            <a:endParaRPr lang="en-US" sz="1250" dirty="0"/>
          </a:p>
        </p:txBody>
      </p:sp>
      <p:sp>
        <p:nvSpPr>
          <p:cNvPr id="18" name="Shape 16"/>
          <p:cNvSpPr/>
          <p:nvPr/>
        </p:nvSpPr>
        <p:spPr>
          <a:xfrm>
            <a:off x="6174943" y="2212848"/>
            <a:ext cx="5449824" cy="3312505"/>
          </a:xfrm>
          <a:prstGeom prst="roundRect">
            <a:avLst>
              <a:gd name="adj" fmla="val 3313"/>
            </a:avLst>
          </a:prstGeom>
          <a:solidFill>
            <a:srgbClr val="FFFFFF"/>
          </a:solidFill>
          <a:ln w="9525">
            <a:solidFill>
              <a:srgbClr val="DADCE0"/>
            </a:solidFill>
            <a:prstDash val="solid"/>
          </a:ln>
          <a:effectLst>
            <a:outerShdw sx="100000" sy="100000" kx="0" ky="0" algn="bl" rotWithShape="0" blurRad="279400" dist="76200" dir="5400000">
              <a:srgbClr val="1A2B4C">
                <a:alpha val="18000"/>
              </a:srgbClr>
            </a:outerShdw>
          </a:effectLst>
        </p:spPr>
      </p:sp>
      <p:pic>
        <p:nvPicPr>
          <p:cNvPr id="19" name="Image 0" descr="/private/tmp/claude-503/-Users-CharanVelavan-Charan-Projects-SurgeSight/9ee263a0-0835-4556-8164-6a5a42928b6b/scratchpad/deck/img/map.jpg">    </p:cNvPr>
          <p:cNvPicPr>
            <a:picLocks noChangeAspect="1"/>
          </p:cNvPicPr>
          <p:nvPr/>
        </p:nvPicPr>
        <p:blipFill>
          <a:blip r:embed="rId2"/>
          <a:stretch>
            <a:fillRect/>
          </a:stretch>
        </p:blipFill>
        <p:spPr>
          <a:xfrm>
            <a:off x="6248095" y="2286000"/>
            <a:ext cx="5303520" cy="3166201"/>
          </a:xfrm>
          <a:prstGeom prst="rect">
            <a:avLst/>
          </a:prstGeom>
        </p:spPr>
      </p:pic>
      <p:sp>
        <p:nvSpPr>
          <p:cNvPr id="20" name="Text 17"/>
          <p:cNvSpPr txBox="1"/>
          <p:nvPr/>
        </p:nvSpPr>
        <p:spPr>
          <a:xfrm>
            <a:off x="6248095" y="5680801"/>
            <a:ext cx="5303520" cy="274320"/>
          </a:xfrm>
          <a:prstGeom prst="rect">
            <a:avLst/>
          </a:prstGeom>
          <a:noFill/>
          <a:ln/>
        </p:spPr>
        <p:txBody>
          <a:bodyPr wrap="square" lIns="0" tIns="0" rIns="0" bIns="0" rtlCol="0" anchor="t"/>
          <a:lstStyle/>
          <a:p>
            <a:pPr algn="ctr" indent="0" marL="0">
              <a:buNone/>
            </a:pPr>
            <a:r>
              <a:rPr lang="en-US" sz="1150" dirty="0">
                <a:solidFill>
                  <a:srgbClr val="4A5A78"/>
                </a:solidFill>
                <a:latin typeface="Arial" pitchFamily="34" charset="0"/>
                <a:ea typeface="Arial" pitchFamily="34" charset="-122"/>
                <a:cs typeface="Arial" pitchFamily="34" charset="-120"/>
              </a:rPr>
              <a:t>Two states, two languages  ·  open data to check ourselves  ·  an honest replay</a:t>
            </a:r>
            <a:endParaRPr lang="en-US" sz="1150" dirty="0"/>
          </a:p>
        </p:txBody>
      </p:sp>
      <p:sp>
        <p:nvSpPr>
          <p:cNvPr id="21" name="Shape 18"/>
          <p:cNvSpPr/>
          <p:nvPr/>
        </p:nvSpPr>
        <p:spPr>
          <a:xfrm>
            <a:off x="640080" y="6473952"/>
            <a:ext cx="82296" cy="82296"/>
          </a:xfrm>
          <a:prstGeom prst="ellipse">
            <a:avLst/>
          </a:prstGeom>
          <a:solidFill>
            <a:srgbClr val="1A73E8"/>
          </a:solidFill>
          <a:ln/>
        </p:spPr>
      </p:sp>
      <p:sp>
        <p:nvSpPr>
          <p:cNvPr id="22" name="Shape 19"/>
          <p:cNvSpPr/>
          <p:nvPr/>
        </p:nvSpPr>
        <p:spPr>
          <a:xfrm>
            <a:off x="768096" y="6473952"/>
            <a:ext cx="82296" cy="82296"/>
          </a:xfrm>
          <a:prstGeom prst="ellipse">
            <a:avLst/>
          </a:prstGeom>
          <a:solidFill>
            <a:srgbClr val="EA4335"/>
          </a:solidFill>
          <a:ln/>
        </p:spPr>
      </p:sp>
      <p:sp>
        <p:nvSpPr>
          <p:cNvPr id="23" name="Shape 20"/>
          <p:cNvSpPr/>
          <p:nvPr/>
        </p:nvSpPr>
        <p:spPr>
          <a:xfrm>
            <a:off x="896112" y="6473952"/>
            <a:ext cx="82296" cy="82296"/>
          </a:xfrm>
          <a:prstGeom prst="ellipse">
            <a:avLst/>
          </a:prstGeom>
          <a:solidFill>
            <a:srgbClr val="FBBC04"/>
          </a:solidFill>
          <a:ln/>
        </p:spPr>
      </p:sp>
      <p:sp>
        <p:nvSpPr>
          <p:cNvPr id="24" name="Shape 21"/>
          <p:cNvSpPr/>
          <p:nvPr/>
        </p:nvSpPr>
        <p:spPr>
          <a:xfrm>
            <a:off x="1024128" y="6473952"/>
            <a:ext cx="82296" cy="82296"/>
          </a:xfrm>
          <a:prstGeom prst="ellipse">
            <a:avLst/>
          </a:prstGeom>
          <a:solidFill>
            <a:srgbClr val="34A853"/>
          </a:solidFill>
          <a:ln/>
        </p:spPr>
      </p:sp>
      <p:sp>
        <p:nvSpPr>
          <p:cNvPr id="25" name="Text 22"/>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26" name="Text 23"/>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FEATURE 1  ·  THE IMPACT MAP</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Every school, hospital and substation under the storm, coloured by risk.</a:t>
            </a:r>
            <a:endParaRPr lang="en-US" sz="3000" dirty="0"/>
          </a:p>
        </p:txBody>
      </p:sp>
      <p:sp>
        <p:nvSpPr>
          <p:cNvPr id="4" name="Shape 2"/>
          <p:cNvSpPr/>
          <p:nvPr/>
        </p:nvSpPr>
        <p:spPr>
          <a:xfrm>
            <a:off x="566928" y="2029968"/>
            <a:ext cx="6729984" cy="4182100"/>
          </a:xfrm>
          <a:prstGeom prst="roundRect">
            <a:avLst>
              <a:gd name="adj" fmla="val 2624"/>
            </a:avLst>
          </a:prstGeom>
          <a:solidFill>
            <a:srgbClr val="FFFFFF"/>
          </a:solidFill>
          <a:ln w="9525">
            <a:solidFill>
              <a:srgbClr val="DADCE0"/>
            </a:solidFill>
            <a:prstDash val="solid"/>
          </a:ln>
          <a:effectLst>
            <a:outerShdw sx="100000" sy="100000" kx="0" ky="0" algn="bl" rotWithShape="0" blurRad="279400" dist="76200" dir="5400000">
              <a:srgbClr val="1A2B4C">
                <a:alpha val="18000"/>
              </a:srgbClr>
            </a:outerShdw>
          </a:effectLst>
        </p:spPr>
      </p:sp>
      <p:pic>
        <p:nvPicPr>
          <p:cNvPr id="5" name="Image 0" descr="/private/tmp/claude-503/-Users-CharanVelavan-Charan-Projects-SurgeSight/9ee263a0-0835-4556-8164-6a5a42928b6b/scratchpad/deck/img/map_school.jpg">    </p:cNvPr>
          <p:cNvPicPr>
            <a:picLocks noChangeAspect="1"/>
          </p:cNvPicPr>
          <p:nvPr/>
        </p:nvPicPr>
        <p:blipFill>
          <a:blip r:embed="rId2"/>
          <a:stretch>
            <a:fillRect/>
          </a:stretch>
        </p:blipFill>
        <p:spPr>
          <a:xfrm>
            <a:off x="640080" y="2103120"/>
            <a:ext cx="6583680" cy="4035796"/>
          </a:xfrm>
          <a:prstGeom prst="rect">
            <a:avLst/>
          </a:prstGeom>
        </p:spPr>
      </p:pic>
      <p:sp>
        <p:nvSpPr>
          <p:cNvPr id="6" name="Shape 3"/>
          <p:cNvSpPr/>
          <p:nvPr/>
        </p:nvSpPr>
        <p:spPr>
          <a:xfrm>
            <a:off x="7726680" y="2148840"/>
            <a:ext cx="566928" cy="566928"/>
          </a:xfrm>
          <a:prstGeom prst="ellipse">
            <a:avLst/>
          </a:prstGeom>
          <a:solidFill>
            <a:srgbClr val="FFFFFF"/>
          </a:solidFill>
          <a:ln w="9525">
            <a:solidFill>
              <a:srgbClr val="DADCE0"/>
            </a:solidFill>
            <a:prstDash val="solid"/>
          </a:ln>
        </p:spPr>
      </p:sp>
      <p:pic>
        <p:nvPicPr>
          <p:cNvPr id="7" name="Image 1" descr="preencoded.png">    </p:cNvPr>
          <p:cNvPicPr>
            <a:picLocks noChangeAspect="1"/>
          </p:cNvPicPr>
          <p:nvPr/>
        </p:nvPicPr>
        <p:blipFill>
          <a:blip r:embed="rId3"/>
          <a:stretch>
            <a:fillRect/>
          </a:stretch>
        </p:blipFill>
        <p:spPr>
          <a:xfrm>
            <a:off x="7862743" y="2284903"/>
            <a:ext cx="294803" cy="294803"/>
          </a:xfrm>
          <a:prstGeom prst="rect">
            <a:avLst/>
          </a:prstGeom>
        </p:spPr>
      </p:pic>
      <p:sp>
        <p:nvSpPr>
          <p:cNvPr id="8" name="Text 4"/>
          <p:cNvSpPr txBox="1"/>
          <p:nvPr/>
        </p:nvSpPr>
        <p:spPr>
          <a:xfrm>
            <a:off x="8458200" y="2130552"/>
            <a:ext cx="3093415" cy="329184"/>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4,214 facilities, 8 types</a:t>
            </a:r>
            <a:endParaRPr lang="en-US" sz="1600" dirty="0"/>
          </a:p>
        </p:txBody>
      </p:sp>
      <p:sp>
        <p:nvSpPr>
          <p:cNvPr id="9" name="Text 5"/>
          <p:cNvSpPr txBox="1"/>
          <p:nvPr/>
        </p:nvSpPr>
        <p:spPr>
          <a:xfrm>
            <a:off x="8458200" y="2459736"/>
            <a:ext cx="3093415" cy="50292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Coloured from Low to Critical</a:t>
            </a:r>
            <a:endParaRPr lang="en-US" sz="1200" dirty="0"/>
          </a:p>
        </p:txBody>
      </p:sp>
      <p:sp>
        <p:nvSpPr>
          <p:cNvPr id="10" name="Shape 6"/>
          <p:cNvSpPr/>
          <p:nvPr/>
        </p:nvSpPr>
        <p:spPr>
          <a:xfrm>
            <a:off x="7726680" y="3172968"/>
            <a:ext cx="566928" cy="566928"/>
          </a:xfrm>
          <a:prstGeom prst="ellipse">
            <a:avLst/>
          </a:prstGeom>
          <a:solidFill>
            <a:srgbClr val="FFFFFF"/>
          </a:solidFill>
          <a:ln w="9525">
            <a:solidFill>
              <a:srgbClr val="DADCE0"/>
            </a:solidFill>
            <a:prstDash val="solid"/>
          </a:ln>
        </p:spPr>
      </p:sp>
      <p:pic>
        <p:nvPicPr>
          <p:cNvPr id="11" name="Image 2" descr="preencoded.png">    </p:cNvPr>
          <p:cNvPicPr>
            <a:picLocks noChangeAspect="1"/>
          </p:cNvPicPr>
          <p:nvPr/>
        </p:nvPicPr>
        <p:blipFill>
          <a:blip r:embed="rId4"/>
          <a:stretch>
            <a:fillRect/>
          </a:stretch>
        </p:blipFill>
        <p:spPr>
          <a:xfrm>
            <a:off x="7862743" y="3309031"/>
            <a:ext cx="294803" cy="294803"/>
          </a:xfrm>
          <a:prstGeom prst="rect">
            <a:avLst/>
          </a:prstGeom>
        </p:spPr>
      </p:pic>
      <p:sp>
        <p:nvSpPr>
          <p:cNvPr id="12" name="Text 7"/>
          <p:cNvSpPr txBox="1"/>
          <p:nvPr/>
        </p:nvSpPr>
        <p:spPr>
          <a:xfrm>
            <a:off x="8458200" y="3154680"/>
            <a:ext cx="3093415" cy="329184"/>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Alert zones</a:t>
            </a:r>
            <a:endParaRPr lang="en-US" sz="1600" dirty="0"/>
          </a:p>
        </p:txBody>
      </p:sp>
      <p:sp>
        <p:nvSpPr>
          <p:cNvPr id="13" name="Text 8"/>
          <p:cNvSpPr txBox="1"/>
          <p:nvPr/>
        </p:nvSpPr>
        <p:spPr>
          <a:xfrm>
            <a:off x="8458200" y="3483864"/>
            <a:ext cx="3093415" cy="50292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Watch, warning and severe, moving with the storm</a:t>
            </a:r>
            <a:endParaRPr lang="en-US" sz="1200" dirty="0"/>
          </a:p>
        </p:txBody>
      </p:sp>
      <p:sp>
        <p:nvSpPr>
          <p:cNvPr id="14" name="Shape 9"/>
          <p:cNvSpPr/>
          <p:nvPr/>
        </p:nvSpPr>
        <p:spPr>
          <a:xfrm>
            <a:off x="7726680" y="4197096"/>
            <a:ext cx="566928" cy="566928"/>
          </a:xfrm>
          <a:prstGeom prst="ellipse">
            <a:avLst/>
          </a:prstGeom>
          <a:solidFill>
            <a:srgbClr val="FFFFFF"/>
          </a:solidFill>
          <a:ln w="9525">
            <a:solidFill>
              <a:srgbClr val="DADCE0"/>
            </a:solidFill>
            <a:prstDash val="solid"/>
          </a:ln>
        </p:spPr>
      </p:sp>
      <p:pic>
        <p:nvPicPr>
          <p:cNvPr id="15" name="Image 3" descr="preencoded.png">    </p:cNvPr>
          <p:cNvPicPr>
            <a:picLocks noChangeAspect="1"/>
          </p:cNvPicPr>
          <p:nvPr/>
        </p:nvPicPr>
        <p:blipFill>
          <a:blip r:embed="rId5"/>
          <a:stretch>
            <a:fillRect/>
          </a:stretch>
        </p:blipFill>
        <p:spPr>
          <a:xfrm>
            <a:off x="7862743" y="4333159"/>
            <a:ext cx="294803" cy="294803"/>
          </a:xfrm>
          <a:prstGeom prst="rect">
            <a:avLst/>
          </a:prstGeom>
        </p:spPr>
      </p:pic>
      <p:sp>
        <p:nvSpPr>
          <p:cNvPr id="16" name="Text 10"/>
          <p:cNvSpPr txBox="1"/>
          <p:nvPr/>
        </p:nvSpPr>
        <p:spPr>
          <a:xfrm>
            <a:off x="8458200" y="4178808"/>
            <a:ext cx="3093415" cy="329184"/>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Track and forecast</a:t>
            </a:r>
            <a:endParaRPr lang="en-US" sz="1600" dirty="0"/>
          </a:p>
        </p:txBody>
      </p:sp>
      <p:sp>
        <p:nvSpPr>
          <p:cNvPr id="17" name="Text 11"/>
          <p:cNvSpPr txBox="1"/>
          <p:nvPr/>
        </p:nvSpPr>
        <p:spPr>
          <a:xfrm>
            <a:off x="8458200" y="4507992"/>
            <a:ext cx="3093415" cy="50292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Observed path, our forecast and its uncertainty</a:t>
            </a:r>
            <a:endParaRPr lang="en-US" sz="1200" dirty="0"/>
          </a:p>
        </p:txBody>
      </p:sp>
      <p:sp>
        <p:nvSpPr>
          <p:cNvPr id="18" name="Shape 12"/>
          <p:cNvSpPr/>
          <p:nvPr/>
        </p:nvSpPr>
        <p:spPr>
          <a:xfrm>
            <a:off x="7726680" y="5221224"/>
            <a:ext cx="566928" cy="566928"/>
          </a:xfrm>
          <a:prstGeom prst="ellipse">
            <a:avLst/>
          </a:prstGeom>
          <a:solidFill>
            <a:srgbClr val="FFFFFF"/>
          </a:solidFill>
          <a:ln w="9525">
            <a:solidFill>
              <a:srgbClr val="DADCE0"/>
            </a:solidFill>
            <a:prstDash val="solid"/>
          </a:ln>
        </p:spPr>
      </p:sp>
      <p:pic>
        <p:nvPicPr>
          <p:cNvPr id="19" name="Image 4" descr="preencoded.png">    </p:cNvPr>
          <p:cNvPicPr>
            <a:picLocks noChangeAspect="1"/>
          </p:cNvPicPr>
          <p:nvPr/>
        </p:nvPicPr>
        <p:blipFill>
          <a:blip r:embed="rId6"/>
          <a:stretch>
            <a:fillRect/>
          </a:stretch>
        </p:blipFill>
        <p:spPr>
          <a:xfrm>
            <a:off x="7862743" y="5357287"/>
            <a:ext cx="294803" cy="294803"/>
          </a:xfrm>
          <a:prstGeom prst="rect">
            <a:avLst/>
          </a:prstGeom>
        </p:spPr>
      </p:pic>
      <p:sp>
        <p:nvSpPr>
          <p:cNvPr id="20" name="Text 13"/>
          <p:cNvSpPr txBox="1"/>
          <p:nvPr/>
        </p:nvSpPr>
        <p:spPr>
          <a:xfrm>
            <a:off x="8458200" y="5202936"/>
            <a:ext cx="3093415" cy="329184"/>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Roads to check</a:t>
            </a:r>
            <a:endParaRPr lang="en-US" sz="1600" dirty="0"/>
          </a:p>
        </p:txBody>
      </p:sp>
      <p:sp>
        <p:nvSpPr>
          <p:cNvPr id="21" name="Text 14"/>
          <p:cNvSpPr txBox="1"/>
          <p:nvPr/>
        </p:nvSpPr>
        <p:spPr>
          <a:xfrm>
            <a:off x="8458200" y="5532120"/>
            <a:ext cx="3093415" cy="50292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Main roads by exposure, and cut-off hospitals</a:t>
            </a:r>
            <a:endParaRPr lang="en-US" sz="1200" dirty="0"/>
          </a:p>
        </p:txBody>
      </p:sp>
      <p:sp>
        <p:nvSpPr>
          <p:cNvPr id="22" name="Shape 15"/>
          <p:cNvSpPr/>
          <p:nvPr/>
        </p:nvSpPr>
        <p:spPr>
          <a:xfrm>
            <a:off x="640080" y="6473952"/>
            <a:ext cx="82296" cy="82296"/>
          </a:xfrm>
          <a:prstGeom prst="ellipse">
            <a:avLst/>
          </a:prstGeom>
          <a:solidFill>
            <a:srgbClr val="1A73E8"/>
          </a:solidFill>
          <a:ln/>
        </p:spPr>
      </p:sp>
      <p:sp>
        <p:nvSpPr>
          <p:cNvPr id="23" name="Shape 16"/>
          <p:cNvSpPr/>
          <p:nvPr/>
        </p:nvSpPr>
        <p:spPr>
          <a:xfrm>
            <a:off x="768096" y="6473952"/>
            <a:ext cx="82296" cy="82296"/>
          </a:xfrm>
          <a:prstGeom prst="ellipse">
            <a:avLst/>
          </a:prstGeom>
          <a:solidFill>
            <a:srgbClr val="EA4335"/>
          </a:solidFill>
          <a:ln/>
        </p:spPr>
      </p:sp>
      <p:sp>
        <p:nvSpPr>
          <p:cNvPr id="24" name="Shape 17"/>
          <p:cNvSpPr/>
          <p:nvPr/>
        </p:nvSpPr>
        <p:spPr>
          <a:xfrm>
            <a:off x="896112" y="6473952"/>
            <a:ext cx="82296" cy="82296"/>
          </a:xfrm>
          <a:prstGeom prst="ellipse">
            <a:avLst/>
          </a:prstGeom>
          <a:solidFill>
            <a:srgbClr val="FBBC04"/>
          </a:solidFill>
          <a:ln/>
        </p:spPr>
      </p:sp>
      <p:sp>
        <p:nvSpPr>
          <p:cNvPr id="25" name="Shape 18"/>
          <p:cNvSpPr/>
          <p:nvPr/>
        </p:nvSpPr>
        <p:spPr>
          <a:xfrm>
            <a:off x="1024128" y="6473952"/>
            <a:ext cx="82296" cy="82296"/>
          </a:xfrm>
          <a:prstGeom prst="ellipse">
            <a:avLst/>
          </a:prstGeom>
          <a:solidFill>
            <a:srgbClr val="34A853"/>
          </a:solidFill>
          <a:ln/>
        </p:spPr>
      </p:sp>
      <p:sp>
        <p:nvSpPr>
          <p:cNvPr id="26" name="Text 19"/>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27" name="Text 20"/>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FEATURE 2  ·  WHY WAS IT ALERTED?</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Every alert comes with its reason: the numbers first, then Gemini’s words.</a:t>
            </a:r>
            <a:endParaRPr lang="en-US" sz="3000" dirty="0"/>
          </a:p>
        </p:txBody>
      </p:sp>
      <p:sp>
        <p:nvSpPr>
          <p:cNvPr id="4" name="Shape 2"/>
          <p:cNvSpPr/>
          <p:nvPr/>
        </p:nvSpPr>
        <p:spPr>
          <a:xfrm>
            <a:off x="566928" y="2075688"/>
            <a:ext cx="2591417" cy="4078224"/>
          </a:xfrm>
          <a:prstGeom prst="roundRect">
            <a:avLst>
              <a:gd name="adj" fmla="val 4234"/>
            </a:avLst>
          </a:prstGeom>
          <a:solidFill>
            <a:srgbClr val="FFFFFF"/>
          </a:solidFill>
          <a:ln w="9525">
            <a:solidFill>
              <a:srgbClr val="DADCE0"/>
            </a:solidFill>
            <a:prstDash val="solid"/>
          </a:ln>
          <a:effectLst>
            <a:outerShdw sx="100000" sy="100000" kx="0" ky="0" algn="bl" rotWithShape="0" blurRad="279400" dist="76200" dir="5400000">
              <a:srgbClr val="1A2B4C">
                <a:alpha val="18000"/>
              </a:srgbClr>
            </a:outerShdw>
          </a:effectLst>
        </p:spPr>
      </p:sp>
      <p:pic>
        <p:nvPicPr>
          <p:cNvPr id="5" name="Image 0" descr="/private/tmp/claude-503/-Users-CharanVelavan-Charan-Projects-SurgeSight/9ee263a0-0835-4556-8164-6a5a42928b6b/scratchpad/deck/img/why_a.jpg">    </p:cNvPr>
          <p:cNvPicPr>
            <a:picLocks noChangeAspect="1"/>
          </p:cNvPicPr>
          <p:nvPr/>
        </p:nvPicPr>
        <p:blipFill>
          <a:blip r:embed="rId2"/>
          <a:stretch>
            <a:fillRect/>
          </a:stretch>
        </p:blipFill>
        <p:spPr>
          <a:xfrm>
            <a:off x="640080" y="2148840"/>
            <a:ext cx="2445113" cy="3931920"/>
          </a:xfrm>
          <a:prstGeom prst="rect">
            <a:avLst/>
          </a:prstGeom>
        </p:spPr>
      </p:pic>
      <p:sp>
        <p:nvSpPr>
          <p:cNvPr id="6" name="Shape 3"/>
          <p:cNvSpPr/>
          <p:nvPr/>
        </p:nvSpPr>
        <p:spPr>
          <a:xfrm>
            <a:off x="3469241" y="2075688"/>
            <a:ext cx="3163824" cy="2688407"/>
          </a:xfrm>
          <a:prstGeom prst="roundRect">
            <a:avLst>
              <a:gd name="adj" fmla="val 4082"/>
            </a:avLst>
          </a:prstGeom>
          <a:solidFill>
            <a:srgbClr val="FFFFFF"/>
          </a:solidFill>
          <a:ln w="9525">
            <a:solidFill>
              <a:srgbClr val="DADCE0"/>
            </a:solidFill>
            <a:prstDash val="solid"/>
          </a:ln>
          <a:effectLst>
            <a:outerShdw sx="100000" sy="100000" kx="0" ky="0" algn="bl" rotWithShape="0" blurRad="279400" dist="76200" dir="5400000">
              <a:srgbClr val="1A2B4C">
                <a:alpha val="18000"/>
              </a:srgbClr>
            </a:outerShdw>
          </a:effectLst>
        </p:spPr>
      </p:sp>
      <p:pic>
        <p:nvPicPr>
          <p:cNvPr id="7" name="Image 1" descr="/private/tmp/claude-503/-Users-CharanVelavan-Charan-Projects-SurgeSight/9ee263a0-0835-4556-8164-6a5a42928b6b/scratchpad/deck/img/why_b.jpg">    </p:cNvPr>
          <p:cNvPicPr>
            <a:picLocks noChangeAspect="1"/>
          </p:cNvPicPr>
          <p:nvPr/>
        </p:nvPicPr>
        <p:blipFill>
          <a:blip r:embed="rId3"/>
          <a:stretch>
            <a:fillRect/>
          </a:stretch>
        </p:blipFill>
        <p:spPr>
          <a:xfrm>
            <a:off x="3542393" y="2148840"/>
            <a:ext cx="3017520" cy="2542103"/>
          </a:xfrm>
          <a:prstGeom prst="rect">
            <a:avLst/>
          </a:prstGeom>
        </p:spPr>
      </p:pic>
      <p:sp>
        <p:nvSpPr>
          <p:cNvPr id="8" name="Shape 4"/>
          <p:cNvSpPr/>
          <p:nvPr/>
        </p:nvSpPr>
        <p:spPr>
          <a:xfrm>
            <a:off x="438912" y="1938528"/>
            <a:ext cx="457200" cy="457200"/>
          </a:xfrm>
          <a:prstGeom prst="ellipse">
            <a:avLst/>
          </a:prstGeom>
          <a:solidFill>
            <a:srgbClr val="1A73E8"/>
          </a:solidFill>
          <a:ln w="25400">
            <a:solidFill>
              <a:srgbClr val="FFFFFF"/>
            </a:solidFill>
            <a:prstDash val="solid"/>
          </a:ln>
        </p:spPr>
      </p:sp>
      <p:sp>
        <p:nvSpPr>
          <p:cNvPr id="9" name="Text 5"/>
          <p:cNvSpPr txBox="1"/>
          <p:nvPr/>
        </p:nvSpPr>
        <p:spPr>
          <a:xfrm>
            <a:off x="438912"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Shape 6"/>
          <p:cNvSpPr/>
          <p:nvPr/>
        </p:nvSpPr>
        <p:spPr>
          <a:xfrm>
            <a:off x="3341225" y="1938528"/>
            <a:ext cx="457200" cy="457200"/>
          </a:xfrm>
          <a:prstGeom prst="ellipse">
            <a:avLst/>
          </a:prstGeom>
          <a:solidFill>
            <a:srgbClr val="34A853"/>
          </a:solidFill>
          <a:ln w="25400">
            <a:solidFill>
              <a:srgbClr val="FFFFFF"/>
            </a:solidFill>
            <a:prstDash val="solid"/>
          </a:ln>
        </p:spPr>
      </p:sp>
      <p:sp>
        <p:nvSpPr>
          <p:cNvPr id="11" name="Text 7"/>
          <p:cNvSpPr txBox="1"/>
          <p:nvPr/>
        </p:nvSpPr>
        <p:spPr>
          <a:xfrm>
            <a:off x="3341225"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Shape 8"/>
          <p:cNvSpPr/>
          <p:nvPr/>
        </p:nvSpPr>
        <p:spPr>
          <a:xfrm>
            <a:off x="3176633" y="2937081"/>
            <a:ext cx="457200" cy="457200"/>
          </a:xfrm>
          <a:prstGeom prst="ellipse">
            <a:avLst/>
          </a:prstGeom>
          <a:solidFill>
            <a:srgbClr val="EA4335"/>
          </a:solidFill>
          <a:ln w="25400">
            <a:solidFill>
              <a:srgbClr val="FFFFFF"/>
            </a:solidFill>
            <a:prstDash val="solid"/>
          </a:ln>
        </p:spPr>
      </p:sp>
      <p:sp>
        <p:nvSpPr>
          <p:cNvPr id="13" name="Text 9"/>
          <p:cNvSpPr txBox="1"/>
          <p:nvPr/>
        </p:nvSpPr>
        <p:spPr>
          <a:xfrm>
            <a:off x="3176633" y="2937081"/>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Shape 10"/>
          <p:cNvSpPr/>
          <p:nvPr/>
        </p:nvSpPr>
        <p:spPr>
          <a:xfrm>
            <a:off x="7062833" y="2148840"/>
            <a:ext cx="457200" cy="457200"/>
          </a:xfrm>
          <a:prstGeom prst="ellipse">
            <a:avLst/>
          </a:prstGeom>
          <a:solidFill>
            <a:srgbClr val="1A73E8"/>
          </a:solidFill>
          <a:ln w="25400">
            <a:solidFill>
              <a:srgbClr val="FFFFFF"/>
            </a:solidFill>
            <a:prstDash val="solid"/>
          </a:ln>
        </p:spPr>
      </p:sp>
      <p:sp>
        <p:nvSpPr>
          <p:cNvPr id="15" name="Text 11"/>
          <p:cNvSpPr txBox="1"/>
          <p:nvPr/>
        </p:nvSpPr>
        <p:spPr>
          <a:xfrm>
            <a:off x="7062833" y="2148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6" name="Text 12"/>
          <p:cNvSpPr txBox="1"/>
          <p:nvPr/>
        </p:nvSpPr>
        <p:spPr>
          <a:xfrm>
            <a:off x="7702913" y="2167128"/>
            <a:ext cx="3848702" cy="411480"/>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The numbers</a:t>
            </a:r>
            <a:endParaRPr lang="en-US" sz="1700" dirty="0"/>
          </a:p>
        </p:txBody>
      </p:sp>
      <p:sp>
        <p:nvSpPr>
          <p:cNvPr id="17" name="Text 13"/>
          <p:cNvSpPr txBox="1"/>
          <p:nvPr/>
        </p:nvSpPr>
        <p:spPr>
          <a:xfrm>
            <a:off x="7702913" y="2651760"/>
            <a:ext cx="3848702" cy="7772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3 m above sea level, 272 mm of forecast rain, 94 km/h wind, 14 km from the track.</a:t>
            </a:r>
            <a:endParaRPr lang="en-US" sz="1250" dirty="0"/>
          </a:p>
        </p:txBody>
      </p:sp>
      <p:sp>
        <p:nvSpPr>
          <p:cNvPr id="18" name="Shape 14"/>
          <p:cNvSpPr/>
          <p:nvPr/>
        </p:nvSpPr>
        <p:spPr>
          <a:xfrm>
            <a:off x="7062833" y="3520440"/>
            <a:ext cx="457200" cy="457200"/>
          </a:xfrm>
          <a:prstGeom prst="ellipse">
            <a:avLst/>
          </a:prstGeom>
          <a:solidFill>
            <a:srgbClr val="34A853"/>
          </a:solidFill>
          <a:ln w="25400">
            <a:solidFill>
              <a:srgbClr val="FFFFFF"/>
            </a:solidFill>
            <a:prstDash val="solid"/>
          </a:ln>
        </p:spPr>
      </p:sp>
      <p:sp>
        <p:nvSpPr>
          <p:cNvPr id="19" name="Text 15"/>
          <p:cNvSpPr txBox="1"/>
          <p:nvPr/>
        </p:nvSpPr>
        <p:spPr>
          <a:xfrm>
            <a:off x="7062833" y="3520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0" name="Text 16"/>
          <p:cNvSpPr txBox="1"/>
          <p:nvPr/>
        </p:nvSpPr>
        <p:spPr>
          <a:xfrm>
            <a:off x="7702913" y="3538728"/>
            <a:ext cx="3848702" cy="411480"/>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What drives it</a:t>
            </a:r>
            <a:endParaRPr lang="en-US" sz="1700" dirty="0"/>
          </a:p>
        </p:txBody>
      </p:sp>
      <p:sp>
        <p:nvSpPr>
          <p:cNvPr id="21" name="Text 17"/>
          <p:cNvSpPr txBox="1"/>
          <p:nvPr/>
        </p:nvSpPr>
        <p:spPr>
          <a:xfrm>
            <a:off x="7702913" y="4023360"/>
            <a:ext cx="3848702" cy="7772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Wind 0.63 and rain flooding 0.62 make this school Critical.</a:t>
            </a:r>
            <a:endParaRPr lang="en-US" sz="1250" dirty="0"/>
          </a:p>
        </p:txBody>
      </p:sp>
      <p:sp>
        <p:nvSpPr>
          <p:cNvPr id="22" name="Shape 18"/>
          <p:cNvSpPr/>
          <p:nvPr/>
        </p:nvSpPr>
        <p:spPr>
          <a:xfrm>
            <a:off x="7062833" y="4892040"/>
            <a:ext cx="457200" cy="457200"/>
          </a:xfrm>
          <a:prstGeom prst="ellipse">
            <a:avLst/>
          </a:prstGeom>
          <a:solidFill>
            <a:srgbClr val="EA4335"/>
          </a:solidFill>
          <a:ln w="25400">
            <a:solidFill>
              <a:srgbClr val="FFFFFF"/>
            </a:solidFill>
            <a:prstDash val="solid"/>
          </a:ln>
        </p:spPr>
      </p:sp>
      <p:sp>
        <p:nvSpPr>
          <p:cNvPr id="23" name="Text 19"/>
          <p:cNvSpPr txBox="1"/>
          <p:nvPr/>
        </p:nvSpPr>
        <p:spPr>
          <a:xfrm>
            <a:off x="7062833"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4" name="Text 20"/>
          <p:cNvSpPr txBox="1"/>
          <p:nvPr/>
        </p:nvSpPr>
        <p:spPr>
          <a:xfrm>
            <a:off x="7702913" y="4910328"/>
            <a:ext cx="3848702" cy="411480"/>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In words, by Gemini</a:t>
            </a:r>
            <a:endParaRPr lang="en-US" sz="1700" dirty="0"/>
          </a:p>
        </p:txBody>
      </p:sp>
      <p:sp>
        <p:nvSpPr>
          <p:cNvPr id="25" name="Text 21"/>
          <p:cNvSpPr txBox="1"/>
          <p:nvPr/>
        </p:nvSpPr>
        <p:spPr>
          <a:xfrm>
            <a:off x="7702913" y="5394960"/>
            <a:ext cx="3848702" cy="777240"/>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Plain language for the officer. Every number is checked against the table.</a:t>
            </a:r>
            <a:endParaRPr lang="en-US" sz="1250" dirty="0"/>
          </a:p>
        </p:txBody>
      </p:sp>
      <p:sp>
        <p:nvSpPr>
          <p:cNvPr id="26" name="Shape 22"/>
          <p:cNvSpPr/>
          <p:nvPr/>
        </p:nvSpPr>
        <p:spPr>
          <a:xfrm>
            <a:off x="3542393" y="4965263"/>
            <a:ext cx="3017520" cy="1115497"/>
          </a:xfrm>
          <a:prstGeom prst="roundRect">
            <a:avLst>
              <a:gd name="adj" fmla="val 13116"/>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pic>
        <p:nvPicPr>
          <p:cNvPr id="27" name="Image 2" descr="preencoded.png">    </p:cNvPr>
          <p:cNvPicPr>
            <a:picLocks noChangeAspect="1"/>
          </p:cNvPicPr>
          <p:nvPr/>
        </p:nvPicPr>
        <p:blipFill>
          <a:blip r:embed="rId4"/>
          <a:stretch>
            <a:fillRect/>
          </a:stretch>
        </p:blipFill>
        <p:spPr>
          <a:xfrm>
            <a:off x="3770993" y="5166431"/>
            <a:ext cx="329184" cy="329184"/>
          </a:xfrm>
          <a:prstGeom prst="rect">
            <a:avLst/>
          </a:prstGeom>
        </p:spPr>
      </p:pic>
      <p:sp>
        <p:nvSpPr>
          <p:cNvPr id="28" name="Text 23"/>
          <p:cNvSpPr txBox="1"/>
          <p:nvPr/>
        </p:nvSpPr>
        <p:spPr>
          <a:xfrm>
            <a:off x="4200761" y="5166431"/>
            <a:ext cx="2194560" cy="329184"/>
          </a:xfrm>
          <a:prstGeom prst="rect">
            <a:avLst/>
          </a:prstGeom>
          <a:noFill/>
          <a:ln/>
        </p:spPr>
        <p:txBody>
          <a:bodyPr wrap="square" lIns="0" tIns="0" rIns="0" bIns="0" rtlCol="0" anchor="ctr"/>
          <a:lstStyle/>
          <a:p>
            <a:pPr indent="0" marL="0">
              <a:buNone/>
            </a:pPr>
            <a:r>
              <a:rPr lang="en-US" sz="1400" b="1" dirty="0">
                <a:solidFill>
                  <a:srgbClr val="202124"/>
                </a:solidFill>
                <a:latin typeface="Arial" pitchFamily="34" charset="0"/>
                <a:ea typeface="Arial" pitchFamily="34" charset="-122"/>
                <a:cs typeface="Arial" pitchFamily="34" charset="-120"/>
              </a:rPr>
              <a:t>Road access too</a:t>
            </a:r>
            <a:endParaRPr lang="en-US" sz="1400" dirty="0"/>
          </a:p>
        </p:txBody>
      </p:sp>
      <p:sp>
        <p:nvSpPr>
          <p:cNvPr id="29" name="Text 24"/>
          <p:cNvSpPr txBox="1"/>
          <p:nvPr/>
        </p:nvSpPr>
        <p:spPr>
          <a:xfrm>
            <a:off x="3770993" y="5550479"/>
            <a:ext cx="2560320" cy="548640"/>
          </a:xfrm>
          <a:prstGeom prst="rect">
            <a:avLst/>
          </a:prstGeom>
          <a:noFill/>
          <a:ln/>
        </p:spPr>
        <p:txBody>
          <a:bodyPr wrap="square" lIns="0" tIns="0" rIns="0" bIns="0" rtlCol="0" anchor="t"/>
          <a:lstStyle/>
          <a:p>
            <a:pPr indent="0" marL="0">
              <a:buNone/>
            </a:pPr>
            <a:r>
              <a:rPr lang="en-US" sz="1150" dirty="0">
                <a:solidFill>
                  <a:srgbClr val="4A5A78"/>
                </a:solidFill>
                <a:latin typeface="Arial" pitchFamily="34" charset="0"/>
                <a:ea typeface="Arial" pitchFamily="34" charset="-122"/>
                <a:cs typeface="Arial" pitchFamily="34" charset="-120"/>
              </a:rPr>
              <a:t>Access at risk: the nearest hospital is 4.5 km away, over exposed roads.</a:t>
            </a:r>
            <a:endParaRPr lang="en-US" sz="1150" dirty="0"/>
          </a:p>
        </p:txBody>
      </p:sp>
      <p:sp>
        <p:nvSpPr>
          <p:cNvPr id="30" name="Shape 25"/>
          <p:cNvSpPr/>
          <p:nvPr/>
        </p:nvSpPr>
        <p:spPr>
          <a:xfrm>
            <a:off x="640080" y="6473952"/>
            <a:ext cx="82296" cy="82296"/>
          </a:xfrm>
          <a:prstGeom prst="ellipse">
            <a:avLst/>
          </a:prstGeom>
          <a:solidFill>
            <a:srgbClr val="1A73E8"/>
          </a:solidFill>
          <a:ln/>
        </p:spPr>
      </p:sp>
      <p:sp>
        <p:nvSpPr>
          <p:cNvPr id="31" name="Shape 26"/>
          <p:cNvSpPr/>
          <p:nvPr/>
        </p:nvSpPr>
        <p:spPr>
          <a:xfrm>
            <a:off x="768096" y="6473952"/>
            <a:ext cx="82296" cy="82296"/>
          </a:xfrm>
          <a:prstGeom prst="ellipse">
            <a:avLst/>
          </a:prstGeom>
          <a:solidFill>
            <a:srgbClr val="EA4335"/>
          </a:solidFill>
          <a:ln/>
        </p:spPr>
      </p:sp>
      <p:sp>
        <p:nvSpPr>
          <p:cNvPr id="32" name="Shape 27"/>
          <p:cNvSpPr/>
          <p:nvPr/>
        </p:nvSpPr>
        <p:spPr>
          <a:xfrm>
            <a:off x="896112" y="6473952"/>
            <a:ext cx="82296" cy="82296"/>
          </a:xfrm>
          <a:prstGeom prst="ellipse">
            <a:avLst/>
          </a:prstGeom>
          <a:solidFill>
            <a:srgbClr val="FBBC04"/>
          </a:solidFill>
          <a:ln/>
        </p:spPr>
      </p:sp>
      <p:sp>
        <p:nvSpPr>
          <p:cNvPr id="33" name="Shape 28"/>
          <p:cNvSpPr/>
          <p:nvPr/>
        </p:nvSpPr>
        <p:spPr>
          <a:xfrm>
            <a:off x="1024128" y="6473952"/>
            <a:ext cx="82296" cy="82296"/>
          </a:xfrm>
          <a:prstGeom prst="ellipse">
            <a:avLst/>
          </a:prstGeom>
          <a:solidFill>
            <a:srgbClr val="34A853"/>
          </a:solidFill>
          <a:ln/>
        </p:spPr>
      </p:sp>
      <p:sp>
        <p:nvSpPr>
          <p:cNvPr id="34" name="Text 29"/>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35" name="Text 30"/>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FEATURE 3  ·  GEMINI AT WORK</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What Gemini does in SurgeSight.</a:t>
            </a:r>
            <a:endParaRPr lang="en-US" sz="3000" dirty="0"/>
          </a:p>
        </p:txBody>
      </p:sp>
      <p:sp>
        <p:nvSpPr>
          <p:cNvPr id="4" name="Shape 2"/>
          <p:cNvSpPr/>
          <p:nvPr/>
        </p:nvSpPr>
        <p:spPr>
          <a:xfrm>
            <a:off x="640080" y="1828800"/>
            <a:ext cx="3454298" cy="1783080"/>
          </a:xfrm>
          <a:prstGeom prst="roundRect">
            <a:avLst>
              <a:gd name="adj" fmla="val 8205"/>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5" name="Shape 3"/>
          <p:cNvSpPr/>
          <p:nvPr/>
        </p:nvSpPr>
        <p:spPr>
          <a:xfrm>
            <a:off x="914400" y="2103120"/>
            <a:ext cx="658368" cy="658368"/>
          </a:xfrm>
          <a:prstGeom prst="ellipse">
            <a:avLst/>
          </a:prstGeom>
          <a:solidFill>
            <a:srgbClr val="FFFFFF"/>
          </a:solidFill>
          <a:ln w="9525">
            <a:solidFill>
              <a:srgbClr val="DADCE0"/>
            </a:solidFill>
            <a:prstDash val="solid"/>
          </a:ln>
        </p:spPr>
      </p:sp>
      <p:pic>
        <p:nvPicPr>
          <p:cNvPr id="6" name="Image 0" descr="preencoded.png">    </p:cNvPr>
          <p:cNvPicPr>
            <a:picLocks noChangeAspect="1"/>
          </p:cNvPicPr>
          <p:nvPr/>
        </p:nvPicPr>
        <p:blipFill>
          <a:blip r:embed="rId2"/>
          <a:stretch>
            <a:fillRect/>
          </a:stretch>
        </p:blipFill>
        <p:spPr>
          <a:xfrm>
            <a:off x="1072408" y="2261128"/>
            <a:ext cx="342351" cy="342351"/>
          </a:xfrm>
          <a:prstGeom prst="rect">
            <a:avLst/>
          </a:prstGeom>
        </p:spPr>
      </p:pic>
      <p:sp>
        <p:nvSpPr>
          <p:cNvPr id="7" name="Text 4"/>
          <p:cNvSpPr txBox="1"/>
          <p:nvPr/>
        </p:nvSpPr>
        <p:spPr>
          <a:xfrm>
            <a:off x="1737360" y="2103120"/>
            <a:ext cx="2174138" cy="65836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Reads</a:t>
            </a:r>
            <a:endParaRPr lang="en-US" sz="1800" dirty="0"/>
          </a:p>
        </p:txBody>
      </p:sp>
      <p:sp>
        <p:nvSpPr>
          <p:cNvPr id="8" name="Text 5"/>
          <p:cNvSpPr txBox="1"/>
          <p:nvPr/>
        </p:nvSpPr>
        <p:spPr>
          <a:xfrm>
            <a:off x="914400" y="2898648"/>
            <a:ext cx="2905658" cy="640080"/>
          </a:xfrm>
          <a:prstGeom prst="rect">
            <a:avLst/>
          </a:prstGeom>
          <a:noFill/>
          <a:ln/>
        </p:spPr>
        <p:txBody>
          <a:bodyPr wrap="square" lIns="0" tIns="0" rIns="0" bIns="0" rtlCol="0" anchor="t"/>
          <a:lstStyle/>
          <a:p>
            <a:pPr indent="0" marL="0">
              <a:buNone/>
            </a:pPr>
            <a:r>
              <a:rPr lang="en-US" sz="1300" dirty="0">
                <a:solidFill>
                  <a:srgbClr val="4A5A78"/>
                </a:solidFill>
                <a:latin typeface="Arial" pitchFamily="34" charset="0"/>
                <a:ea typeface="Arial" pitchFamily="34" charset="-122"/>
                <a:cs typeface="Arial" pitchFamily="34" charset="-120"/>
              </a:rPr>
              <a:t>Turns an IMD bulletin (text, PDF or photo) into a storm track.</a:t>
            </a:r>
            <a:endParaRPr lang="en-US" sz="1300" dirty="0"/>
          </a:p>
        </p:txBody>
      </p:sp>
      <p:sp>
        <p:nvSpPr>
          <p:cNvPr id="9" name="Shape 6"/>
          <p:cNvSpPr/>
          <p:nvPr/>
        </p:nvSpPr>
        <p:spPr>
          <a:xfrm>
            <a:off x="4368698" y="1828800"/>
            <a:ext cx="3454298" cy="1783080"/>
          </a:xfrm>
          <a:prstGeom prst="roundRect">
            <a:avLst>
              <a:gd name="adj" fmla="val 8205"/>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0" name="Shape 7"/>
          <p:cNvSpPr/>
          <p:nvPr/>
        </p:nvSpPr>
        <p:spPr>
          <a:xfrm>
            <a:off x="4643018" y="2103120"/>
            <a:ext cx="658368" cy="658368"/>
          </a:xfrm>
          <a:prstGeom prst="ellipse">
            <a:avLst/>
          </a:prstGeom>
          <a:solidFill>
            <a:srgbClr val="FFFFFF"/>
          </a:solidFill>
          <a:ln w="9525">
            <a:solidFill>
              <a:srgbClr val="DADCE0"/>
            </a:solidFill>
            <a:prstDash val="solid"/>
          </a:ln>
        </p:spPr>
      </p:sp>
      <p:pic>
        <p:nvPicPr>
          <p:cNvPr id="11" name="Image 1" descr="preencoded.png">    </p:cNvPr>
          <p:cNvPicPr>
            <a:picLocks noChangeAspect="1"/>
          </p:cNvPicPr>
          <p:nvPr/>
        </p:nvPicPr>
        <p:blipFill>
          <a:blip r:embed="rId3"/>
          <a:stretch>
            <a:fillRect/>
          </a:stretch>
        </p:blipFill>
        <p:spPr>
          <a:xfrm>
            <a:off x="4801027" y="2261128"/>
            <a:ext cx="342351" cy="342351"/>
          </a:xfrm>
          <a:prstGeom prst="rect">
            <a:avLst/>
          </a:prstGeom>
        </p:spPr>
      </p:pic>
      <p:sp>
        <p:nvSpPr>
          <p:cNvPr id="12" name="Text 8"/>
          <p:cNvSpPr txBox="1"/>
          <p:nvPr/>
        </p:nvSpPr>
        <p:spPr>
          <a:xfrm>
            <a:off x="5465978" y="2103120"/>
            <a:ext cx="2174138" cy="65836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Explains</a:t>
            </a:r>
            <a:endParaRPr lang="en-US" sz="1800" dirty="0"/>
          </a:p>
        </p:txBody>
      </p:sp>
      <p:sp>
        <p:nvSpPr>
          <p:cNvPr id="13" name="Text 9"/>
          <p:cNvSpPr txBox="1"/>
          <p:nvPr/>
        </p:nvSpPr>
        <p:spPr>
          <a:xfrm>
            <a:off x="4643018" y="2898648"/>
            <a:ext cx="2905658" cy="640080"/>
          </a:xfrm>
          <a:prstGeom prst="rect">
            <a:avLst/>
          </a:prstGeom>
          <a:noFill/>
          <a:ln/>
        </p:spPr>
        <p:txBody>
          <a:bodyPr wrap="square" lIns="0" tIns="0" rIns="0" bIns="0" rtlCol="0" anchor="t"/>
          <a:lstStyle/>
          <a:p>
            <a:pPr indent="0" marL="0">
              <a:buNone/>
            </a:pPr>
            <a:r>
              <a:rPr lang="en-US" sz="1300" dirty="0">
                <a:solidFill>
                  <a:srgbClr val="4A5A78"/>
                </a:solidFill>
                <a:latin typeface="Arial" pitchFamily="34" charset="0"/>
                <a:ea typeface="Arial" pitchFamily="34" charset="-122"/>
                <a:cs typeface="Arial" pitchFamily="34" charset="-120"/>
              </a:rPr>
              <a:t>Why each school or hospital was alerted, and what a what-if changes.</a:t>
            </a:r>
            <a:endParaRPr lang="en-US" sz="1300" dirty="0"/>
          </a:p>
        </p:txBody>
      </p:sp>
      <p:sp>
        <p:nvSpPr>
          <p:cNvPr id="14" name="Shape 10"/>
          <p:cNvSpPr/>
          <p:nvPr/>
        </p:nvSpPr>
        <p:spPr>
          <a:xfrm>
            <a:off x="8097317" y="1828800"/>
            <a:ext cx="3454298" cy="1783080"/>
          </a:xfrm>
          <a:prstGeom prst="roundRect">
            <a:avLst>
              <a:gd name="adj" fmla="val 8205"/>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5" name="Shape 11"/>
          <p:cNvSpPr/>
          <p:nvPr/>
        </p:nvSpPr>
        <p:spPr>
          <a:xfrm>
            <a:off x="8371637" y="2103120"/>
            <a:ext cx="658368" cy="658368"/>
          </a:xfrm>
          <a:prstGeom prst="ellipse">
            <a:avLst/>
          </a:prstGeom>
          <a:solidFill>
            <a:srgbClr val="FFFFFF"/>
          </a:solidFill>
          <a:ln w="9525">
            <a:solidFill>
              <a:srgbClr val="DADCE0"/>
            </a:solidFill>
            <a:prstDash val="solid"/>
          </a:ln>
        </p:spPr>
      </p:sp>
      <p:pic>
        <p:nvPicPr>
          <p:cNvPr id="16" name="Image 2" descr="preencoded.png">    </p:cNvPr>
          <p:cNvPicPr>
            <a:picLocks noChangeAspect="1"/>
          </p:cNvPicPr>
          <p:nvPr/>
        </p:nvPicPr>
        <p:blipFill>
          <a:blip r:embed="rId4"/>
          <a:stretch>
            <a:fillRect/>
          </a:stretch>
        </p:blipFill>
        <p:spPr>
          <a:xfrm>
            <a:off x="8529645" y="2261128"/>
            <a:ext cx="342351" cy="342351"/>
          </a:xfrm>
          <a:prstGeom prst="rect">
            <a:avLst/>
          </a:prstGeom>
        </p:spPr>
      </p:pic>
      <p:sp>
        <p:nvSpPr>
          <p:cNvPr id="17" name="Text 12"/>
          <p:cNvSpPr txBox="1"/>
          <p:nvPr/>
        </p:nvSpPr>
        <p:spPr>
          <a:xfrm>
            <a:off x="9194597" y="2103120"/>
            <a:ext cx="2174138" cy="65836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Advises</a:t>
            </a:r>
            <a:endParaRPr lang="en-US" sz="1800" dirty="0"/>
          </a:p>
        </p:txBody>
      </p:sp>
      <p:sp>
        <p:nvSpPr>
          <p:cNvPr id="18" name="Text 13"/>
          <p:cNvSpPr txBox="1"/>
          <p:nvPr/>
        </p:nvSpPr>
        <p:spPr>
          <a:xfrm>
            <a:off x="8371637" y="2898648"/>
            <a:ext cx="2905658" cy="640080"/>
          </a:xfrm>
          <a:prstGeom prst="rect">
            <a:avLst/>
          </a:prstGeom>
          <a:noFill/>
          <a:ln/>
        </p:spPr>
        <p:txBody>
          <a:bodyPr wrap="square" lIns="0" tIns="0" rIns="0" bIns="0" rtlCol="0" anchor="t"/>
          <a:lstStyle/>
          <a:p>
            <a:pPr indent="0" marL="0">
              <a:buNone/>
            </a:pPr>
            <a:r>
              <a:rPr lang="en-US" sz="1300" dirty="0">
                <a:solidFill>
                  <a:srgbClr val="4A5A78"/>
                </a:solidFill>
                <a:latin typeface="Arial" pitchFamily="34" charset="0"/>
                <a:ea typeface="Arial" pitchFamily="34" charset="-122"/>
                <a:cs typeface="Arial" pitchFamily="34" charset="-120"/>
              </a:rPr>
              <a:t>An action plan for each of 7 departments, from the ranked facilities and roads.</a:t>
            </a:r>
            <a:endParaRPr lang="en-US" sz="1300" dirty="0"/>
          </a:p>
        </p:txBody>
      </p:sp>
      <p:sp>
        <p:nvSpPr>
          <p:cNvPr id="19" name="Shape 14"/>
          <p:cNvSpPr/>
          <p:nvPr/>
        </p:nvSpPr>
        <p:spPr>
          <a:xfrm>
            <a:off x="640080" y="3840480"/>
            <a:ext cx="3454298" cy="1783080"/>
          </a:xfrm>
          <a:prstGeom prst="roundRect">
            <a:avLst>
              <a:gd name="adj" fmla="val 8205"/>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0" name="Shape 15"/>
          <p:cNvSpPr/>
          <p:nvPr/>
        </p:nvSpPr>
        <p:spPr>
          <a:xfrm>
            <a:off x="914400" y="4114800"/>
            <a:ext cx="658368" cy="658368"/>
          </a:xfrm>
          <a:prstGeom prst="ellipse">
            <a:avLst/>
          </a:prstGeom>
          <a:solidFill>
            <a:srgbClr val="FFFFFF"/>
          </a:solidFill>
          <a:ln w="9525">
            <a:solidFill>
              <a:srgbClr val="DADCE0"/>
            </a:solidFill>
            <a:prstDash val="solid"/>
          </a:ln>
        </p:spPr>
      </p:sp>
      <p:pic>
        <p:nvPicPr>
          <p:cNvPr id="21" name="Image 3" descr="preencoded.png">    </p:cNvPr>
          <p:cNvPicPr>
            <a:picLocks noChangeAspect="1"/>
          </p:cNvPicPr>
          <p:nvPr/>
        </p:nvPicPr>
        <p:blipFill>
          <a:blip r:embed="rId5"/>
          <a:stretch>
            <a:fillRect/>
          </a:stretch>
        </p:blipFill>
        <p:spPr>
          <a:xfrm>
            <a:off x="1072408" y="4272808"/>
            <a:ext cx="342351" cy="342351"/>
          </a:xfrm>
          <a:prstGeom prst="rect">
            <a:avLst/>
          </a:prstGeom>
        </p:spPr>
      </p:pic>
      <p:sp>
        <p:nvSpPr>
          <p:cNvPr id="22" name="Text 16"/>
          <p:cNvSpPr txBox="1"/>
          <p:nvPr/>
        </p:nvSpPr>
        <p:spPr>
          <a:xfrm>
            <a:off x="1737360" y="4114800"/>
            <a:ext cx="2174138" cy="65836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Speaks six languages</a:t>
            </a:r>
            <a:endParaRPr lang="en-US" sz="1800" dirty="0"/>
          </a:p>
        </p:txBody>
      </p:sp>
      <p:sp>
        <p:nvSpPr>
          <p:cNvPr id="23" name="Text 17"/>
          <p:cNvSpPr txBox="1"/>
          <p:nvPr/>
        </p:nvSpPr>
        <p:spPr>
          <a:xfrm>
            <a:off x="914400" y="4910328"/>
            <a:ext cx="2905658" cy="640080"/>
          </a:xfrm>
          <a:prstGeom prst="rect">
            <a:avLst/>
          </a:prstGeom>
          <a:noFill/>
          <a:ln/>
        </p:spPr>
        <p:txBody>
          <a:bodyPr wrap="square" lIns="0" tIns="0" rIns="0" bIns="0" rtlCol="0" anchor="t"/>
          <a:lstStyle/>
          <a:p>
            <a:pPr indent="0" marL="0">
              <a:buNone/>
            </a:pPr>
            <a:r>
              <a:rPr lang="en-US" sz="1300" dirty="0">
                <a:solidFill>
                  <a:srgbClr val="4A5A78"/>
                </a:solidFill>
                <a:latin typeface="Arial" pitchFamily="34" charset="0"/>
                <a:ea typeface="Arial" pitchFamily="34" charset="-122"/>
                <a:cs typeface="Arial" pitchFamily="34" charset="-120"/>
              </a:rPr>
              <a:t>English, Hindi, Tamil, Telugu, Bengali and Odia, with audio.</a:t>
            </a:r>
            <a:endParaRPr lang="en-US" sz="1300" dirty="0"/>
          </a:p>
        </p:txBody>
      </p:sp>
      <p:sp>
        <p:nvSpPr>
          <p:cNvPr id="24" name="Shape 18"/>
          <p:cNvSpPr/>
          <p:nvPr/>
        </p:nvSpPr>
        <p:spPr>
          <a:xfrm>
            <a:off x="4368698" y="3840480"/>
            <a:ext cx="3454298" cy="1783080"/>
          </a:xfrm>
          <a:prstGeom prst="roundRect">
            <a:avLst>
              <a:gd name="adj" fmla="val 8205"/>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5" name="Shape 19"/>
          <p:cNvSpPr/>
          <p:nvPr/>
        </p:nvSpPr>
        <p:spPr>
          <a:xfrm>
            <a:off x="4643018" y="4114800"/>
            <a:ext cx="658368" cy="658368"/>
          </a:xfrm>
          <a:prstGeom prst="ellipse">
            <a:avLst/>
          </a:prstGeom>
          <a:solidFill>
            <a:srgbClr val="FFFFFF"/>
          </a:solidFill>
          <a:ln w="9525">
            <a:solidFill>
              <a:srgbClr val="DADCE0"/>
            </a:solidFill>
            <a:prstDash val="solid"/>
          </a:ln>
        </p:spPr>
      </p:sp>
      <p:pic>
        <p:nvPicPr>
          <p:cNvPr id="26" name="Image 4" descr="preencoded.png">    </p:cNvPr>
          <p:cNvPicPr>
            <a:picLocks noChangeAspect="1"/>
          </p:cNvPicPr>
          <p:nvPr/>
        </p:nvPicPr>
        <p:blipFill>
          <a:blip r:embed="rId6"/>
          <a:stretch>
            <a:fillRect/>
          </a:stretch>
        </p:blipFill>
        <p:spPr>
          <a:xfrm>
            <a:off x="4801027" y="4272808"/>
            <a:ext cx="342351" cy="342351"/>
          </a:xfrm>
          <a:prstGeom prst="rect">
            <a:avLst/>
          </a:prstGeom>
        </p:spPr>
      </p:pic>
      <p:sp>
        <p:nvSpPr>
          <p:cNvPr id="27" name="Text 20"/>
          <p:cNvSpPr txBox="1"/>
          <p:nvPr/>
        </p:nvSpPr>
        <p:spPr>
          <a:xfrm>
            <a:off x="5465978" y="4114800"/>
            <a:ext cx="2174138" cy="65836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Reasons with tools</a:t>
            </a:r>
            <a:endParaRPr lang="en-US" sz="1800" dirty="0"/>
          </a:p>
        </p:txBody>
      </p:sp>
      <p:sp>
        <p:nvSpPr>
          <p:cNvPr id="28" name="Text 21"/>
          <p:cNvSpPr txBox="1"/>
          <p:nvPr/>
        </p:nvSpPr>
        <p:spPr>
          <a:xfrm>
            <a:off x="4643018" y="4910328"/>
            <a:ext cx="2905658" cy="640080"/>
          </a:xfrm>
          <a:prstGeom prst="rect">
            <a:avLst/>
          </a:prstGeom>
          <a:noFill/>
          <a:ln/>
        </p:spPr>
        <p:txBody>
          <a:bodyPr wrap="square" lIns="0" tIns="0" rIns="0" bIns="0" rtlCol="0" anchor="t"/>
          <a:lstStyle/>
          <a:p>
            <a:pPr indent="0" marL="0">
              <a:buNone/>
            </a:pPr>
            <a:r>
              <a:rPr lang="en-US" sz="1300" dirty="0">
                <a:solidFill>
                  <a:srgbClr val="4A5A78"/>
                </a:solidFill>
                <a:latin typeface="Arial" pitchFamily="34" charset="0"/>
                <a:ea typeface="Arial" pitchFamily="34" charset="-122"/>
                <a:cs typeface="Arial" pitchFamily="34" charset="-120"/>
              </a:rPr>
              <a:t>An ADK agent team picks from 29 tools to answer “what if?”</a:t>
            </a:r>
            <a:endParaRPr lang="en-US" sz="1300" dirty="0"/>
          </a:p>
        </p:txBody>
      </p:sp>
      <p:sp>
        <p:nvSpPr>
          <p:cNvPr id="29" name="Shape 22"/>
          <p:cNvSpPr/>
          <p:nvPr/>
        </p:nvSpPr>
        <p:spPr>
          <a:xfrm>
            <a:off x="8097317" y="3840480"/>
            <a:ext cx="3454298" cy="1783080"/>
          </a:xfrm>
          <a:prstGeom prst="roundRect">
            <a:avLst>
              <a:gd name="adj" fmla="val 8205"/>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30" name="Shape 23"/>
          <p:cNvSpPr/>
          <p:nvPr/>
        </p:nvSpPr>
        <p:spPr>
          <a:xfrm>
            <a:off x="8371637" y="4114800"/>
            <a:ext cx="658368" cy="658368"/>
          </a:xfrm>
          <a:prstGeom prst="ellipse">
            <a:avLst/>
          </a:prstGeom>
          <a:solidFill>
            <a:srgbClr val="FFFFFF"/>
          </a:solidFill>
          <a:ln w="9525">
            <a:solidFill>
              <a:srgbClr val="DADCE0"/>
            </a:solidFill>
            <a:prstDash val="solid"/>
          </a:ln>
        </p:spPr>
      </p:sp>
      <p:pic>
        <p:nvPicPr>
          <p:cNvPr id="31" name="Image 5" descr="preencoded.png">    </p:cNvPr>
          <p:cNvPicPr>
            <a:picLocks noChangeAspect="1"/>
          </p:cNvPicPr>
          <p:nvPr/>
        </p:nvPicPr>
        <p:blipFill>
          <a:blip r:embed="rId7"/>
          <a:stretch>
            <a:fillRect/>
          </a:stretch>
        </p:blipFill>
        <p:spPr>
          <a:xfrm>
            <a:off x="8529645" y="4272808"/>
            <a:ext cx="342351" cy="342351"/>
          </a:xfrm>
          <a:prstGeom prst="rect">
            <a:avLst/>
          </a:prstGeom>
        </p:spPr>
      </p:pic>
      <p:sp>
        <p:nvSpPr>
          <p:cNvPr id="32" name="Text 24"/>
          <p:cNvSpPr txBox="1"/>
          <p:nvPr/>
        </p:nvSpPr>
        <p:spPr>
          <a:xfrm>
            <a:off x="9194597" y="4114800"/>
            <a:ext cx="2174138" cy="658368"/>
          </a:xfrm>
          <a:prstGeom prst="rect">
            <a:avLst/>
          </a:prstGeom>
          <a:noFill/>
          <a:ln/>
        </p:spPr>
        <p:txBody>
          <a:bodyPr wrap="square" lIns="0" tIns="0" rIns="0" bIns="0" rtlCol="0" anchor="ctr"/>
          <a:lstStyle/>
          <a:p>
            <a:pPr indent="0" marL="0">
              <a:buNone/>
            </a:pPr>
            <a:r>
              <a:rPr lang="en-US" sz="1800" b="1" dirty="0">
                <a:solidFill>
                  <a:srgbClr val="202124"/>
                </a:solidFill>
                <a:latin typeface="Arial" pitchFamily="34" charset="0"/>
                <a:ea typeface="Arial" pitchFamily="34" charset="-122"/>
                <a:cs typeface="Arial" pitchFamily="34" charset="-120"/>
              </a:rPr>
              <a:t>Searches</a:t>
            </a:r>
            <a:endParaRPr lang="en-US" sz="1800" dirty="0"/>
          </a:p>
        </p:txBody>
      </p:sp>
      <p:sp>
        <p:nvSpPr>
          <p:cNvPr id="33" name="Text 25"/>
          <p:cNvSpPr txBox="1"/>
          <p:nvPr/>
        </p:nvSpPr>
        <p:spPr>
          <a:xfrm>
            <a:off x="8371637" y="4910328"/>
            <a:ext cx="2905658" cy="640080"/>
          </a:xfrm>
          <a:prstGeom prst="rect">
            <a:avLst/>
          </a:prstGeom>
          <a:noFill/>
          <a:ln/>
        </p:spPr>
        <p:txBody>
          <a:bodyPr wrap="square" lIns="0" tIns="0" rIns="0" bIns="0" rtlCol="0" anchor="t"/>
          <a:lstStyle/>
          <a:p>
            <a:pPr indent="0" marL="0">
              <a:buNone/>
            </a:pPr>
            <a:r>
              <a:rPr lang="en-US" sz="1300" dirty="0">
                <a:solidFill>
                  <a:srgbClr val="4A5A78"/>
                </a:solidFill>
                <a:latin typeface="Arial" pitchFamily="34" charset="0"/>
                <a:ea typeface="Arial" pitchFamily="34" charset="-122"/>
                <a:cs typeface="Arial" pitchFamily="34" charset="-120"/>
              </a:rPr>
              <a:t>The latest bulletins and news with Google Search, with sources.</a:t>
            </a:r>
            <a:endParaRPr lang="en-US" sz="1300" dirty="0"/>
          </a:p>
        </p:txBody>
      </p:sp>
      <p:pic>
        <p:nvPicPr>
          <p:cNvPr id="34" name="Image 6" descr="preencoded.png">    </p:cNvPr>
          <p:cNvPicPr>
            <a:picLocks noChangeAspect="1"/>
          </p:cNvPicPr>
          <p:nvPr/>
        </p:nvPicPr>
        <p:blipFill>
          <a:blip r:embed="rId8"/>
          <a:stretch>
            <a:fillRect/>
          </a:stretch>
        </p:blipFill>
        <p:spPr>
          <a:xfrm>
            <a:off x="640080" y="5916168"/>
            <a:ext cx="329184" cy="329184"/>
          </a:xfrm>
          <a:prstGeom prst="rect">
            <a:avLst/>
          </a:prstGeom>
        </p:spPr>
      </p:pic>
      <p:sp>
        <p:nvSpPr>
          <p:cNvPr id="35" name="Text 26"/>
          <p:cNvSpPr txBox="1"/>
          <p:nvPr/>
        </p:nvSpPr>
        <p:spPr>
          <a:xfrm>
            <a:off x="1097280" y="5870448"/>
            <a:ext cx="10454335" cy="420624"/>
          </a:xfrm>
          <a:prstGeom prst="rect">
            <a:avLst/>
          </a:prstGeom>
          <a:noFill/>
          <a:ln/>
        </p:spPr>
        <p:txBody>
          <a:bodyPr wrap="square" lIns="0" tIns="0" rIns="0" bIns="0" rtlCol="0" anchor="ctr"/>
          <a:lstStyle/>
          <a:p>
            <a:pPr indent="0" marL="0">
              <a:buNone/>
            </a:pPr>
            <a:r>
              <a:rPr lang="en-US" sz="1350" b="1" dirty="0">
                <a:solidFill>
                  <a:srgbClr val="1A73E8"/>
                </a:solidFill>
                <a:latin typeface="Arial" pitchFamily="34" charset="0"/>
                <a:ea typeface="Arial" pitchFamily="34" charset="-122"/>
                <a:cs typeface="Arial" pitchFamily="34" charset="-120"/>
              </a:rPr>
              <a:t>Gemini 3.7 Flash on Vertex AI.  </a:t>
            </a:r>
            <a:pPr indent="0" marL="0">
              <a:buNone/>
            </a:pPr>
            <a:r>
              <a:rPr lang="en-US" sz="1350" dirty="0">
                <a:solidFill>
                  <a:srgbClr val="3C4043"/>
                </a:solidFill>
                <a:latin typeface="Arial" pitchFamily="34" charset="0"/>
                <a:ea typeface="Arial" pitchFamily="34" charset="-122"/>
                <a:cs typeface="Arial" pitchFamily="34" charset="-120"/>
              </a:rPr>
              <a:t>It never calculates the risk. A guard removes any number it cannot back up.</a:t>
            </a:r>
            <a:endParaRPr lang="en-US" sz="1350" dirty="0"/>
          </a:p>
        </p:txBody>
      </p:sp>
      <p:sp>
        <p:nvSpPr>
          <p:cNvPr id="36" name="Shape 27"/>
          <p:cNvSpPr/>
          <p:nvPr/>
        </p:nvSpPr>
        <p:spPr>
          <a:xfrm>
            <a:off x="640080" y="6473952"/>
            <a:ext cx="82296" cy="82296"/>
          </a:xfrm>
          <a:prstGeom prst="ellipse">
            <a:avLst/>
          </a:prstGeom>
          <a:solidFill>
            <a:srgbClr val="1A73E8"/>
          </a:solidFill>
          <a:ln/>
        </p:spPr>
      </p:sp>
      <p:sp>
        <p:nvSpPr>
          <p:cNvPr id="37" name="Shape 28"/>
          <p:cNvSpPr/>
          <p:nvPr/>
        </p:nvSpPr>
        <p:spPr>
          <a:xfrm>
            <a:off x="768096" y="6473952"/>
            <a:ext cx="82296" cy="82296"/>
          </a:xfrm>
          <a:prstGeom prst="ellipse">
            <a:avLst/>
          </a:prstGeom>
          <a:solidFill>
            <a:srgbClr val="EA4335"/>
          </a:solidFill>
          <a:ln/>
        </p:spPr>
      </p:sp>
      <p:sp>
        <p:nvSpPr>
          <p:cNvPr id="38" name="Shape 29"/>
          <p:cNvSpPr/>
          <p:nvPr/>
        </p:nvSpPr>
        <p:spPr>
          <a:xfrm>
            <a:off x="896112" y="6473952"/>
            <a:ext cx="82296" cy="82296"/>
          </a:xfrm>
          <a:prstGeom prst="ellipse">
            <a:avLst/>
          </a:prstGeom>
          <a:solidFill>
            <a:srgbClr val="FBBC04"/>
          </a:solidFill>
          <a:ln/>
        </p:spPr>
      </p:sp>
      <p:sp>
        <p:nvSpPr>
          <p:cNvPr id="39" name="Shape 30"/>
          <p:cNvSpPr/>
          <p:nvPr/>
        </p:nvSpPr>
        <p:spPr>
          <a:xfrm>
            <a:off x="1024128" y="6473952"/>
            <a:ext cx="82296" cy="82296"/>
          </a:xfrm>
          <a:prstGeom prst="ellipse">
            <a:avLst/>
          </a:prstGeom>
          <a:solidFill>
            <a:srgbClr val="34A853"/>
          </a:solidFill>
          <a:ln/>
        </p:spPr>
      </p:sp>
      <p:sp>
        <p:nvSpPr>
          <p:cNvPr id="40" name="Text 31"/>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41" name="Text 32"/>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FEATURE 4  ·  ADVISORIES AND ALERTS</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Each department gets its own advisory, in its own language.</a:t>
            </a:r>
            <a:endParaRPr lang="en-US" sz="3000" dirty="0"/>
          </a:p>
        </p:txBody>
      </p:sp>
      <p:sp>
        <p:nvSpPr>
          <p:cNvPr id="4" name="Shape 2"/>
          <p:cNvSpPr/>
          <p:nvPr/>
        </p:nvSpPr>
        <p:spPr>
          <a:xfrm>
            <a:off x="566928" y="2029968"/>
            <a:ext cx="5358384" cy="4103762"/>
          </a:xfrm>
          <a:prstGeom prst="roundRect">
            <a:avLst>
              <a:gd name="adj" fmla="val 2674"/>
            </a:avLst>
          </a:prstGeom>
          <a:solidFill>
            <a:srgbClr val="FFFFFF"/>
          </a:solidFill>
          <a:ln w="9525">
            <a:solidFill>
              <a:srgbClr val="DADCE0"/>
            </a:solidFill>
            <a:prstDash val="solid"/>
          </a:ln>
          <a:effectLst>
            <a:outerShdw sx="100000" sy="100000" kx="0" ky="0" algn="bl" rotWithShape="0" blurRad="279400" dist="76200" dir="5400000">
              <a:srgbClr val="1A2B4C">
                <a:alpha val="18000"/>
              </a:srgbClr>
            </a:outerShdw>
          </a:effectLst>
        </p:spPr>
      </p:sp>
      <p:pic>
        <p:nvPicPr>
          <p:cNvPr id="5" name="Image 0" descr="/private/tmp/claude-503/-Users-CharanVelavan-Charan-Projects-SurgeSight/9ee263a0-0835-4556-8164-6a5a42928b6b/scratchpad/deck/img/adv_ta.jpg">    </p:cNvPr>
          <p:cNvPicPr>
            <a:picLocks noChangeAspect="1"/>
          </p:cNvPicPr>
          <p:nvPr/>
        </p:nvPicPr>
        <p:blipFill>
          <a:blip r:embed="rId2"/>
          <a:stretch>
            <a:fillRect/>
          </a:stretch>
        </p:blipFill>
        <p:spPr>
          <a:xfrm>
            <a:off x="640080" y="2103120"/>
            <a:ext cx="5212080" cy="3957458"/>
          </a:xfrm>
          <a:prstGeom prst="rect">
            <a:avLst/>
          </a:prstGeom>
        </p:spPr>
      </p:pic>
      <p:sp>
        <p:nvSpPr>
          <p:cNvPr id="6" name="Shape 3"/>
          <p:cNvSpPr/>
          <p:nvPr/>
        </p:nvSpPr>
        <p:spPr>
          <a:xfrm>
            <a:off x="6492240" y="2011680"/>
            <a:ext cx="640080" cy="640080"/>
          </a:xfrm>
          <a:prstGeom prst="ellipse">
            <a:avLst/>
          </a:prstGeom>
          <a:solidFill>
            <a:srgbClr val="FFFFFF"/>
          </a:solidFill>
          <a:ln w="9525">
            <a:solidFill>
              <a:srgbClr val="DADCE0"/>
            </a:solidFill>
            <a:prstDash val="solid"/>
          </a:ln>
        </p:spPr>
      </p:sp>
      <p:pic>
        <p:nvPicPr>
          <p:cNvPr id="7" name="Image 1" descr="preencoded.png">    </p:cNvPr>
          <p:cNvPicPr>
            <a:picLocks noChangeAspect="1"/>
          </p:cNvPicPr>
          <p:nvPr/>
        </p:nvPicPr>
        <p:blipFill>
          <a:blip r:embed="rId3"/>
          <a:stretch>
            <a:fillRect/>
          </a:stretch>
        </p:blipFill>
        <p:spPr>
          <a:xfrm>
            <a:off x="6645859" y="2165299"/>
            <a:ext cx="332842" cy="332842"/>
          </a:xfrm>
          <a:prstGeom prst="rect">
            <a:avLst/>
          </a:prstGeom>
        </p:spPr>
      </p:pic>
      <p:sp>
        <p:nvSpPr>
          <p:cNvPr id="8" name="Text 4"/>
          <p:cNvSpPr txBox="1"/>
          <p:nvPr/>
        </p:nvSpPr>
        <p:spPr>
          <a:xfrm>
            <a:off x="7333488" y="2029968"/>
            <a:ext cx="4218127" cy="329184"/>
          </a:xfrm>
          <a:prstGeom prst="rect">
            <a:avLst/>
          </a:prstGeom>
          <a:noFill/>
          <a:ln/>
        </p:spPr>
        <p:txBody>
          <a:bodyPr wrap="square" lIns="0" tIns="0" rIns="0" bIns="0" rtlCol="0" anchor="t"/>
          <a:lstStyle/>
          <a:p>
            <a:pPr indent="0" marL="0">
              <a:buNone/>
            </a:pPr>
            <a:r>
              <a:rPr lang="en-US" sz="1700" b="1" dirty="0">
                <a:solidFill>
                  <a:srgbClr val="202124"/>
                </a:solidFill>
                <a:latin typeface="Arial" pitchFamily="34" charset="0"/>
                <a:ea typeface="Arial" pitchFamily="34" charset="-122"/>
                <a:cs typeface="Arial" pitchFamily="34" charset="-120"/>
              </a:rPr>
              <a:t>Gemini drafts</a:t>
            </a:r>
            <a:endParaRPr lang="en-US" sz="1700" dirty="0"/>
          </a:p>
        </p:txBody>
      </p:sp>
      <p:sp>
        <p:nvSpPr>
          <p:cNvPr id="9" name="Text 5"/>
          <p:cNvSpPr txBox="1"/>
          <p:nvPr/>
        </p:nvSpPr>
        <p:spPr>
          <a:xfrm>
            <a:off x="7333488" y="2359152"/>
            <a:ext cx="4218127"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7 departments × 6 languages</a:t>
            </a:r>
            <a:endParaRPr lang="en-US" sz="1250" dirty="0"/>
          </a:p>
        </p:txBody>
      </p:sp>
      <p:sp>
        <p:nvSpPr>
          <p:cNvPr id="10" name="Shape 6"/>
          <p:cNvSpPr/>
          <p:nvPr/>
        </p:nvSpPr>
        <p:spPr>
          <a:xfrm>
            <a:off x="6812280" y="2724912"/>
            <a:ext cx="914" cy="292608"/>
          </a:xfrm>
          <a:prstGeom prst="line">
            <a:avLst/>
          </a:prstGeom>
          <a:noFill/>
          <a:ln w="28575">
            <a:solidFill>
              <a:srgbClr val="DADCE0"/>
            </a:solidFill>
            <a:prstDash val="solid"/>
            <a:tailEnd type="triangle"/>
          </a:ln>
        </p:spPr>
      </p:sp>
      <p:sp>
        <p:nvSpPr>
          <p:cNvPr id="11" name="Shape 7"/>
          <p:cNvSpPr/>
          <p:nvPr/>
        </p:nvSpPr>
        <p:spPr>
          <a:xfrm>
            <a:off x="6492240" y="3054096"/>
            <a:ext cx="640080" cy="640080"/>
          </a:xfrm>
          <a:prstGeom prst="ellipse">
            <a:avLst/>
          </a:prstGeom>
          <a:solidFill>
            <a:srgbClr val="FFFFFF"/>
          </a:solidFill>
          <a:ln w="9525">
            <a:solidFill>
              <a:srgbClr val="DADCE0"/>
            </a:solidFill>
            <a:prstDash val="solid"/>
          </a:ln>
        </p:spPr>
      </p:sp>
      <p:pic>
        <p:nvPicPr>
          <p:cNvPr id="12" name="Image 2" descr="preencoded.png">    </p:cNvPr>
          <p:cNvPicPr>
            <a:picLocks noChangeAspect="1"/>
          </p:cNvPicPr>
          <p:nvPr/>
        </p:nvPicPr>
        <p:blipFill>
          <a:blip r:embed="rId4"/>
          <a:stretch>
            <a:fillRect/>
          </a:stretch>
        </p:blipFill>
        <p:spPr>
          <a:xfrm>
            <a:off x="6645859" y="3207715"/>
            <a:ext cx="332842" cy="332842"/>
          </a:xfrm>
          <a:prstGeom prst="rect">
            <a:avLst/>
          </a:prstGeom>
        </p:spPr>
      </p:pic>
      <p:sp>
        <p:nvSpPr>
          <p:cNvPr id="13" name="Text 8"/>
          <p:cNvSpPr txBox="1"/>
          <p:nvPr/>
        </p:nvSpPr>
        <p:spPr>
          <a:xfrm>
            <a:off x="7333488" y="3072384"/>
            <a:ext cx="4218127" cy="329184"/>
          </a:xfrm>
          <a:prstGeom prst="rect">
            <a:avLst/>
          </a:prstGeom>
          <a:noFill/>
          <a:ln/>
        </p:spPr>
        <p:txBody>
          <a:bodyPr wrap="square" lIns="0" tIns="0" rIns="0" bIns="0" rtlCol="0" anchor="t"/>
          <a:lstStyle/>
          <a:p>
            <a:pPr indent="0" marL="0">
              <a:buNone/>
            </a:pPr>
            <a:r>
              <a:rPr lang="en-US" sz="1700" b="1" dirty="0">
                <a:solidFill>
                  <a:srgbClr val="202124"/>
                </a:solidFill>
                <a:latin typeface="Arial" pitchFamily="34" charset="0"/>
                <a:ea typeface="Arial" pitchFamily="34" charset="-122"/>
                <a:cs typeface="Arial" pitchFamily="34" charset="-120"/>
              </a:rPr>
              <a:t>Audio and a CAP 1.2 alert</a:t>
            </a:r>
            <a:endParaRPr lang="en-US" sz="1700" dirty="0"/>
          </a:p>
        </p:txBody>
      </p:sp>
      <p:sp>
        <p:nvSpPr>
          <p:cNvPr id="14" name="Text 9"/>
          <p:cNvSpPr txBox="1"/>
          <p:nvPr/>
        </p:nvSpPr>
        <p:spPr>
          <a:xfrm>
            <a:off x="7333488" y="3401568"/>
            <a:ext cx="4218127"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Cloud Text-to-Speech, standard alert format</a:t>
            </a:r>
            <a:endParaRPr lang="en-US" sz="1250" dirty="0"/>
          </a:p>
        </p:txBody>
      </p:sp>
      <p:sp>
        <p:nvSpPr>
          <p:cNvPr id="15" name="Shape 10"/>
          <p:cNvSpPr/>
          <p:nvPr/>
        </p:nvSpPr>
        <p:spPr>
          <a:xfrm>
            <a:off x="6812280" y="3767328"/>
            <a:ext cx="914" cy="292608"/>
          </a:xfrm>
          <a:prstGeom prst="line">
            <a:avLst/>
          </a:prstGeom>
          <a:noFill/>
          <a:ln w="28575">
            <a:solidFill>
              <a:srgbClr val="DADCE0"/>
            </a:solidFill>
            <a:prstDash val="solid"/>
            <a:tailEnd type="triangle"/>
          </a:ln>
        </p:spPr>
      </p:sp>
      <p:sp>
        <p:nvSpPr>
          <p:cNvPr id="16" name="Shape 11"/>
          <p:cNvSpPr/>
          <p:nvPr/>
        </p:nvSpPr>
        <p:spPr>
          <a:xfrm>
            <a:off x="6492240" y="4096512"/>
            <a:ext cx="640080" cy="640080"/>
          </a:xfrm>
          <a:prstGeom prst="ellipse">
            <a:avLst/>
          </a:prstGeom>
          <a:solidFill>
            <a:srgbClr val="FFFFFF"/>
          </a:solidFill>
          <a:ln w="9525">
            <a:solidFill>
              <a:srgbClr val="DADCE0"/>
            </a:solidFill>
            <a:prstDash val="solid"/>
          </a:ln>
        </p:spPr>
      </p:sp>
      <p:pic>
        <p:nvPicPr>
          <p:cNvPr id="17" name="Image 3" descr="preencoded.png">    </p:cNvPr>
          <p:cNvPicPr>
            <a:picLocks noChangeAspect="1"/>
          </p:cNvPicPr>
          <p:nvPr/>
        </p:nvPicPr>
        <p:blipFill>
          <a:blip r:embed="rId5"/>
          <a:stretch>
            <a:fillRect/>
          </a:stretch>
        </p:blipFill>
        <p:spPr>
          <a:xfrm>
            <a:off x="6645859" y="4250131"/>
            <a:ext cx="332842" cy="332842"/>
          </a:xfrm>
          <a:prstGeom prst="rect">
            <a:avLst/>
          </a:prstGeom>
        </p:spPr>
      </p:pic>
      <p:sp>
        <p:nvSpPr>
          <p:cNvPr id="18" name="Text 12"/>
          <p:cNvSpPr txBox="1"/>
          <p:nvPr/>
        </p:nvSpPr>
        <p:spPr>
          <a:xfrm>
            <a:off x="7333488" y="4114800"/>
            <a:ext cx="4218127" cy="329184"/>
          </a:xfrm>
          <a:prstGeom prst="rect">
            <a:avLst/>
          </a:prstGeom>
          <a:noFill/>
          <a:ln/>
        </p:spPr>
        <p:txBody>
          <a:bodyPr wrap="square" lIns="0" tIns="0" rIns="0" bIns="0" rtlCol="0" anchor="t"/>
          <a:lstStyle/>
          <a:p>
            <a:pPr indent="0" marL="0">
              <a:buNone/>
            </a:pPr>
            <a:r>
              <a:rPr lang="en-US" sz="1700" b="1" dirty="0">
                <a:solidFill>
                  <a:srgbClr val="202124"/>
                </a:solidFill>
                <a:latin typeface="Arial" pitchFamily="34" charset="0"/>
                <a:ea typeface="Arial" pitchFamily="34" charset="-122"/>
                <a:cs typeface="Arial" pitchFamily="34" charset="-120"/>
              </a:rPr>
              <a:t>An officer approves</a:t>
            </a:r>
            <a:endParaRPr lang="en-US" sz="1700" dirty="0"/>
          </a:p>
        </p:txBody>
      </p:sp>
      <p:sp>
        <p:nvSpPr>
          <p:cNvPr id="19" name="Text 13"/>
          <p:cNvSpPr txBox="1"/>
          <p:nvPr/>
        </p:nvSpPr>
        <p:spPr>
          <a:xfrm>
            <a:off x="7333488" y="4443984"/>
            <a:ext cx="4218127"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Nothing is sent automatically</a:t>
            </a:r>
            <a:endParaRPr lang="en-US" sz="1250" dirty="0"/>
          </a:p>
        </p:txBody>
      </p:sp>
      <p:sp>
        <p:nvSpPr>
          <p:cNvPr id="20" name="Shape 14"/>
          <p:cNvSpPr/>
          <p:nvPr/>
        </p:nvSpPr>
        <p:spPr>
          <a:xfrm>
            <a:off x="6812280" y="4809744"/>
            <a:ext cx="914" cy="292608"/>
          </a:xfrm>
          <a:prstGeom prst="line">
            <a:avLst/>
          </a:prstGeom>
          <a:noFill/>
          <a:ln w="28575">
            <a:solidFill>
              <a:srgbClr val="DADCE0"/>
            </a:solidFill>
            <a:prstDash val="solid"/>
            <a:tailEnd type="triangle"/>
          </a:ln>
        </p:spPr>
      </p:sp>
      <p:sp>
        <p:nvSpPr>
          <p:cNvPr id="21" name="Shape 15"/>
          <p:cNvSpPr/>
          <p:nvPr/>
        </p:nvSpPr>
        <p:spPr>
          <a:xfrm>
            <a:off x="6492240" y="5138928"/>
            <a:ext cx="640080" cy="640080"/>
          </a:xfrm>
          <a:prstGeom prst="ellipse">
            <a:avLst/>
          </a:prstGeom>
          <a:solidFill>
            <a:srgbClr val="FFFFFF"/>
          </a:solidFill>
          <a:ln w="9525">
            <a:solidFill>
              <a:srgbClr val="DADCE0"/>
            </a:solidFill>
            <a:prstDash val="solid"/>
          </a:ln>
        </p:spPr>
      </p:sp>
      <p:pic>
        <p:nvPicPr>
          <p:cNvPr id="22" name="Image 4" descr="preencoded.png">    </p:cNvPr>
          <p:cNvPicPr>
            <a:picLocks noChangeAspect="1"/>
          </p:cNvPicPr>
          <p:nvPr/>
        </p:nvPicPr>
        <p:blipFill>
          <a:blip r:embed="rId6"/>
          <a:stretch>
            <a:fillRect/>
          </a:stretch>
        </p:blipFill>
        <p:spPr>
          <a:xfrm>
            <a:off x="6645859" y="5292547"/>
            <a:ext cx="332842" cy="332842"/>
          </a:xfrm>
          <a:prstGeom prst="rect">
            <a:avLst/>
          </a:prstGeom>
        </p:spPr>
      </p:pic>
      <p:sp>
        <p:nvSpPr>
          <p:cNvPr id="23" name="Text 16"/>
          <p:cNvSpPr txBox="1"/>
          <p:nvPr/>
        </p:nvSpPr>
        <p:spPr>
          <a:xfrm>
            <a:off x="7333488" y="5157216"/>
            <a:ext cx="4218127" cy="329184"/>
          </a:xfrm>
          <a:prstGeom prst="rect">
            <a:avLst/>
          </a:prstGeom>
          <a:noFill/>
          <a:ln/>
        </p:spPr>
        <p:txBody>
          <a:bodyPr wrap="square" lIns="0" tIns="0" rIns="0" bIns="0" rtlCol="0" anchor="t"/>
          <a:lstStyle/>
          <a:p>
            <a:pPr indent="0" marL="0">
              <a:buNone/>
            </a:pPr>
            <a:r>
              <a:rPr lang="en-US" sz="1700" b="1" dirty="0">
                <a:solidFill>
                  <a:srgbClr val="202124"/>
                </a:solidFill>
                <a:latin typeface="Arial" pitchFamily="34" charset="0"/>
                <a:ea typeface="Arial" pitchFamily="34" charset="-122"/>
                <a:cs typeface="Arial" pitchFamily="34" charset="-120"/>
              </a:rPr>
              <a:t>Sent to the team</a:t>
            </a:r>
            <a:endParaRPr lang="en-US" sz="1700" dirty="0"/>
          </a:p>
        </p:txBody>
      </p:sp>
      <p:sp>
        <p:nvSpPr>
          <p:cNvPr id="24" name="Text 17"/>
          <p:cNvSpPr txBox="1"/>
          <p:nvPr/>
        </p:nvSpPr>
        <p:spPr>
          <a:xfrm>
            <a:off x="7333488" y="5486400"/>
            <a:ext cx="4218127"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Gmail and phone push (Firebase)</a:t>
            </a:r>
            <a:endParaRPr lang="en-US" sz="1250" dirty="0"/>
          </a:p>
        </p:txBody>
      </p:sp>
      <p:sp>
        <p:nvSpPr>
          <p:cNvPr id="25" name="Shape 18"/>
          <p:cNvSpPr/>
          <p:nvPr/>
        </p:nvSpPr>
        <p:spPr>
          <a:xfrm>
            <a:off x="640080" y="6473952"/>
            <a:ext cx="82296" cy="82296"/>
          </a:xfrm>
          <a:prstGeom prst="ellipse">
            <a:avLst/>
          </a:prstGeom>
          <a:solidFill>
            <a:srgbClr val="1A73E8"/>
          </a:solidFill>
          <a:ln/>
        </p:spPr>
      </p:sp>
      <p:sp>
        <p:nvSpPr>
          <p:cNvPr id="26" name="Shape 19"/>
          <p:cNvSpPr/>
          <p:nvPr/>
        </p:nvSpPr>
        <p:spPr>
          <a:xfrm>
            <a:off x="768096" y="6473952"/>
            <a:ext cx="82296" cy="82296"/>
          </a:xfrm>
          <a:prstGeom prst="ellipse">
            <a:avLst/>
          </a:prstGeom>
          <a:solidFill>
            <a:srgbClr val="EA4335"/>
          </a:solidFill>
          <a:ln/>
        </p:spPr>
      </p:sp>
      <p:sp>
        <p:nvSpPr>
          <p:cNvPr id="27" name="Shape 20"/>
          <p:cNvSpPr/>
          <p:nvPr/>
        </p:nvSpPr>
        <p:spPr>
          <a:xfrm>
            <a:off x="896112" y="6473952"/>
            <a:ext cx="82296" cy="82296"/>
          </a:xfrm>
          <a:prstGeom prst="ellipse">
            <a:avLst/>
          </a:prstGeom>
          <a:solidFill>
            <a:srgbClr val="FBBC04"/>
          </a:solidFill>
          <a:ln/>
        </p:spPr>
      </p:sp>
      <p:sp>
        <p:nvSpPr>
          <p:cNvPr id="28" name="Shape 21"/>
          <p:cNvSpPr/>
          <p:nvPr/>
        </p:nvSpPr>
        <p:spPr>
          <a:xfrm>
            <a:off x="1024128" y="6473952"/>
            <a:ext cx="82296" cy="82296"/>
          </a:xfrm>
          <a:prstGeom prst="ellipse">
            <a:avLst/>
          </a:prstGeom>
          <a:solidFill>
            <a:srgbClr val="34A853"/>
          </a:solidFill>
          <a:ln/>
        </p:spPr>
      </p:sp>
      <p:sp>
        <p:nvSpPr>
          <p:cNvPr id="29" name="Text 22"/>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30" name="Text 23"/>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HOW IT WORKS</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Our models compute the risk. Gemini explains it.</a:t>
            </a:r>
            <a:endParaRPr lang="en-US" sz="3000" dirty="0"/>
          </a:p>
          <a:p>
            <a:pPr indent="0" marL="0">
              <a:buNone/>
            </a:pPr>
            <a:r>
              <a:rPr lang="en-US" sz="3000" b="1" dirty="0">
                <a:solidFill>
                  <a:srgbClr val="D93025"/>
                </a:solidFill>
                <a:latin typeface="Arial" pitchFamily="34" charset="0"/>
                <a:ea typeface="Arial" pitchFamily="34" charset="-122"/>
                <a:cs typeface="Arial" pitchFamily="34" charset="-120"/>
              </a:rPr>
              <a:t>Both are checked.</a:t>
            </a:r>
            <a:endParaRPr lang="en-US" sz="3000" dirty="0"/>
          </a:p>
        </p:txBody>
      </p:sp>
      <p:sp>
        <p:nvSpPr>
          <p:cNvPr id="4" name="Shape 2"/>
          <p:cNvSpPr/>
          <p:nvPr/>
        </p:nvSpPr>
        <p:spPr>
          <a:xfrm>
            <a:off x="640080" y="2011680"/>
            <a:ext cx="2384984" cy="2103120"/>
          </a:xfrm>
          <a:prstGeom prst="roundRect">
            <a:avLst>
              <a:gd name="adj" fmla="val 6957"/>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5" name="Text 3"/>
          <p:cNvSpPr txBox="1"/>
          <p:nvPr/>
        </p:nvSpPr>
        <p:spPr>
          <a:xfrm>
            <a:off x="896112" y="2212848"/>
            <a:ext cx="1927784" cy="274320"/>
          </a:xfrm>
          <a:prstGeom prst="rect">
            <a:avLst/>
          </a:prstGeom>
          <a:noFill/>
          <a:ln/>
        </p:spPr>
        <p:txBody>
          <a:bodyPr wrap="square" lIns="0" tIns="0" rIns="0" bIns="0" rtlCol="0" anchor="t"/>
          <a:lstStyle/>
          <a:p>
            <a:pPr indent="0" marL="0">
              <a:buNone/>
            </a:pPr>
            <a:r>
              <a:rPr lang="en-US" sz="1200" b="1" spc="200" kern="0" dirty="0">
                <a:solidFill>
                  <a:srgbClr val="1A73E8"/>
                </a:solidFill>
                <a:latin typeface="Arial" pitchFamily="34" charset="0"/>
                <a:ea typeface="Arial" pitchFamily="34" charset="-122"/>
                <a:cs typeface="Arial" pitchFamily="34" charset="-120"/>
              </a:rPr>
              <a:t>DATA IN</a:t>
            </a:r>
            <a:endParaRPr lang="en-US" sz="1200" dirty="0"/>
          </a:p>
        </p:txBody>
      </p:sp>
      <p:sp>
        <p:nvSpPr>
          <p:cNvPr id="6" name="Text 4"/>
          <p:cNvSpPr txBox="1"/>
          <p:nvPr/>
        </p:nvSpPr>
        <p:spPr>
          <a:xfrm>
            <a:off x="896112" y="26517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IMD bulletin</a:t>
            </a:r>
            <a:endParaRPr lang="en-US" sz="1400" dirty="0"/>
          </a:p>
        </p:txBody>
      </p:sp>
      <p:sp>
        <p:nvSpPr>
          <p:cNvPr id="7" name="Text 5"/>
          <p:cNvSpPr txBox="1"/>
          <p:nvPr/>
        </p:nvSpPr>
        <p:spPr>
          <a:xfrm>
            <a:off x="896112" y="31089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Earth Engine · 10 datasets</a:t>
            </a:r>
            <a:endParaRPr lang="en-US" sz="1400" dirty="0"/>
          </a:p>
        </p:txBody>
      </p:sp>
      <p:sp>
        <p:nvSpPr>
          <p:cNvPr id="8" name="Text 6"/>
          <p:cNvSpPr txBox="1"/>
          <p:nvPr/>
        </p:nvSpPr>
        <p:spPr>
          <a:xfrm>
            <a:off x="896112" y="35661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OpenStreetMap</a:t>
            </a:r>
            <a:endParaRPr lang="en-US" sz="1400" dirty="0"/>
          </a:p>
        </p:txBody>
      </p:sp>
      <p:sp>
        <p:nvSpPr>
          <p:cNvPr id="9" name="Shape 7"/>
          <p:cNvSpPr/>
          <p:nvPr/>
        </p:nvSpPr>
        <p:spPr>
          <a:xfrm>
            <a:off x="3098216" y="3063240"/>
            <a:ext cx="310896" cy="914"/>
          </a:xfrm>
          <a:prstGeom prst="line">
            <a:avLst/>
          </a:prstGeom>
          <a:noFill/>
          <a:ln w="28575">
            <a:solidFill>
              <a:srgbClr val="A7B0C0"/>
            </a:solidFill>
            <a:prstDash val="solid"/>
            <a:tailEnd type="triangle"/>
          </a:ln>
        </p:spPr>
      </p:sp>
      <p:sp>
        <p:nvSpPr>
          <p:cNvPr id="10" name="Shape 8"/>
          <p:cNvSpPr/>
          <p:nvPr/>
        </p:nvSpPr>
        <p:spPr>
          <a:xfrm>
            <a:off x="3482264" y="2011680"/>
            <a:ext cx="2384984" cy="2103120"/>
          </a:xfrm>
          <a:prstGeom prst="roundRect">
            <a:avLst>
              <a:gd name="adj" fmla="val 6957"/>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1" name="Text 9"/>
          <p:cNvSpPr txBox="1"/>
          <p:nvPr/>
        </p:nvSpPr>
        <p:spPr>
          <a:xfrm>
            <a:off x="3738296" y="2212848"/>
            <a:ext cx="1927784" cy="274320"/>
          </a:xfrm>
          <a:prstGeom prst="rect">
            <a:avLst/>
          </a:prstGeom>
          <a:noFill/>
          <a:ln/>
        </p:spPr>
        <p:txBody>
          <a:bodyPr wrap="square" lIns="0" tIns="0" rIns="0" bIns="0" rtlCol="0" anchor="t"/>
          <a:lstStyle/>
          <a:p>
            <a:pPr indent="0" marL="0">
              <a:buNone/>
            </a:pPr>
            <a:r>
              <a:rPr lang="en-US" sz="1200" b="1" spc="200" kern="0" dirty="0">
                <a:solidFill>
                  <a:srgbClr val="188038"/>
                </a:solidFill>
                <a:latin typeface="Arial" pitchFamily="34" charset="0"/>
                <a:ea typeface="Arial" pitchFamily="34" charset="-122"/>
                <a:cs typeface="Arial" pitchFamily="34" charset="-120"/>
              </a:rPr>
              <a:t>RISK MODELS</a:t>
            </a:r>
            <a:endParaRPr lang="en-US" sz="1200" dirty="0"/>
          </a:p>
        </p:txBody>
      </p:sp>
      <p:sp>
        <p:nvSpPr>
          <p:cNvPr id="12" name="Text 10"/>
          <p:cNvSpPr txBox="1"/>
          <p:nvPr/>
        </p:nvSpPr>
        <p:spPr>
          <a:xfrm>
            <a:off x="3738296" y="26517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Wind · surge · rain</a:t>
            </a:r>
            <a:endParaRPr lang="en-US" sz="1400" dirty="0"/>
          </a:p>
        </p:txBody>
      </p:sp>
      <p:sp>
        <p:nvSpPr>
          <p:cNvPr id="13" name="Text 11"/>
          <p:cNvSpPr txBox="1"/>
          <p:nvPr/>
        </p:nvSpPr>
        <p:spPr>
          <a:xfrm>
            <a:off x="3738296" y="31089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Roads · hospital access</a:t>
            </a:r>
            <a:endParaRPr lang="en-US" sz="1400" dirty="0"/>
          </a:p>
        </p:txBody>
      </p:sp>
      <p:sp>
        <p:nvSpPr>
          <p:cNvPr id="14" name="Text 12"/>
          <p:cNvSpPr txBox="1"/>
          <p:nvPr/>
        </p:nvSpPr>
        <p:spPr>
          <a:xfrm>
            <a:off x="3738296" y="35661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Ensemble · what-if</a:t>
            </a:r>
            <a:endParaRPr lang="en-US" sz="1400" dirty="0"/>
          </a:p>
        </p:txBody>
      </p:sp>
      <p:sp>
        <p:nvSpPr>
          <p:cNvPr id="15" name="Shape 13"/>
          <p:cNvSpPr/>
          <p:nvPr/>
        </p:nvSpPr>
        <p:spPr>
          <a:xfrm>
            <a:off x="5940400" y="3063240"/>
            <a:ext cx="310896" cy="914"/>
          </a:xfrm>
          <a:prstGeom prst="line">
            <a:avLst/>
          </a:prstGeom>
          <a:noFill/>
          <a:ln w="28575">
            <a:solidFill>
              <a:srgbClr val="A7B0C0"/>
            </a:solidFill>
            <a:prstDash val="solid"/>
            <a:tailEnd type="triangle"/>
          </a:ln>
        </p:spPr>
      </p:sp>
      <p:sp>
        <p:nvSpPr>
          <p:cNvPr id="16" name="Shape 14"/>
          <p:cNvSpPr/>
          <p:nvPr/>
        </p:nvSpPr>
        <p:spPr>
          <a:xfrm>
            <a:off x="6324448" y="2011680"/>
            <a:ext cx="2384984" cy="2103120"/>
          </a:xfrm>
          <a:prstGeom prst="roundRect">
            <a:avLst>
              <a:gd name="adj" fmla="val 6957"/>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7" name="Text 15"/>
          <p:cNvSpPr txBox="1"/>
          <p:nvPr/>
        </p:nvSpPr>
        <p:spPr>
          <a:xfrm>
            <a:off x="6580480" y="2212848"/>
            <a:ext cx="1927784" cy="274320"/>
          </a:xfrm>
          <a:prstGeom prst="rect">
            <a:avLst/>
          </a:prstGeom>
          <a:noFill/>
          <a:ln/>
        </p:spPr>
        <p:txBody>
          <a:bodyPr wrap="square" lIns="0" tIns="0" rIns="0" bIns="0" rtlCol="0" anchor="t"/>
          <a:lstStyle/>
          <a:p>
            <a:pPr indent="0" marL="0">
              <a:buNone/>
            </a:pPr>
            <a:r>
              <a:rPr lang="en-US" sz="1200" b="1" spc="200" kern="0" dirty="0">
                <a:solidFill>
                  <a:srgbClr val="D93025"/>
                </a:solidFill>
                <a:latin typeface="Arial" pitchFamily="34" charset="0"/>
                <a:ea typeface="Arial" pitchFamily="34" charset="-122"/>
                <a:cs typeface="Arial" pitchFamily="34" charset="-120"/>
              </a:rPr>
              <a:t>GEMINI AGENTS</a:t>
            </a:r>
            <a:endParaRPr lang="en-US" sz="1200" dirty="0"/>
          </a:p>
        </p:txBody>
      </p:sp>
      <p:sp>
        <p:nvSpPr>
          <p:cNvPr id="18" name="Text 16"/>
          <p:cNvSpPr txBox="1"/>
          <p:nvPr/>
        </p:nvSpPr>
        <p:spPr>
          <a:xfrm>
            <a:off x="6580480" y="26517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Gemini 3.7 Flash + ADK</a:t>
            </a:r>
            <a:endParaRPr lang="en-US" sz="1400" dirty="0"/>
          </a:p>
        </p:txBody>
      </p:sp>
      <p:sp>
        <p:nvSpPr>
          <p:cNvPr id="19" name="Text 17"/>
          <p:cNvSpPr txBox="1"/>
          <p:nvPr/>
        </p:nvSpPr>
        <p:spPr>
          <a:xfrm>
            <a:off x="6580480" y="31089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29 tools</a:t>
            </a:r>
            <a:endParaRPr lang="en-US" sz="1400" dirty="0"/>
          </a:p>
        </p:txBody>
      </p:sp>
      <p:sp>
        <p:nvSpPr>
          <p:cNvPr id="20" name="Text 18"/>
          <p:cNvSpPr txBox="1"/>
          <p:nvPr/>
        </p:nvSpPr>
        <p:spPr>
          <a:xfrm>
            <a:off x="6580480" y="35661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Number guard</a:t>
            </a:r>
            <a:endParaRPr lang="en-US" sz="1400" dirty="0"/>
          </a:p>
        </p:txBody>
      </p:sp>
      <p:sp>
        <p:nvSpPr>
          <p:cNvPr id="21" name="Shape 19"/>
          <p:cNvSpPr/>
          <p:nvPr/>
        </p:nvSpPr>
        <p:spPr>
          <a:xfrm>
            <a:off x="8782583" y="3063240"/>
            <a:ext cx="310896" cy="914"/>
          </a:xfrm>
          <a:prstGeom prst="line">
            <a:avLst/>
          </a:prstGeom>
          <a:noFill/>
          <a:ln w="28575">
            <a:solidFill>
              <a:srgbClr val="A7B0C0"/>
            </a:solidFill>
            <a:prstDash val="solid"/>
            <a:tailEnd type="triangle"/>
          </a:ln>
        </p:spPr>
      </p:sp>
      <p:sp>
        <p:nvSpPr>
          <p:cNvPr id="22" name="Shape 20"/>
          <p:cNvSpPr/>
          <p:nvPr/>
        </p:nvSpPr>
        <p:spPr>
          <a:xfrm>
            <a:off x="9166631" y="2011680"/>
            <a:ext cx="2384984" cy="2103120"/>
          </a:xfrm>
          <a:prstGeom prst="roundRect">
            <a:avLst>
              <a:gd name="adj" fmla="val 6957"/>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3" name="Text 21"/>
          <p:cNvSpPr txBox="1"/>
          <p:nvPr/>
        </p:nvSpPr>
        <p:spPr>
          <a:xfrm>
            <a:off x="9422663" y="2212848"/>
            <a:ext cx="1927784" cy="274320"/>
          </a:xfrm>
          <a:prstGeom prst="rect">
            <a:avLst/>
          </a:prstGeom>
          <a:noFill/>
          <a:ln/>
        </p:spPr>
        <p:txBody>
          <a:bodyPr wrap="square" lIns="0" tIns="0" rIns="0" bIns="0" rtlCol="0" anchor="t"/>
          <a:lstStyle/>
          <a:p>
            <a:pPr indent="0" marL="0">
              <a:buNone/>
            </a:pPr>
            <a:r>
              <a:rPr lang="en-US" sz="1200" b="1" spc="200" kern="0" dirty="0">
                <a:solidFill>
                  <a:srgbClr val="B06000"/>
                </a:solidFill>
                <a:latin typeface="Arial" pitchFamily="34" charset="0"/>
                <a:ea typeface="Arial" pitchFamily="34" charset="-122"/>
                <a:cs typeface="Arial" pitchFamily="34" charset="-120"/>
              </a:rPr>
              <a:t>OUT</a:t>
            </a:r>
            <a:endParaRPr lang="en-US" sz="1200" dirty="0"/>
          </a:p>
        </p:txBody>
      </p:sp>
      <p:sp>
        <p:nvSpPr>
          <p:cNvPr id="24" name="Text 22"/>
          <p:cNvSpPr txBox="1"/>
          <p:nvPr/>
        </p:nvSpPr>
        <p:spPr>
          <a:xfrm>
            <a:off x="9422663" y="26517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Map with reasons</a:t>
            </a:r>
            <a:endParaRPr lang="en-US" sz="1400" dirty="0"/>
          </a:p>
        </p:txBody>
      </p:sp>
      <p:sp>
        <p:nvSpPr>
          <p:cNvPr id="25" name="Text 23"/>
          <p:cNvSpPr txBox="1"/>
          <p:nvPr/>
        </p:nvSpPr>
        <p:spPr>
          <a:xfrm>
            <a:off x="9422663" y="31089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Six languages</a:t>
            </a:r>
            <a:endParaRPr lang="en-US" sz="1400" dirty="0"/>
          </a:p>
        </p:txBody>
      </p:sp>
      <p:sp>
        <p:nvSpPr>
          <p:cNvPr id="26" name="Text 24"/>
          <p:cNvSpPr txBox="1"/>
          <p:nvPr/>
        </p:nvSpPr>
        <p:spPr>
          <a:xfrm>
            <a:off x="9422663" y="3566160"/>
            <a:ext cx="2019224" cy="41148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Approved alerts</a:t>
            </a:r>
            <a:endParaRPr lang="en-US" sz="1400" dirty="0"/>
          </a:p>
        </p:txBody>
      </p:sp>
      <p:sp>
        <p:nvSpPr>
          <p:cNvPr id="27" name="Text 25"/>
          <p:cNvSpPr txBox="1"/>
          <p:nvPr/>
        </p:nvSpPr>
        <p:spPr>
          <a:xfrm>
            <a:off x="640080" y="4434840"/>
            <a:ext cx="10911535" cy="274320"/>
          </a:xfrm>
          <a:prstGeom prst="rect">
            <a:avLst/>
          </a:prstGeom>
          <a:noFill/>
          <a:ln/>
        </p:spPr>
        <p:txBody>
          <a:bodyPr wrap="square" lIns="0" tIns="0" rIns="0" bIns="0" rtlCol="0" anchor="t"/>
          <a:lstStyle/>
          <a:p>
            <a:pPr indent="0" marL="0">
              <a:buNone/>
            </a:pPr>
            <a:r>
              <a:rPr lang="en-US" sz="1200" b="1" spc="300" kern="0" dirty="0">
                <a:solidFill>
                  <a:srgbClr val="4A5A78"/>
                </a:solidFill>
                <a:latin typeface="Arial" pitchFamily="34" charset="0"/>
                <a:ea typeface="Arial" pitchFamily="34" charset="-122"/>
                <a:cs typeface="Arial" pitchFamily="34" charset="-120"/>
              </a:rPr>
              <a:t>CHECKED AGAINST WHAT REALLY HAPPENED</a:t>
            </a:r>
            <a:endParaRPr lang="en-US" sz="1200" dirty="0"/>
          </a:p>
        </p:txBody>
      </p:sp>
      <p:sp>
        <p:nvSpPr>
          <p:cNvPr id="28" name="Shape 26"/>
          <p:cNvSpPr/>
          <p:nvPr/>
        </p:nvSpPr>
        <p:spPr>
          <a:xfrm>
            <a:off x="640080" y="4846320"/>
            <a:ext cx="3454298" cy="1325880"/>
          </a:xfrm>
          <a:prstGeom prst="roundRect">
            <a:avLst>
              <a:gd name="adj" fmla="val 11034"/>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9" name="Text 27"/>
          <p:cNvSpPr txBox="1"/>
          <p:nvPr/>
        </p:nvSpPr>
        <p:spPr>
          <a:xfrm>
            <a:off x="914400" y="4937760"/>
            <a:ext cx="2905658" cy="640080"/>
          </a:xfrm>
          <a:prstGeom prst="rect">
            <a:avLst/>
          </a:prstGeom>
          <a:noFill/>
          <a:ln/>
        </p:spPr>
        <p:txBody>
          <a:bodyPr wrap="square" lIns="0" tIns="0" rIns="0" bIns="0" rtlCol="0" anchor="ctr"/>
          <a:lstStyle/>
          <a:p>
            <a:pPr indent="0" marL="0">
              <a:buNone/>
            </a:pPr>
            <a:r>
              <a:rPr lang="en-US" sz="3400" b="1" dirty="0">
                <a:solidFill>
                  <a:srgbClr val="1A73E8"/>
                </a:solidFill>
                <a:latin typeface="Arial" pitchFamily="34" charset="0"/>
                <a:ea typeface="Arial" pitchFamily="34" charset="-122"/>
                <a:cs typeface="Arial" pitchFamily="34" charset="-120"/>
              </a:rPr>
              <a:t>27.6 km</a:t>
            </a:r>
            <a:endParaRPr lang="en-US" sz="3400" dirty="0"/>
          </a:p>
        </p:txBody>
      </p:sp>
      <p:sp>
        <p:nvSpPr>
          <p:cNvPr id="30" name="Text 28"/>
          <p:cNvSpPr txBox="1"/>
          <p:nvPr/>
        </p:nvSpPr>
        <p:spPr>
          <a:xfrm>
            <a:off x="914400" y="5596128"/>
            <a:ext cx="2905658" cy="45720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average error of our 6-hour track forecast</a:t>
            </a:r>
            <a:endParaRPr lang="en-US" sz="1200" dirty="0"/>
          </a:p>
        </p:txBody>
      </p:sp>
      <p:sp>
        <p:nvSpPr>
          <p:cNvPr id="31" name="Shape 29"/>
          <p:cNvSpPr/>
          <p:nvPr/>
        </p:nvSpPr>
        <p:spPr>
          <a:xfrm>
            <a:off x="4368698" y="4846320"/>
            <a:ext cx="3454298" cy="1325880"/>
          </a:xfrm>
          <a:prstGeom prst="roundRect">
            <a:avLst>
              <a:gd name="adj" fmla="val 11034"/>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32" name="Text 30"/>
          <p:cNvSpPr txBox="1"/>
          <p:nvPr/>
        </p:nvSpPr>
        <p:spPr>
          <a:xfrm>
            <a:off x="4643018" y="4937760"/>
            <a:ext cx="2905658" cy="640080"/>
          </a:xfrm>
          <a:prstGeom prst="rect">
            <a:avLst/>
          </a:prstGeom>
          <a:noFill/>
          <a:ln/>
        </p:spPr>
        <p:txBody>
          <a:bodyPr wrap="square" lIns="0" tIns="0" rIns="0" bIns="0" rtlCol="0" anchor="ctr"/>
          <a:lstStyle/>
          <a:p>
            <a:pPr indent="0" marL="0">
              <a:buNone/>
            </a:pPr>
            <a:r>
              <a:rPr lang="en-US" sz="3400" b="1" dirty="0">
                <a:solidFill>
                  <a:srgbClr val="188038"/>
                </a:solidFill>
                <a:latin typeface="Arial" pitchFamily="34" charset="0"/>
                <a:ea typeface="Arial" pitchFamily="34" charset="-122"/>
                <a:cs typeface="Arial" pitchFamily="34" charset="-120"/>
              </a:rPr>
              <a:t>0.71</a:t>
            </a:r>
            <a:endParaRPr lang="en-US" sz="3400" dirty="0"/>
          </a:p>
        </p:txBody>
      </p:sp>
      <p:sp>
        <p:nvSpPr>
          <p:cNvPr id="33" name="Text 31"/>
          <p:cNvSpPr txBox="1"/>
          <p:nvPr/>
        </p:nvSpPr>
        <p:spPr>
          <a:xfrm>
            <a:off x="4643018" y="5596128"/>
            <a:ext cx="2905658" cy="45720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match between forecast rain and NASA’s observed rain</a:t>
            </a:r>
            <a:endParaRPr lang="en-US" sz="1200" dirty="0"/>
          </a:p>
        </p:txBody>
      </p:sp>
      <p:sp>
        <p:nvSpPr>
          <p:cNvPr id="34" name="Shape 32"/>
          <p:cNvSpPr/>
          <p:nvPr/>
        </p:nvSpPr>
        <p:spPr>
          <a:xfrm>
            <a:off x="8097317" y="4846320"/>
            <a:ext cx="3454298" cy="1325880"/>
          </a:xfrm>
          <a:prstGeom prst="roundRect">
            <a:avLst>
              <a:gd name="adj" fmla="val 11034"/>
            </a:avLst>
          </a:prstGeom>
          <a:solidFill>
            <a:srgbClr val="FFFFFF">
              <a:alpha val="92000"/>
            </a:srgbClr>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35" name="Text 33"/>
          <p:cNvSpPr txBox="1"/>
          <p:nvPr/>
        </p:nvSpPr>
        <p:spPr>
          <a:xfrm>
            <a:off x="8371637" y="4937760"/>
            <a:ext cx="2905658" cy="640080"/>
          </a:xfrm>
          <a:prstGeom prst="rect">
            <a:avLst/>
          </a:prstGeom>
          <a:noFill/>
          <a:ln/>
        </p:spPr>
        <p:txBody>
          <a:bodyPr wrap="square" lIns="0" tIns="0" rIns="0" bIns="0" rtlCol="0" anchor="ctr"/>
          <a:lstStyle/>
          <a:p>
            <a:pPr indent="0" marL="0">
              <a:buNone/>
            </a:pPr>
            <a:r>
              <a:rPr lang="en-US" sz="3400" b="1" dirty="0">
                <a:solidFill>
                  <a:srgbClr val="D93025"/>
                </a:solidFill>
                <a:latin typeface="Arial" pitchFamily="34" charset="0"/>
                <a:ea typeface="Arial" pitchFamily="34" charset="-122"/>
                <a:cs typeface="Arial" pitchFamily="34" charset="-120"/>
              </a:rPr>
              <a:t>2×</a:t>
            </a:r>
            <a:endParaRPr lang="en-US" sz="3400" dirty="0"/>
          </a:p>
        </p:txBody>
      </p:sp>
      <p:sp>
        <p:nvSpPr>
          <p:cNvPr id="36" name="Text 34"/>
          <p:cNvSpPr txBox="1"/>
          <p:nvPr/>
        </p:nvSpPr>
        <p:spPr>
          <a:xfrm>
            <a:off x="8371637" y="5596128"/>
            <a:ext cx="2905658" cy="457200"/>
          </a:xfrm>
          <a:prstGeom prst="rect">
            <a:avLst/>
          </a:prstGeom>
          <a:noFill/>
          <a:ln/>
        </p:spPr>
        <p:txBody>
          <a:bodyPr wrap="square" lIns="0" tIns="0" rIns="0" bIns="0" rtlCol="0" anchor="t"/>
          <a:lstStyle/>
          <a:p>
            <a:pPr indent="0" marL="0">
              <a:buNone/>
            </a:pPr>
            <a:r>
              <a:rPr lang="en-US" sz="1200" dirty="0">
                <a:solidFill>
                  <a:srgbClr val="4A5A78"/>
                </a:solidFill>
                <a:latin typeface="Arial" pitchFamily="34" charset="0"/>
                <a:ea typeface="Arial" pitchFamily="34" charset="-122"/>
                <a:cs typeface="Arial" pitchFamily="34" charset="-120"/>
              </a:rPr>
              <a:t>satellites saw water twice as often on roads we flagged</a:t>
            </a:r>
            <a:endParaRPr lang="en-US" sz="1200" dirty="0"/>
          </a:p>
        </p:txBody>
      </p:sp>
      <p:sp>
        <p:nvSpPr>
          <p:cNvPr id="37" name="Shape 35"/>
          <p:cNvSpPr/>
          <p:nvPr/>
        </p:nvSpPr>
        <p:spPr>
          <a:xfrm>
            <a:off x="640080" y="6473952"/>
            <a:ext cx="82296" cy="82296"/>
          </a:xfrm>
          <a:prstGeom prst="ellipse">
            <a:avLst/>
          </a:prstGeom>
          <a:solidFill>
            <a:srgbClr val="1A73E8"/>
          </a:solidFill>
          <a:ln/>
        </p:spPr>
      </p:sp>
      <p:sp>
        <p:nvSpPr>
          <p:cNvPr id="38" name="Shape 36"/>
          <p:cNvSpPr/>
          <p:nvPr/>
        </p:nvSpPr>
        <p:spPr>
          <a:xfrm>
            <a:off x="768096" y="6473952"/>
            <a:ext cx="82296" cy="82296"/>
          </a:xfrm>
          <a:prstGeom prst="ellipse">
            <a:avLst/>
          </a:prstGeom>
          <a:solidFill>
            <a:srgbClr val="EA4335"/>
          </a:solidFill>
          <a:ln/>
        </p:spPr>
      </p:sp>
      <p:sp>
        <p:nvSpPr>
          <p:cNvPr id="39" name="Shape 37"/>
          <p:cNvSpPr/>
          <p:nvPr/>
        </p:nvSpPr>
        <p:spPr>
          <a:xfrm>
            <a:off x="896112" y="6473952"/>
            <a:ext cx="82296" cy="82296"/>
          </a:xfrm>
          <a:prstGeom prst="ellipse">
            <a:avLst/>
          </a:prstGeom>
          <a:solidFill>
            <a:srgbClr val="FBBC04"/>
          </a:solidFill>
          <a:ln/>
        </p:spPr>
      </p:sp>
      <p:sp>
        <p:nvSpPr>
          <p:cNvPr id="40" name="Shape 38"/>
          <p:cNvSpPr/>
          <p:nvPr/>
        </p:nvSpPr>
        <p:spPr>
          <a:xfrm>
            <a:off x="1024128" y="6473952"/>
            <a:ext cx="82296" cy="82296"/>
          </a:xfrm>
          <a:prstGeom prst="ellipse">
            <a:avLst/>
          </a:prstGeom>
          <a:solidFill>
            <a:srgbClr val="34A853"/>
          </a:solidFill>
          <a:ln/>
        </p:spPr>
      </p:sp>
      <p:sp>
        <p:nvSpPr>
          <p:cNvPr id="41" name="Text 39"/>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42" name="Text 40"/>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20040"/>
            <a:ext cx="1828800" cy="1234440"/>
          </a:xfrm>
          <a:prstGeom prst="rect">
            <a:avLst/>
          </a:prstGeom>
          <a:noFill/>
          <a:ln/>
        </p:spPr>
        <p:txBody>
          <a:bodyPr wrap="square" lIns="0" tIns="0" rIns="0" bIns="0" rtlCol="0" anchor="ctr"/>
          <a:lstStyle/>
          <a:p>
            <a:pPr indent="0" marL="0">
              <a:buNone/>
            </a:pPr>
            <a:r>
              <a:rPr lang="en-US" sz="9600" b="1" dirty="0">
                <a:solidFill>
                  <a:srgbClr val="202124"/>
                </a:solidFill>
                <a:latin typeface="Arial" pitchFamily="34" charset="0"/>
                <a:ea typeface="Arial" pitchFamily="34" charset="-122"/>
                <a:cs typeface="Arial" pitchFamily="34" charset="-120"/>
              </a:rPr>
              <a:t>23</a:t>
            </a:r>
            <a:endParaRPr lang="en-US" sz="9600" dirty="0"/>
          </a:p>
        </p:txBody>
      </p:sp>
      <p:sp>
        <p:nvSpPr>
          <p:cNvPr id="3" name="Text 1"/>
          <p:cNvSpPr txBox="1"/>
          <p:nvPr/>
        </p:nvSpPr>
        <p:spPr>
          <a:xfrm>
            <a:off x="2514600" y="457200"/>
            <a:ext cx="5486400" cy="1005840"/>
          </a:xfrm>
          <a:prstGeom prst="rect">
            <a:avLst/>
          </a:prstGeom>
          <a:noFill/>
          <a:ln/>
        </p:spPr>
        <p:txBody>
          <a:bodyPr wrap="square" lIns="0" tIns="0" rIns="0" bIns="0" rtlCol="0" anchor="ctr"/>
          <a:lstStyle/>
          <a:p>
            <a:pPr indent="0" marL="0">
              <a:buNone/>
            </a:pPr>
            <a:r>
              <a:rPr lang="en-US" sz="2800" b="1" dirty="0">
                <a:solidFill>
                  <a:srgbClr val="202124"/>
                </a:solidFill>
                <a:latin typeface="Arial" pitchFamily="34" charset="0"/>
                <a:ea typeface="Arial" pitchFamily="34" charset="-122"/>
                <a:cs typeface="Arial" pitchFamily="34" charset="-120"/>
              </a:rPr>
              <a:t>Google services,</a:t>
            </a:r>
            <a:endParaRPr lang="en-US" sz="2800" dirty="0"/>
          </a:p>
          <a:p>
            <a:pPr indent="0" marL="0">
              <a:buNone/>
            </a:pPr>
            <a:r>
              <a:rPr lang="en-US" sz="2800" b="1" dirty="0">
                <a:solidFill>
                  <a:srgbClr val="202124"/>
                </a:solidFill>
                <a:latin typeface="Arial" pitchFamily="34" charset="0"/>
                <a:ea typeface="Arial" pitchFamily="34" charset="-122"/>
                <a:cs typeface="Arial" pitchFamily="34" charset="-120"/>
              </a:rPr>
              <a:t>each with a real job.</a:t>
            </a:r>
            <a:endParaRPr lang="en-US" sz="2800" dirty="0"/>
          </a:p>
        </p:txBody>
      </p:sp>
      <p:sp>
        <p:nvSpPr>
          <p:cNvPr id="4" name="Text 2"/>
          <p:cNvSpPr txBox="1"/>
          <p:nvPr/>
        </p:nvSpPr>
        <p:spPr>
          <a:xfrm>
            <a:off x="640080" y="1783080"/>
            <a:ext cx="1737360" cy="347472"/>
          </a:xfrm>
          <a:prstGeom prst="rect">
            <a:avLst/>
          </a:prstGeom>
          <a:noFill/>
          <a:ln/>
        </p:spPr>
        <p:txBody>
          <a:bodyPr wrap="square" lIns="0" tIns="0" rIns="0" bIns="0" rtlCol="0" anchor="ctr"/>
          <a:lstStyle/>
          <a:p>
            <a:pPr indent="0" marL="0">
              <a:buNone/>
            </a:pPr>
            <a:r>
              <a:rPr lang="en-US" sz="1150" b="1" spc="200" kern="0" dirty="0">
                <a:solidFill>
                  <a:srgbClr val="1A73E8"/>
                </a:solidFill>
                <a:latin typeface="Arial" pitchFamily="34" charset="0"/>
                <a:ea typeface="Arial" pitchFamily="34" charset="-122"/>
                <a:cs typeface="Arial" pitchFamily="34" charset="-120"/>
              </a:rPr>
              <a:t>AI</a:t>
            </a:r>
            <a:endParaRPr lang="en-US" sz="1150" dirty="0"/>
          </a:p>
        </p:txBody>
      </p:sp>
      <p:sp>
        <p:nvSpPr>
          <p:cNvPr id="5" name="Shape 3"/>
          <p:cNvSpPr/>
          <p:nvPr/>
        </p:nvSpPr>
        <p:spPr>
          <a:xfrm>
            <a:off x="2423160" y="1783080"/>
            <a:ext cx="1463040" cy="347472"/>
          </a:xfrm>
          <a:prstGeom prst="roundRect">
            <a:avLst>
              <a:gd name="adj" fmla="val 50000"/>
            </a:avLst>
          </a:prstGeom>
          <a:solidFill>
            <a:srgbClr val="E8F0FE"/>
          </a:solidFill>
          <a:ln/>
        </p:spPr>
      </p:sp>
      <p:sp>
        <p:nvSpPr>
          <p:cNvPr id="6" name="Text 4"/>
          <p:cNvSpPr txBox="1"/>
          <p:nvPr/>
        </p:nvSpPr>
        <p:spPr>
          <a:xfrm>
            <a:off x="2423160" y="1783080"/>
            <a:ext cx="14630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Gemini 3.7 Flash</a:t>
            </a:r>
            <a:endParaRPr lang="en-US" sz="1050" dirty="0"/>
          </a:p>
        </p:txBody>
      </p:sp>
      <p:sp>
        <p:nvSpPr>
          <p:cNvPr id="7" name="Shape 5"/>
          <p:cNvSpPr/>
          <p:nvPr/>
        </p:nvSpPr>
        <p:spPr>
          <a:xfrm>
            <a:off x="3977640" y="1783080"/>
            <a:ext cx="982980" cy="347472"/>
          </a:xfrm>
          <a:prstGeom prst="roundRect">
            <a:avLst>
              <a:gd name="adj" fmla="val 50000"/>
            </a:avLst>
          </a:prstGeom>
          <a:solidFill>
            <a:srgbClr val="E8F0FE"/>
          </a:solidFill>
          <a:ln/>
        </p:spPr>
      </p:sp>
      <p:sp>
        <p:nvSpPr>
          <p:cNvPr id="8" name="Text 6"/>
          <p:cNvSpPr txBox="1"/>
          <p:nvPr/>
        </p:nvSpPr>
        <p:spPr>
          <a:xfrm>
            <a:off x="3977640" y="1783080"/>
            <a:ext cx="9829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Vertex AI</a:t>
            </a:r>
            <a:endParaRPr lang="en-US" sz="1050" dirty="0"/>
          </a:p>
        </p:txBody>
      </p:sp>
      <p:sp>
        <p:nvSpPr>
          <p:cNvPr id="9" name="Shape 7"/>
          <p:cNvSpPr/>
          <p:nvPr/>
        </p:nvSpPr>
        <p:spPr>
          <a:xfrm>
            <a:off x="5052060" y="1783080"/>
            <a:ext cx="1120140" cy="347472"/>
          </a:xfrm>
          <a:prstGeom prst="roundRect">
            <a:avLst>
              <a:gd name="adj" fmla="val 50000"/>
            </a:avLst>
          </a:prstGeom>
          <a:solidFill>
            <a:srgbClr val="E8F0FE"/>
          </a:solidFill>
          <a:ln/>
        </p:spPr>
      </p:sp>
      <p:sp>
        <p:nvSpPr>
          <p:cNvPr id="10" name="Text 8"/>
          <p:cNvSpPr txBox="1"/>
          <p:nvPr/>
        </p:nvSpPr>
        <p:spPr>
          <a:xfrm>
            <a:off x="5052060" y="1783080"/>
            <a:ext cx="11201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Gemini Live</a:t>
            </a:r>
            <a:endParaRPr lang="en-US" sz="1050" dirty="0"/>
          </a:p>
        </p:txBody>
      </p:sp>
      <p:sp>
        <p:nvSpPr>
          <p:cNvPr id="11" name="Shape 9"/>
          <p:cNvSpPr/>
          <p:nvPr/>
        </p:nvSpPr>
        <p:spPr>
          <a:xfrm>
            <a:off x="2423160" y="2203704"/>
            <a:ext cx="1805940" cy="347472"/>
          </a:xfrm>
          <a:prstGeom prst="roundRect">
            <a:avLst>
              <a:gd name="adj" fmla="val 50000"/>
            </a:avLst>
          </a:prstGeom>
          <a:solidFill>
            <a:srgbClr val="E8F0FE"/>
          </a:solidFill>
          <a:ln/>
        </p:spPr>
      </p:sp>
      <p:sp>
        <p:nvSpPr>
          <p:cNvPr id="12" name="Text 10"/>
          <p:cNvSpPr txBox="1"/>
          <p:nvPr/>
        </p:nvSpPr>
        <p:spPr>
          <a:xfrm>
            <a:off x="2423160" y="2203704"/>
            <a:ext cx="18059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Agent Development Kit</a:t>
            </a:r>
            <a:endParaRPr lang="en-US" sz="1050" dirty="0"/>
          </a:p>
        </p:txBody>
      </p:sp>
      <p:sp>
        <p:nvSpPr>
          <p:cNvPr id="13" name="Shape 11"/>
          <p:cNvSpPr/>
          <p:nvPr/>
        </p:nvSpPr>
        <p:spPr>
          <a:xfrm>
            <a:off x="4320540" y="2203704"/>
            <a:ext cx="1463040" cy="347472"/>
          </a:xfrm>
          <a:prstGeom prst="roundRect">
            <a:avLst>
              <a:gd name="adj" fmla="val 50000"/>
            </a:avLst>
          </a:prstGeom>
          <a:solidFill>
            <a:srgbClr val="E8F0FE"/>
          </a:solidFill>
          <a:ln/>
        </p:spPr>
      </p:sp>
      <p:sp>
        <p:nvSpPr>
          <p:cNvPr id="14" name="Text 12"/>
          <p:cNvSpPr txBox="1"/>
          <p:nvPr/>
        </p:nvSpPr>
        <p:spPr>
          <a:xfrm>
            <a:off x="4320540" y="2203704"/>
            <a:ext cx="14630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Search grounding</a:t>
            </a:r>
            <a:endParaRPr lang="en-US" sz="1050" dirty="0"/>
          </a:p>
        </p:txBody>
      </p:sp>
      <p:sp>
        <p:nvSpPr>
          <p:cNvPr id="15" name="Shape 13"/>
          <p:cNvSpPr/>
          <p:nvPr/>
        </p:nvSpPr>
        <p:spPr>
          <a:xfrm>
            <a:off x="5875020" y="2203704"/>
            <a:ext cx="1325880" cy="347472"/>
          </a:xfrm>
          <a:prstGeom prst="roundRect">
            <a:avLst>
              <a:gd name="adj" fmla="val 50000"/>
            </a:avLst>
          </a:prstGeom>
          <a:solidFill>
            <a:srgbClr val="E8F0FE"/>
          </a:solidFill>
          <a:ln/>
        </p:spPr>
      </p:sp>
      <p:sp>
        <p:nvSpPr>
          <p:cNvPr id="16" name="Text 14"/>
          <p:cNvSpPr txBox="1"/>
          <p:nvPr/>
        </p:nvSpPr>
        <p:spPr>
          <a:xfrm>
            <a:off x="5875020" y="2203704"/>
            <a:ext cx="13258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Text-to-Speech</a:t>
            </a:r>
            <a:endParaRPr lang="en-US" sz="1050" dirty="0"/>
          </a:p>
        </p:txBody>
      </p:sp>
      <p:sp>
        <p:nvSpPr>
          <p:cNvPr id="17" name="Shape 15"/>
          <p:cNvSpPr/>
          <p:nvPr/>
        </p:nvSpPr>
        <p:spPr>
          <a:xfrm>
            <a:off x="2423160" y="2624328"/>
            <a:ext cx="1325880" cy="347472"/>
          </a:xfrm>
          <a:prstGeom prst="roundRect">
            <a:avLst>
              <a:gd name="adj" fmla="val 50000"/>
            </a:avLst>
          </a:prstGeom>
          <a:solidFill>
            <a:srgbClr val="E8F0FE"/>
          </a:solidFill>
          <a:ln/>
        </p:spPr>
      </p:sp>
      <p:sp>
        <p:nvSpPr>
          <p:cNvPr id="18" name="Text 16"/>
          <p:cNvSpPr txBox="1"/>
          <p:nvPr/>
        </p:nvSpPr>
        <p:spPr>
          <a:xfrm>
            <a:off x="2423160" y="2624328"/>
            <a:ext cx="13258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Speech-to-Text</a:t>
            </a:r>
            <a:endParaRPr lang="en-US" sz="1050" dirty="0"/>
          </a:p>
        </p:txBody>
      </p:sp>
      <p:sp>
        <p:nvSpPr>
          <p:cNvPr id="19" name="Text 17"/>
          <p:cNvSpPr txBox="1"/>
          <p:nvPr/>
        </p:nvSpPr>
        <p:spPr>
          <a:xfrm>
            <a:off x="640080" y="3172968"/>
            <a:ext cx="1737360" cy="347472"/>
          </a:xfrm>
          <a:prstGeom prst="rect">
            <a:avLst/>
          </a:prstGeom>
          <a:noFill/>
          <a:ln/>
        </p:spPr>
        <p:txBody>
          <a:bodyPr wrap="square" lIns="0" tIns="0" rIns="0" bIns="0" rtlCol="0" anchor="ctr"/>
          <a:lstStyle/>
          <a:p>
            <a:pPr indent="0" marL="0">
              <a:buNone/>
            </a:pPr>
            <a:r>
              <a:rPr lang="en-US" sz="1150" b="1" spc="200" kern="0" dirty="0">
                <a:solidFill>
                  <a:srgbClr val="188038"/>
                </a:solidFill>
                <a:latin typeface="Arial" pitchFamily="34" charset="0"/>
                <a:ea typeface="Arial" pitchFamily="34" charset="-122"/>
                <a:cs typeface="Arial" pitchFamily="34" charset="-120"/>
              </a:rPr>
              <a:t>MAPS &amp; EARTH</a:t>
            </a:r>
            <a:endParaRPr lang="en-US" sz="1150" dirty="0"/>
          </a:p>
        </p:txBody>
      </p:sp>
      <p:sp>
        <p:nvSpPr>
          <p:cNvPr id="20" name="Shape 18"/>
          <p:cNvSpPr/>
          <p:nvPr/>
        </p:nvSpPr>
        <p:spPr>
          <a:xfrm>
            <a:off x="2423160" y="3172968"/>
            <a:ext cx="1188720" cy="347472"/>
          </a:xfrm>
          <a:prstGeom prst="roundRect">
            <a:avLst>
              <a:gd name="adj" fmla="val 50000"/>
            </a:avLst>
          </a:prstGeom>
          <a:solidFill>
            <a:srgbClr val="E6F4EA"/>
          </a:solidFill>
          <a:ln/>
        </p:spPr>
      </p:sp>
      <p:sp>
        <p:nvSpPr>
          <p:cNvPr id="21" name="Text 19"/>
          <p:cNvSpPr txBox="1"/>
          <p:nvPr/>
        </p:nvSpPr>
        <p:spPr>
          <a:xfrm>
            <a:off x="2423160" y="3172968"/>
            <a:ext cx="118872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Earth Engine</a:t>
            </a:r>
            <a:endParaRPr lang="en-US" sz="1050" dirty="0"/>
          </a:p>
        </p:txBody>
      </p:sp>
      <p:sp>
        <p:nvSpPr>
          <p:cNvPr id="22" name="Shape 20"/>
          <p:cNvSpPr/>
          <p:nvPr/>
        </p:nvSpPr>
        <p:spPr>
          <a:xfrm>
            <a:off x="3703320" y="3172968"/>
            <a:ext cx="1394460" cy="347472"/>
          </a:xfrm>
          <a:prstGeom prst="roundRect">
            <a:avLst>
              <a:gd name="adj" fmla="val 50000"/>
            </a:avLst>
          </a:prstGeom>
          <a:solidFill>
            <a:srgbClr val="E6F4EA"/>
          </a:solidFill>
          <a:ln/>
        </p:spPr>
      </p:sp>
      <p:sp>
        <p:nvSpPr>
          <p:cNvPr id="23" name="Text 21"/>
          <p:cNvSpPr txBox="1"/>
          <p:nvPr/>
        </p:nvSpPr>
        <p:spPr>
          <a:xfrm>
            <a:off x="3703320" y="3172968"/>
            <a:ext cx="139446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Maps JavaScript</a:t>
            </a:r>
            <a:endParaRPr lang="en-US" sz="1050" dirty="0"/>
          </a:p>
        </p:txBody>
      </p:sp>
      <p:sp>
        <p:nvSpPr>
          <p:cNvPr id="24" name="Shape 22"/>
          <p:cNvSpPr/>
          <p:nvPr/>
        </p:nvSpPr>
        <p:spPr>
          <a:xfrm>
            <a:off x="5189220" y="3172968"/>
            <a:ext cx="777240" cy="347472"/>
          </a:xfrm>
          <a:prstGeom prst="roundRect">
            <a:avLst>
              <a:gd name="adj" fmla="val 50000"/>
            </a:avLst>
          </a:prstGeom>
          <a:solidFill>
            <a:srgbClr val="E6F4EA"/>
          </a:solidFill>
          <a:ln/>
        </p:spPr>
      </p:sp>
      <p:sp>
        <p:nvSpPr>
          <p:cNvPr id="25" name="Text 23"/>
          <p:cNvSpPr txBox="1"/>
          <p:nvPr/>
        </p:nvSpPr>
        <p:spPr>
          <a:xfrm>
            <a:off x="5189220" y="3172968"/>
            <a:ext cx="77724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Places</a:t>
            </a:r>
            <a:endParaRPr lang="en-US" sz="1050" dirty="0"/>
          </a:p>
        </p:txBody>
      </p:sp>
      <p:sp>
        <p:nvSpPr>
          <p:cNvPr id="26" name="Shape 24"/>
          <p:cNvSpPr/>
          <p:nvPr/>
        </p:nvSpPr>
        <p:spPr>
          <a:xfrm>
            <a:off x="6057900" y="3172968"/>
            <a:ext cx="777240" cy="347472"/>
          </a:xfrm>
          <a:prstGeom prst="roundRect">
            <a:avLst>
              <a:gd name="adj" fmla="val 50000"/>
            </a:avLst>
          </a:prstGeom>
          <a:solidFill>
            <a:srgbClr val="E6F4EA"/>
          </a:solidFill>
          <a:ln/>
        </p:spPr>
      </p:sp>
      <p:sp>
        <p:nvSpPr>
          <p:cNvPr id="27" name="Text 25"/>
          <p:cNvSpPr txBox="1"/>
          <p:nvPr/>
        </p:nvSpPr>
        <p:spPr>
          <a:xfrm>
            <a:off x="6057900" y="3172968"/>
            <a:ext cx="77724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Routes</a:t>
            </a:r>
            <a:endParaRPr lang="en-US" sz="1050" dirty="0"/>
          </a:p>
        </p:txBody>
      </p:sp>
      <p:sp>
        <p:nvSpPr>
          <p:cNvPr id="28" name="Shape 26"/>
          <p:cNvSpPr/>
          <p:nvPr/>
        </p:nvSpPr>
        <p:spPr>
          <a:xfrm>
            <a:off x="6926580" y="3172968"/>
            <a:ext cx="982980" cy="347472"/>
          </a:xfrm>
          <a:prstGeom prst="roundRect">
            <a:avLst>
              <a:gd name="adj" fmla="val 50000"/>
            </a:avLst>
          </a:prstGeom>
          <a:solidFill>
            <a:srgbClr val="E6F4EA"/>
          </a:solidFill>
          <a:ln/>
        </p:spPr>
      </p:sp>
      <p:sp>
        <p:nvSpPr>
          <p:cNvPr id="29" name="Text 27"/>
          <p:cNvSpPr txBox="1"/>
          <p:nvPr/>
        </p:nvSpPr>
        <p:spPr>
          <a:xfrm>
            <a:off x="6926580" y="3172968"/>
            <a:ext cx="98298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Geocoding</a:t>
            </a:r>
            <a:endParaRPr lang="en-US" sz="1050" dirty="0"/>
          </a:p>
        </p:txBody>
      </p:sp>
      <p:sp>
        <p:nvSpPr>
          <p:cNvPr id="30" name="Shape 28"/>
          <p:cNvSpPr/>
          <p:nvPr/>
        </p:nvSpPr>
        <p:spPr>
          <a:xfrm>
            <a:off x="2423160" y="3593592"/>
            <a:ext cx="845820" cy="347472"/>
          </a:xfrm>
          <a:prstGeom prst="roundRect">
            <a:avLst>
              <a:gd name="adj" fmla="val 50000"/>
            </a:avLst>
          </a:prstGeom>
          <a:solidFill>
            <a:srgbClr val="E6F4EA"/>
          </a:solidFill>
          <a:ln/>
        </p:spPr>
      </p:sp>
      <p:sp>
        <p:nvSpPr>
          <p:cNvPr id="31" name="Text 29"/>
          <p:cNvSpPr txBox="1"/>
          <p:nvPr/>
        </p:nvSpPr>
        <p:spPr>
          <a:xfrm>
            <a:off x="2423160" y="3593592"/>
            <a:ext cx="845820" cy="347472"/>
          </a:xfrm>
          <a:prstGeom prst="rect">
            <a:avLst/>
          </a:prstGeom>
          <a:noFill/>
          <a:ln/>
        </p:spPr>
        <p:txBody>
          <a:bodyPr wrap="square" lIns="0" tIns="0" rIns="0" bIns="0" rtlCol="0" anchor="ctr"/>
          <a:lstStyle/>
          <a:p>
            <a:pPr algn="ctr" indent="0" marL="0">
              <a:buNone/>
            </a:pPr>
            <a:r>
              <a:rPr lang="en-US" sz="1050" b="1" dirty="0">
                <a:solidFill>
                  <a:srgbClr val="188038"/>
                </a:solidFill>
                <a:latin typeface="Arial" pitchFamily="34" charset="0"/>
                <a:ea typeface="Arial" pitchFamily="34" charset="-122"/>
                <a:cs typeface="Arial" pitchFamily="34" charset="-120"/>
              </a:rPr>
              <a:t>Weather</a:t>
            </a:r>
            <a:endParaRPr lang="en-US" sz="1050" dirty="0"/>
          </a:p>
        </p:txBody>
      </p:sp>
      <p:sp>
        <p:nvSpPr>
          <p:cNvPr id="32" name="Text 30"/>
          <p:cNvSpPr txBox="1"/>
          <p:nvPr/>
        </p:nvSpPr>
        <p:spPr>
          <a:xfrm>
            <a:off x="640080" y="4142232"/>
            <a:ext cx="1737360" cy="347472"/>
          </a:xfrm>
          <a:prstGeom prst="rect">
            <a:avLst/>
          </a:prstGeom>
          <a:noFill/>
          <a:ln/>
        </p:spPr>
        <p:txBody>
          <a:bodyPr wrap="square" lIns="0" tIns="0" rIns="0" bIns="0" rtlCol="0" anchor="ctr"/>
          <a:lstStyle/>
          <a:p>
            <a:pPr indent="0" marL="0">
              <a:buNone/>
            </a:pPr>
            <a:r>
              <a:rPr lang="en-US" sz="1150" b="1" spc="200" kern="0" dirty="0">
                <a:solidFill>
                  <a:srgbClr val="B06000"/>
                </a:solidFill>
                <a:latin typeface="Arial" pitchFamily="34" charset="0"/>
                <a:ea typeface="Arial" pitchFamily="34" charset="-122"/>
                <a:cs typeface="Arial" pitchFamily="34" charset="-120"/>
              </a:rPr>
              <a:t>DATA</a:t>
            </a:r>
            <a:endParaRPr lang="en-US" sz="1150" dirty="0"/>
          </a:p>
        </p:txBody>
      </p:sp>
      <p:sp>
        <p:nvSpPr>
          <p:cNvPr id="33" name="Shape 31"/>
          <p:cNvSpPr/>
          <p:nvPr/>
        </p:nvSpPr>
        <p:spPr>
          <a:xfrm>
            <a:off x="2423160" y="4142232"/>
            <a:ext cx="1188720" cy="347472"/>
          </a:xfrm>
          <a:prstGeom prst="roundRect">
            <a:avLst>
              <a:gd name="adj" fmla="val 50000"/>
            </a:avLst>
          </a:prstGeom>
          <a:solidFill>
            <a:srgbClr val="FEF7E0"/>
          </a:solidFill>
          <a:ln/>
        </p:spPr>
      </p:sp>
      <p:sp>
        <p:nvSpPr>
          <p:cNvPr id="34" name="Text 32"/>
          <p:cNvSpPr txBox="1"/>
          <p:nvPr/>
        </p:nvSpPr>
        <p:spPr>
          <a:xfrm>
            <a:off x="2423160" y="4142232"/>
            <a:ext cx="1188720" cy="347472"/>
          </a:xfrm>
          <a:prstGeom prst="rect">
            <a:avLst/>
          </a:prstGeom>
          <a:noFill/>
          <a:ln/>
        </p:spPr>
        <p:txBody>
          <a:bodyPr wrap="square" lIns="0" tIns="0" rIns="0" bIns="0" rtlCol="0" anchor="ctr"/>
          <a:lstStyle/>
          <a:p>
            <a:pPr algn="ctr" indent="0" marL="0">
              <a:buNone/>
            </a:pPr>
            <a:r>
              <a:rPr lang="en-US" sz="1050" b="1" dirty="0">
                <a:solidFill>
                  <a:srgbClr val="B06000"/>
                </a:solidFill>
                <a:latin typeface="Arial" pitchFamily="34" charset="0"/>
                <a:ea typeface="Arial" pitchFamily="34" charset="-122"/>
                <a:cs typeface="Arial" pitchFamily="34" charset="-120"/>
              </a:rPr>
              <a:t>BigQuery GIS</a:t>
            </a:r>
            <a:endParaRPr lang="en-US" sz="1050" dirty="0"/>
          </a:p>
        </p:txBody>
      </p:sp>
      <p:sp>
        <p:nvSpPr>
          <p:cNvPr id="35" name="Shape 33"/>
          <p:cNvSpPr/>
          <p:nvPr/>
        </p:nvSpPr>
        <p:spPr>
          <a:xfrm>
            <a:off x="3703320" y="4142232"/>
            <a:ext cx="982980" cy="347472"/>
          </a:xfrm>
          <a:prstGeom prst="roundRect">
            <a:avLst>
              <a:gd name="adj" fmla="val 50000"/>
            </a:avLst>
          </a:prstGeom>
          <a:solidFill>
            <a:srgbClr val="FEF7E0"/>
          </a:solidFill>
          <a:ln/>
        </p:spPr>
      </p:sp>
      <p:sp>
        <p:nvSpPr>
          <p:cNvPr id="36" name="Text 34"/>
          <p:cNvSpPr txBox="1"/>
          <p:nvPr/>
        </p:nvSpPr>
        <p:spPr>
          <a:xfrm>
            <a:off x="3703320" y="4142232"/>
            <a:ext cx="982980" cy="347472"/>
          </a:xfrm>
          <a:prstGeom prst="rect">
            <a:avLst/>
          </a:prstGeom>
          <a:noFill/>
          <a:ln/>
        </p:spPr>
        <p:txBody>
          <a:bodyPr wrap="square" lIns="0" tIns="0" rIns="0" bIns="0" rtlCol="0" anchor="ctr"/>
          <a:lstStyle/>
          <a:p>
            <a:pPr algn="ctr" indent="0" marL="0">
              <a:buNone/>
            </a:pPr>
            <a:r>
              <a:rPr lang="en-US" sz="1050" b="1" dirty="0">
                <a:solidFill>
                  <a:srgbClr val="B06000"/>
                </a:solidFill>
                <a:latin typeface="Arial" pitchFamily="34" charset="0"/>
                <a:ea typeface="Arial" pitchFamily="34" charset="-122"/>
                <a:cs typeface="Arial" pitchFamily="34" charset="-120"/>
              </a:rPr>
              <a:t>Firestore</a:t>
            </a:r>
            <a:endParaRPr lang="en-US" sz="1050" dirty="0"/>
          </a:p>
        </p:txBody>
      </p:sp>
      <p:sp>
        <p:nvSpPr>
          <p:cNvPr id="37" name="Shape 35"/>
          <p:cNvSpPr/>
          <p:nvPr/>
        </p:nvSpPr>
        <p:spPr>
          <a:xfrm>
            <a:off x="4777740" y="4142232"/>
            <a:ext cx="1257300" cy="347472"/>
          </a:xfrm>
          <a:prstGeom prst="roundRect">
            <a:avLst>
              <a:gd name="adj" fmla="val 50000"/>
            </a:avLst>
          </a:prstGeom>
          <a:solidFill>
            <a:srgbClr val="FEF7E0"/>
          </a:solidFill>
          <a:ln/>
        </p:spPr>
      </p:sp>
      <p:sp>
        <p:nvSpPr>
          <p:cNvPr id="38" name="Text 36"/>
          <p:cNvSpPr txBox="1"/>
          <p:nvPr/>
        </p:nvSpPr>
        <p:spPr>
          <a:xfrm>
            <a:off x="4777740" y="4142232"/>
            <a:ext cx="1257300" cy="347472"/>
          </a:xfrm>
          <a:prstGeom prst="rect">
            <a:avLst/>
          </a:prstGeom>
          <a:noFill/>
          <a:ln/>
        </p:spPr>
        <p:txBody>
          <a:bodyPr wrap="square" lIns="0" tIns="0" rIns="0" bIns="0" rtlCol="0" anchor="ctr"/>
          <a:lstStyle/>
          <a:p>
            <a:pPr algn="ctr" indent="0" marL="0">
              <a:buNone/>
            </a:pPr>
            <a:r>
              <a:rPr lang="en-US" sz="1050" b="1" dirty="0">
                <a:solidFill>
                  <a:srgbClr val="B06000"/>
                </a:solidFill>
                <a:latin typeface="Arial" pitchFamily="34" charset="0"/>
                <a:ea typeface="Arial" pitchFamily="34" charset="-122"/>
                <a:cs typeface="Arial" pitchFamily="34" charset="-120"/>
              </a:rPr>
              <a:t>Cloud Storage</a:t>
            </a:r>
            <a:endParaRPr lang="en-US" sz="1050" dirty="0"/>
          </a:p>
        </p:txBody>
      </p:sp>
      <p:sp>
        <p:nvSpPr>
          <p:cNvPr id="39" name="Text 37"/>
          <p:cNvSpPr txBox="1"/>
          <p:nvPr/>
        </p:nvSpPr>
        <p:spPr>
          <a:xfrm>
            <a:off x="640080" y="4690872"/>
            <a:ext cx="1737360" cy="347472"/>
          </a:xfrm>
          <a:prstGeom prst="rect">
            <a:avLst/>
          </a:prstGeom>
          <a:noFill/>
          <a:ln/>
        </p:spPr>
        <p:txBody>
          <a:bodyPr wrap="square" lIns="0" tIns="0" rIns="0" bIns="0" rtlCol="0" anchor="ctr"/>
          <a:lstStyle/>
          <a:p>
            <a:pPr indent="0" marL="0">
              <a:buNone/>
            </a:pPr>
            <a:r>
              <a:rPr lang="en-US" sz="1150" b="1" spc="200" kern="0" dirty="0">
                <a:solidFill>
                  <a:srgbClr val="D93025"/>
                </a:solidFill>
                <a:latin typeface="Arial" pitchFamily="34" charset="0"/>
                <a:ea typeface="Arial" pitchFamily="34" charset="-122"/>
                <a:cs typeface="Arial" pitchFamily="34" charset="-120"/>
              </a:rPr>
              <a:t>ALERTS</a:t>
            </a:r>
            <a:endParaRPr lang="en-US" sz="1150" dirty="0"/>
          </a:p>
        </p:txBody>
      </p:sp>
      <p:sp>
        <p:nvSpPr>
          <p:cNvPr id="40" name="Shape 38"/>
          <p:cNvSpPr/>
          <p:nvPr/>
        </p:nvSpPr>
        <p:spPr>
          <a:xfrm>
            <a:off x="2423160" y="4690872"/>
            <a:ext cx="982980" cy="347472"/>
          </a:xfrm>
          <a:prstGeom prst="roundRect">
            <a:avLst>
              <a:gd name="adj" fmla="val 50000"/>
            </a:avLst>
          </a:prstGeom>
          <a:solidFill>
            <a:srgbClr val="FCE8E6"/>
          </a:solidFill>
          <a:ln/>
        </p:spPr>
      </p:sp>
      <p:sp>
        <p:nvSpPr>
          <p:cNvPr id="41" name="Text 39"/>
          <p:cNvSpPr txBox="1"/>
          <p:nvPr/>
        </p:nvSpPr>
        <p:spPr>
          <a:xfrm>
            <a:off x="2423160" y="4690872"/>
            <a:ext cx="982980" cy="347472"/>
          </a:xfrm>
          <a:prstGeom prst="rect">
            <a:avLst/>
          </a:prstGeom>
          <a:noFill/>
          <a:ln/>
        </p:spPr>
        <p:txBody>
          <a:bodyPr wrap="square" lIns="0" tIns="0" rIns="0" bIns="0" rtlCol="0" anchor="ctr"/>
          <a:lstStyle/>
          <a:p>
            <a:pPr algn="ctr" indent="0" marL="0">
              <a:buNone/>
            </a:pPr>
            <a:r>
              <a:rPr lang="en-US" sz="1050" b="1" dirty="0">
                <a:solidFill>
                  <a:srgbClr val="C5221F"/>
                </a:solidFill>
                <a:latin typeface="Arial" pitchFamily="34" charset="0"/>
                <a:ea typeface="Arial" pitchFamily="34" charset="-122"/>
                <a:cs typeface="Arial" pitchFamily="34" charset="-120"/>
              </a:rPr>
              <a:t>Gmail API</a:t>
            </a:r>
            <a:endParaRPr lang="en-US" sz="1050" dirty="0"/>
          </a:p>
        </p:txBody>
      </p:sp>
      <p:sp>
        <p:nvSpPr>
          <p:cNvPr id="42" name="Shape 40"/>
          <p:cNvSpPr/>
          <p:nvPr/>
        </p:nvSpPr>
        <p:spPr>
          <a:xfrm>
            <a:off x="3497580" y="4690872"/>
            <a:ext cx="1600200" cy="347472"/>
          </a:xfrm>
          <a:prstGeom prst="roundRect">
            <a:avLst>
              <a:gd name="adj" fmla="val 50000"/>
            </a:avLst>
          </a:prstGeom>
          <a:solidFill>
            <a:srgbClr val="FCE8E6"/>
          </a:solidFill>
          <a:ln/>
        </p:spPr>
      </p:sp>
      <p:sp>
        <p:nvSpPr>
          <p:cNvPr id="43" name="Text 41"/>
          <p:cNvSpPr txBox="1"/>
          <p:nvPr/>
        </p:nvSpPr>
        <p:spPr>
          <a:xfrm>
            <a:off x="3497580" y="4690872"/>
            <a:ext cx="1600200" cy="347472"/>
          </a:xfrm>
          <a:prstGeom prst="rect">
            <a:avLst/>
          </a:prstGeom>
          <a:noFill/>
          <a:ln/>
        </p:spPr>
        <p:txBody>
          <a:bodyPr wrap="square" lIns="0" tIns="0" rIns="0" bIns="0" rtlCol="0" anchor="ctr"/>
          <a:lstStyle/>
          <a:p>
            <a:pPr algn="ctr" indent="0" marL="0">
              <a:buNone/>
            </a:pPr>
            <a:r>
              <a:rPr lang="en-US" sz="1050" b="1" dirty="0">
                <a:solidFill>
                  <a:srgbClr val="C5221F"/>
                </a:solidFill>
                <a:latin typeface="Arial" pitchFamily="34" charset="0"/>
                <a:ea typeface="Arial" pitchFamily="34" charset="-122"/>
                <a:cs typeface="Arial" pitchFamily="34" charset="-120"/>
              </a:rPr>
              <a:t>Firebase Messaging</a:t>
            </a:r>
            <a:endParaRPr lang="en-US" sz="1050" dirty="0"/>
          </a:p>
        </p:txBody>
      </p:sp>
      <p:sp>
        <p:nvSpPr>
          <p:cNvPr id="44" name="Shape 42"/>
          <p:cNvSpPr/>
          <p:nvPr/>
        </p:nvSpPr>
        <p:spPr>
          <a:xfrm>
            <a:off x="5189220" y="4690872"/>
            <a:ext cx="1257300" cy="347472"/>
          </a:xfrm>
          <a:prstGeom prst="roundRect">
            <a:avLst>
              <a:gd name="adj" fmla="val 50000"/>
            </a:avLst>
          </a:prstGeom>
          <a:solidFill>
            <a:srgbClr val="FCE8E6"/>
          </a:solidFill>
          <a:ln/>
        </p:spPr>
      </p:sp>
      <p:sp>
        <p:nvSpPr>
          <p:cNvPr id="45" name="Text 43"/>
          <p:cNvSpPr txBox="1"/>
          <p:nvPr/>
        </p:nvSpPr>
        <p:spPr>
          <a:xfrm>
            <a:off x="5189220" y="4690872"/>
            <a:ext cx="1257300" cy="347472"/>
          </a:xfrm>
          <a:prstGeom prst="rect">
            <a:avLst/>
          </a:prstGeom>
          <a:noFill/>
          <a:ln/>
        </p:spPr>
        <p:txBody>
          <a:bodyPr wrap="square" lIns="0" tIns="0" rIns="0" bIns="0" rtlCol="0" anchor="ctr"/>
          <a:lstStyle/>
          <a:p>
            <a:pPr algn="ctr" indent="0" marL="0">
              <a:buNone/>
            </a:pPr>
            <a:r>
              <a:rPr lang="en-US" sz="1050" b="1" dirty="0">
                <a:solidFill>
                  <a:srgbClr val="C5221F"/>
                </a:solidFill>
                <a:latin typeface="Arial" pitchFamily="34" charset="0"/>
                <a:ea typeface="Arial" pitchFamily="34" charset="-122"/>
                <a:cs typeface="Arial" pitchFamily="34" charset="-120"/>
              </a:rPr>
              <a:t>Firebase Auth</a:t>
            </a:r>
            <a:endParaRPr lang="en-US" sz="1050" dirty="0"/>
          </a:p>
        </p:txBody>
      </p:sp>
      <p:sp>
        <p:nvSpPr>
          <p:cNvPr id="46" name="Text 44"/>
          <p:cNvSpPr txBox="1"/>
          <p:nvPr/>
        </p:nvSpPr>
        <p:spPr>
          <a:xfrm>
            <a:off x="640080" y="5239512"/>
            <a:ext cx="1737360" cy="347472"/>
          </a:xfrm>
          <a:prstGeom prst="rect">
            <a:avLst/>
          </a:prstGeom>
          <a:noFill/>
          <a:ln/>
        </p:spPr>
        <p:txBody>
          <a:bodyPr wrap="square" lIns="0" tIns="0" rIns="0" bIns="0" rtlCol="0" anchor="ctr"/>
          <a:lstStyle/>
          <a:p>
            <a:pPr indent="0" marL="0">
              <a:buNone/>
            </a:pPr>
            <a:r>
              <a:rPr lang="en-US" sz="1150" b="1" spc="200" kern="0" dirty="0">
                <a:solidFill>
                  <a:srgbClr val="1A73E8"/>
                </a:solidFill>
                <a:latin typeface="Arial" pitchFamily="34" charset="0"/>
                <a:ea typeface="Arial" pitchFamily="34" charset="-122"/>
                <a:cs typeface="Arial" pitchFamily="34" charset="-120"/>
              </a:rPr>
              <a:t>PLATFORM</a:t>
            </a:r>
            <a:endParaRPr lang="en-US" sz="1150" dirty="0"/>
          </a:p>
        </p:txBody>
      </p:sp>
      <p:sp>
        <p:nvSpPr>
          <p:cNvPr id="47" name="Shape 45"/>
          <p:cNvSpPr/>
          <p:nvPr/>
        </p:nvSpPr>
        <p:spPr>
          <a:xfrm>
            <a:off x="2423160" y="5239512"/>
            <a:ext cx="982980" cy="347472"/>
          </a:xfrm>
          <a:prstGeom prst="roundRect">
            <a:avLst>
              <a:gd name="adj" fmla="val 50000"/>
            </a:avLst>
          </a:prstGeom>
          <a:solidFill>
            <a:srgbClr val="E8F0FE"/>
          </a:solidFill>
          <a:ln/>
        </p:spPr>
      </p:sp>
      <p:sp>
        <p:nvSpPr>
          <p:cNvPr id="48" name="Text 46"/>
          <p:cNvSpPr txBox="1"/>
          <p:nvPr/>
        </p:nvSpPr>
        <p:spPr>
          <a:xfrm>
            <a:off x="2423160" y="5239512"/>
            <a:ext cx="9829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Cloud Run</a:t>
            </a:r>
            <a:endParaRPr lang="en-US" sz="1050" dirty="0"/>
          </a:p>
        </p:txBody>
      </p:sp>
      <p:sp>
        <p:nvSpPr>
          <p:cNvPr id="49" name="Shape 47"/>
          <p:cNvSpPr/>
          <p:nvPr/>
        </p:nvSpPr>
        <p:spPr>
          <a:xfrm>
            <a:off x="3497580" y="5239512"/>
            <a:ext cx="1394460" cy="347472"/>
          </a:xfrm>
          <a:prstGeom prst="roundRect">
            <a:avLst>
              <a:gd name="adj" fmla="val 50000"/>
            </a:avLst>
          </a:prstGeom>
          <a:solidFill>
            <a:srgbClr val="E8F0FE"/>
          </a:solidFill>
          <a:ln/>
        </p:spPr>
      </p:sp>
      <p:sp>
        <p:nvSpPr>
          <p:cNvPr id="50" name="Text 48"/>
          <p:cNvSpPr txBox="1"/>
          <p:nvPr/>
        </p:nvSpPr>
        <p:spPr>
          <a:xfrm>
            <a:off x="3497580" y="5239512"/>
            <a:ext cx="139446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Cloud Scheduler</a:t>
            </a:r>
            <a:endParaRPr lang="en-US" sz="1050" dirty="0"/>
          </a:p>
        </p:txBody>
      </p:sp>
      <p:sp>
        <p:nvSpPr>
          <p:cNvPr id="51" name="Shape 49"/>
          <p:cNvSpPr/>
          <p:nvPr/>
        </p:nvSpPr>
        <p:spPr>
          <a:xfrm>
            <a:off x="4983480" y="5239512"/>
            <a:ext cx="1325880" cy="347472"/>
          </a:xfrm>
          <a:prstGeom prst="roundRect">
            <a:avLst>
              <a:gd name="adj" fmla="val 50000"/>
            </a:avLst>
          </a:prstGeom>
          <a:solidFill>
            <a:srgbClr val="E8F0FE"/>
          </a:solidFill>
          <a:ln/>
        </p:spPr>
      </p:sp>
      <p:sp>
        <p:nvSpPr>
          <p:cNvPr id="52" name="Text 50"/>
          <p:cNvSpPr txBox="1"/>
          <p:nvPr/>
        </p:nvSpPr>
        <p:spPr>
          <a:xfrm>
            <a:off x="4983480" y="5239512"/>
            <a:ext cx="132588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Secret Manager</a:t>
            </a:r>
            <a:endParaRPr lang="en-US" sz="1050" dirty="0"/>
          </a:p>
        </p:txBody>
      </p:sp>
      <p:sp>
        <p:nvSpPr>
          <p:cNvPr id="53" name="Shape 51"/>
          <p:cNvSpPr/>
          <p:nvPr/>
        </p:nvSpPr>
        <p:spPr>
          <a:xfrm>
            <a:off x="6400800" y="5239512"/>
            <a:ext cx="1120140" cy="347472"/>
          </a:xfrm>
          <a:prstGeom prst="roundRect">
            <a:avLst>
              <a:gd name="adj" fmla="val 50000"/>
            </a:avLst>
          </a:prstGeom>
          <a:solidFill>
            <a:srgbClr val="E8F0FE"/>
          </a:solidFill>
          <a:ln/>
        </p:spPr>
      </p:sp>
      <p:sp>
        <p:nvSpPr>
          <p:cNvPr id="54" name="Text 52"/>
          <p:cNvSpPr txBox="1"/>
          <p:nvPr/>
        </p:nvSpPr>
        <p:spPr>
          <a:xfrm>
            <a:off x="6400800" y="5239512"/>
            <a:ext cx="112014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Cloud Build</a:t>
            </a:r>
            <a:endParaRPr lang="en-US" sz="1050" dirty="0"/>
          </a:p>
        </p:txBody>
      </p:sp>
      <p:sp>
        <p:nvSpPr>
          <p:cNvPr id="55" name="Shape 53"/>
          <p:cNvSpPr/>
          <p:nvPr/>
        </p:nvSpPr>
        <p:spPr>
          <a:xfrm>
            <a:off x="2423160" y="5660136"/>
            <a:ext cx="1531620" cy="347472"/>
          </a:xfrm>
          <a:prstGeom prst="roundRect">
            <a:avLst>
              <a:gd name="adj" fmla="val 50000"/>
            </a:avLst>
          </a:prstGeom>
          <a:solidFill>
            <a:srgbClr val="E8F0FE"/>
          </a:solidFill>
          <a:ln/>
        </p:spPr>
      </p:sp>
      <p:sp>
        <p:nvSpPr>
          <p:cNvPr id="56" name="Text 54"/>
          <p:cNvSpPr txBox="1"/>
          <p:nvPr/>
        </p:nvSpPr>
        <p:spPr>
          <a:xfrm>
            <a:off x="2423160" y="5660136"/>
            <a:ext cx="1531620" cy="347472"/>
          </a:xfrm>
          <a:prstGeom prst="rect">
            <a:avLst/>
          </a:prstGeom>
          <a:noFill/>
          <a:ln/>
        </p:spPr>
        <p:txBody>
          <a:bodyPr wrap="square" lIns="0" tIns="0" rIns="0" bIns="0" rtlCol="0" anchor="ctr"/>
          <a:lstStyle/>
          <a:p>
            <a:pPr algn="ctr" indent="0" marL="0">
              <a:buNone/>
            </a:pPr>
            <a:r>
              <a:rPr lang="en-US" sz="1050" b="1" dirty="0">
                <a:solidFill>
                  <a:srgbClr val="1967D2"/>
                </a:solidFill>
                <a:latin typeface="Arial" pitchFamily="34" charset="0"/>
                <a:ea typeface="Arial" pitchFamily="34" charset="-122"/>
                <a:cs typeface="Arial" pitchFamily="34" charset="-120"/>
              </a:rPr>
              <a:t>Artifact Registry</a:t>
            </a:r>
            <a:endParaRPr lang="en-US" sz="1050" dirty="0"/>
          </a:p>
        </p:txBody>
      </p:sp>
      <p:sp>
        <p:nvSpPr>
          <p:cNvPr id="57" name="Shape 55"/>
          <p:cNvSpPr/>
          <p:nvPr/>
        </p:nvSpPr>
        <p:spPr>
          <a:xfrm>
            <a:off x="8229600" y="1783080"/>
            <a:ext cx="3322015" cy="4343400"/>
          </a:xfrm>
          <a:prstGeom prst="roundRect">
            <a:avLst>
              <a:gd name="adj" fmla="val 4404"/>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pic>
        <p:nvPicPr>
          <p:cNvPr id="58" name="Image 0" descr="preencoded.png">    </p:cNvPr>
          <p:cNvPicPr>
            <a:picLocks noChangeAspect="1"/>
          </p:cNvPicPr>
          <p:nvPr/>
        </p:nvPicPr>
        <p:blipFill>
          <a:blip r:embed="rId2"/>
          <a:stretch>
            <a:fillRect/>
          </a:stretch>
        </p:blipFill>
        <p:spPr>
          <a:xfrm>
            <a:off x="8503920" y="2011680"/>
            <a:ext cx="457200" cy="457200"/>
          </a:xfrm>
          <a:prstGeom prst="rect">
            <a:avLst/>
          </a:prstGeom>
        </p:spPr>
      </p:pic>
      <p:sp>
        <p:nvSpPr>
          <p:cNvPr id="59" name="Text 56"/>
          <p:cNvSpPr txBox="1"/>
          <p:nvPr/>
        </p:nvSpPr>
        <p:spPr>
          <a:xfrm>
            <a:off x="9098280" y="2011680"/>
            <a:ext cx="2316175" cy="457200"/>
          </a:xfrm>
          <a:prstGeom prst="rect">
            <a:avLst/>
          </a:prstGeom>
          <a:noFill/>
          <a:ln/>
        </p:spPr>
        <p:txBody>
          <a:bodyPr wrap="square" lIns="0" tIns="0" rIns="0" bIns="0" rtlCol="0" anchor="ctr"/>
          <a:lstStyle/>
          <a:p>
            <a:pPr indent="0" marL="0">
              <a:buNone/>
            </a:pPr>
            <a:r>
              <a:rPr lang="en-US" sz="1700" b="1" dirty="0">
                <a:solidFill>
                  <a:srgbClr val="202124"/>
                </a:solidFill>
                <a:latin typeface="Arial" pitchFamily="34" charset="0"/>
                <a:ea typeface="Arial" pitchFamily="34" charset="-122"/>
                <a:cs typeface="Arial" pitchFamily="34" charset="-120"/>
              </a:rPr>
              <a:t>Live on Cloud Run</a:t>
            </a:r>
            <a:endParaRPr lang="en-US" sz="1700" dirty="0"/>
          </a:p>
        </p:txBody>
      </p:sp>
      <p:sp>
        <p:nvSpPr>
          <p:cNvPr id="60" name="Shape 57"/>
          <p:cNvSpPr/>
          <p:nvPr/>
        </p:nvSpPr>
        <p:spPr>
          <a:xfrm>
            <a:off x="8540496" y="2880360"/>
            <a:ext cx="118872" cy="118872"/>
          </a:xfrm>
          <a:prstGeom prst="ellipse">
            <a:avLst/>
          </a:prstGeom>
          <a:solidFill>
            <a:srgbClr val="1A73E8"/>
          </a:solidFill>
          <a:ln/>
        </p:spPr>
      </p:sp>
      <p:sp>
        <p:nvSpPr>
          <p:cNvPr id="61" name="Text 58"/>
          <p:cNvSpPr txBox="1"/>
          <p:nvPr/>
        </p:nvSpPr>
        <p:spPr>
          <a:xfrm>
            <a:off x="8823960" y="2788920"/>
            <a:ext cx="2544775" cy="301752"/>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One container</a:t>
            </a:r>
            <a:endParaRPr lang="en-US" sz="1350" dirty="0"/>
          </a:p>
        </p:txBody>
      </p:sp>
      <p:sp>
        <p:nvSpPr>
          <p:cNvPr id="62" name="Text 59"/>
          <p:cNvSpPr txBox="1"/>
          <p:nvPr/>
        </p:nvSpPr>
        <p:spPr>
          <a:xfrm>
            <a:off x="8823960" y="3090672"/>
            <a:ext cx="2544775" cy="301752"/>
          </a:xfrm>
          <a:prstGeom prst="rect">
            <a:avLst/>
          </a:prstGeom>
          <a:noFill/>
          <a:ln/>
        </p:spPr>
        <p:txBody>
          <a:bodyPr wrap="square" lIns="0" tIns="0" rIns="0" bIns="0" rtlCol="0" anchor="t"/>
          <a:lstStyle/>
          <a:p>
            <a:pPr indent="0" marL="0">
              <a:buNone/>
            </a:pPr>
            <a:r>
              <a:rPr lang="en-US" sz="1100" dirty="0">
                <a:solidFill>
                  <a:srgbClr val="4A5A78"/>
                </a:solidFill>
                <a:latin typeface="Arial" pitchFamily="34" charset="0"/>
                <a:ea typeface="Arial" pitchFamily="34" charset="-122"/>
                <a:cs typeface="Arial" pitchFamily="34" charset="-120"/>
              </a:rPr>
              <a:t>Scales to zero, scales out on a storm day</a:t>
            </a:r>
            <a:endParaRPr lang="en-US" sz="1100" dirty="0"/>
          </a:p>
        </p:txBody>
      </p:sp>
      <p:sp>
        <p:nvSpPr>
          <p:cNvPr id="63" name="Shape 60"/>
          <p:cNvSpPr/>
          <p:nvPr/>
        </p:nvSpPr>
        <p:spPr>
          <a:xfrm>
            <a:off x="8540496" y="3685032"/>
            <a:ext cx="118872" cy="118872"/>
          </a:xfrm>
          <a:prstGeom prst="ellipse">
            <a:avLst/>
          </a:prstGeom>
          <a:solidFill>
            <a:srgbClr val="1A73E8"/>
          </a:solidFill>
          <a:ln/>
        </p:spPr>
      </p:sp>
      <p:sp>
        <p:nvSpPr>
          <p:cNvPr id="64" name="Text 61"/>
          <p:cNvSpPr txBox="1"/>
          <p:nvPr/>
        </p:nvSpPr>
        <p:spPr>
          <a:xfrm>
            <a:off x="8823960" y="3593592"/>
            <a:ext cx="2544775" cy="301752"/>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Refreshes itself</a:t>
            </a:r>
            <a:endParaRPr lang="en-US" sz="1350" dirty="0"/>
          </a:p>
        </p:txBody>
      </p:sp>
      <p:sp>
        <p:nvSpPr>
          <p:cNvPr id="65" name="Text 62"/>
          <p:cNvSpPr txBox="1"/>
          <p:nvPr/>
        </p:nvSpPr>
        <p:spPr>
          <a:xfrm>
            <a:off x="8823960" y="3895344"/>
            <a:ext cx="2544775" cy="301752"/>
          </a:xfrm>
          <a:prstGeom prst="rect">
            <a:avLst/>
          </a:prstGeom>
          <a:noFill/>
          <a:ln/>
        </p:spPr>
        <p:txBody>
          <a:bodyPr wrap="square" lIns="0" tIns="0" rIns="0" bIns="0" rtlCol="0" anchor="t"/>
          <a:lstStyle/>
          <a:p>
            <a:pPr indent="0" marL="0">
              <a:buNone/>
            </a:pPr>
            <a:r>
              <a:rPr lang="en-US" sz="1100" dirty="0">
                <a:solidFill>
                  <a:srgbClr val="4A5A78"/>
                </a:solidFill>
                <a:latin typeface="Arial" pitchFamily="34" charset="0"/>
                <a:ea typeface="Arial" pitchFamily="34" charset="-122"/>
                <a:cs typeface="Arial" pitchFamily="34" charset="-120"/>
              </a:rPr>
              <a:t>Cloud Scheduler job every 3 hours</a:t>
            </a:r>
            <a:endParaRPr lang="en-US" sz="1100" dirty="0"/>
          </a:p>
        </p:txBody>
      </p:sp>
      <p:sp>
        <p:nvSpPr>
          <p:cNvPr id="66" name="Shape 63"/>
          <p:cNvSpPr/>
          <p:nvPr/>
        </p:nvSpPr>
        <p:spPr>
          <a:xfrm>
            <a:off x="8540496" y="4489704"/>
            <a:ext cx="118872" cy="118872"/>
          </a:xfrm>
          <a:prstGeom prst="ellipse">
            <a:avLst/>
          </a:prstGeom>
          <a:solidFill>
            <a:srgbClr val="1A73E8"/>
          </a:solidFill>
          <a:ln/>
        </p:spPr>
      </p:sp>
      <p:sp>
        <p:nvSpPr>
          <p:cNvPr id="67" name="Text 64"/>
          <p:cNvSpPr txBox="1"/>
          <p:nvPr/>
        </p:nvSpPr>
        <p:spPr>
          <a:xfrm>
            <a:off x="8823960" y="4398264"/>
            <a:ext cx="2544775" cy="301752"/>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Keys stay secret</a:t>
            </a:r>
            <a:endParaRPr lang="en-US" sz="1350" dirty="0"/>
          </a:p>
        </p:txBody>
      </p:sp>
      <p:sp>
        <p:nvSpPr>
          <p:cNvPr id="68" name="Text 65"/>
          <p:cNvSpPr txBox="1"/>
          <p:nvPr/>
        </p:nvSpPr>
        <p:spPr>
          <a:xfrm>
            <a:off x="8823960" y="4700016"/>
            <a:ext cx="2544775" cy="301752"/>
          </a:xfrm>
          <a:prstGeom prst="rect">
            <a:avLst/>
          </a:prstGeom>
          <a:noFill/>
          <a:ln/>
        </p:spPr>
        <p:txBody>
          <a:bodyPr wrap="square" lIns="0" tIns="0" rIns="0" bIns="0" rtlCol="0" anchor="t"/>
          <a:lstStyle/>
          <a:p>
            <a:pPr indent="0" marL="0">
              <a:buNone/>
            </a:pPr>
            <a:r>
              <a:rPr lang="en-US" sz="1100" dirty="0">
                <a:solidFill>
                  <a:srgbClr val="4A5A78"/>
                </a:solidFill>
                <a:latin typeface="Arial" pitchFamily="34" charset="0"/>
                <a:ea typeface="Arial" pitchFamily="34" charset="-122"/>
                <a:cs typeface="Arial" pitchFamily="34" charset="-120"/>
              </a:rPr>
              <a:t>Secret Manager, dedicated service account</a:t>
            </a:r>
            <a:endParaRPr lang="en-US" sz="1100" dirty="0"/>
          </a:p>
        </p:txBody>
      </p:sp>
      <p:sp>
        <p:nvSpPr>
          <p:cNvPr id="69" name="Shape 66"/>
          <p:cNvSpPr/>
          <p:nvPr/>
        </p:nvSpPr>
        <p:spPr>
          <a:xfrm>
            <a:off x="8540496" y="5294376"/>
            <a:ext cx="118872" cy="118872"/>
          </a:xfrm>
          <a:prstGeom prst="ellipse">
            <a:avLst/>
          </a:prstGeom>
          <a:solidFill>
            <a:srgbClr val="1A73E8"/>
          </a:solidFill>
          <a:ln/>
        </p:spPr>
      </p:sp>
      <p:sp>
        <p:nvSpPr>
          <p:cNvPr id="70" name="Text 67"/>
          <p:cNvSpPr txBox="1"/>
          <p:nvPr/>
        </p:nvSpPr>
        <p:spPr>
          <a:xfrm>
            <a:off x="8823960" y="5202936"/>
            <a:ext cx="2544775" cy="301752"/>
          </a:xfrm>
          <a:prstGeom prst="rect">
            <a:avLst/>
          </a:prstGeom>
          <a:noFill/>
          <a:ln/>
        </p:spPr>
        <p:txBody>
          <a:bodyPr wrap="square" lIns="0" tIns="0" rIns="0" bIns="0" rtlCol="0" anchor="t"/>
          <a:lstStyle/>
          <a:p>
            <a:pPr indent="0" marL="0">
              <a:buNone/>
            </a:pPr>
            <a:r>
              <a:rPr lang="en-US" sz="1350" b="1" dirty="0">
                <a:solidFill>
                  <a:srgbClr val="202124"/>
                </a:solidFill>
                <a:latin typeface="Arial" pitchFamily="34" charset="0"/>
                <a:ea typeface="Arial" pitchFamily="34" charset="-122"/>
                <a:cs typeface="Arial" pitchFamily="34" charset="-120"/>
              </a:rPr>
              <a:t>New state = config file</a:t>
            </a:r>
            <a:endParaRPr lang="en-US" sz="1350" dirty="0"/>
          </a:p>
        </p:txBody>
      </p:sp>
      <p:sp>
        <p:nvSpPr>
          <p:cNvPr id="71" name="Text 68"/>
          <p:cNvSpPr txBox="1"/>
          <p:nvPr/>
        </p:nvSpPr>
        <p:spPr>
          <a:xfrm>
            <a:off x="8823960" y="5504688"/>
            <a:ext cx="2544775" cy="301752"/>
          </a:xfrm>
          <a:prstGeom prst="rect">
            <a:avLst/>
          </a:prstGeom>
          <a:noFill/>
          <a:ln/>
        </p:spPr>
        <p:txBody>
          <a:bodyPr wrap="square" lIns="0" tIns="0" rIns="0" bIns="0" rtlCol="0" anchor="t"/>
          <a:lstStyle/>
          <a:p>
            <a:pPr indent="0" marL="0">
              <a:buNone/>
            </a:pPr>
            <a:r>
              <a:rPr lang="en-US" sz="1100" dirty="0">
                <a:solidFill>
                  <a:srgbClr val="4A5A78"/>
                </a:solidFill>
                <a:latin typeface="Arial" pitchFamily="34" charset="0"/>
                <a:ea typeface="Arial" pitchFamily="34" charset="-122"/>
                <a:cs typeface="Arial" pitchFamily="34" charset="-120"/>
              </a:rPr>
              <a:t>Same app, models and agents</a:t>
            </a:r>
            <a:endParaRPr lang="en-US" sz="1100" dirty="0"/>
          </a:p>
        </p:txBody>
      </p:sp>
      <p:sp>
        <p:nvSpPr>
          <p:cNvPr id="72" name="Shape 69"/>
          <p:cNvSpPr/>
          <p:nvPr/>
        </p:nvSpPr>
        <p:spPr>
          <a:xfrm>
            <a:off x="640080" y="6473952"/>
            <a:ext cx="82296" cy="82296"/>
          </a:xfrm>
          <a:prstGeom prst="ellipse">
            <a:avLst/>
          </a:prstGeom>
          <a:solidFill>
            <a:srgbClr val="1A73E8"/>
          </a:solidFill>
          <a:ln/>
        </p:spPr>
      </p:sp>
      <p:sp>
        <p:nvSpPr>
          <p:cNvPr id="73" name="Shape 70"/>
          <p:cNvSpPr/>
          <p:nvPr/>
        </p:nvSpPr>
        <p:spPr>
          <a:xfrm>
            <a:off x="768096" y="6473952"/>
            <a:ext cx="82296" cy="82296"/>
          </a:xfrm>
          <a:prstGeom prst="ellipse">
            <a:avLst/>
          </a:prstGeom>
          <a:solidFill>
            <a:srgbClr val="EA4335"/>
          </a:solidFill>
          <a:ln/>
        </p:spPr>
      </p:sp>
      <p:sp>
        <p:nvSpPr>
          <p:cNvPr id="74" name="Shape 71"/>
          <p:cNvSpPr/>
          <p:nvPr/>
        </p:nvSpPr>
        <p:spPr>
          <a:xfrm>
            <a:off x="896112" y="6473952"/>
            <a:ext cx="82296" cy="82296"/>
          </a:xfrm>
          <a:prstGeom prst="ellipse">
            <a:avLst/>
          </a:prstGeom>
          <a:solidFill>
            <a:srgbClr val="FBBC04"/>
          </a:solidFill>
          <a:ln/>
        </p:spPr>
      </p:sp>
      <p:sp>
        <p:nvSpPr>
          <p:cNvPr id="75" name="Shape 72"/>
          <p:cNvSpPr/>
          <p:nvPr/>
        </p:nvSpPr>
        <p:spPr>
          <a:xfrm>
            <a:off x="1024128" y="6473952"/>
            <a:ext cx="82296" cy="82296"/>
          </a:xfrm>
          <a:prstGeom prst="ellipse">
            <a:avLst/>
          </a:prstGeom>
          <a:solidFill>
            <a:srgbClr val="34A853"/>
          </a:solidFill>
          <a:ln/>
        </p:spPr>
      </p:sp>
      <p:sp>
        <p:nvSpPr>
          <p:cNvPr id="76" name="Text 73"/>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77" name="Text 74"/>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WHAT’S NEXT</a:t>
            </a:r>
            <a:endParaRPr lang="en-US" sz="1300" dirty="0"/>
          </a:p>
        </p:txBody>
      </p:sp>
      <p:sp>
        <p:nvSpPr>
          <p:cNvPr id="3" name="Text 1"/>
          <p:cNvSpPr txBox="1"/>
          <p:nvPr/>
        </p:nvSpPr>
        <p:spPr>
          <a:xfrm>
            <a:off x="640080" y="868680"/>
            <a:ext cx="10911535" cy="960120"/>
          </a:xfrm>
          <a:prstGeom prst="rect">
            <a:avLst/>
          </a:prstGeom>
          <a:noFill/>
          <a:ln/>
        </p:spPr>
        <p:txBody>
          <a:bodyPr wrap="square" lIns="0" tIns="0" rIns="0" bIns="0" rtlCol="0" anchor="t"/>
          <a:lstStyle/>
          <a:p>
            <a:pPr indent="0" marL="0">
              <a:buNone/>
            </a:pPr>
            <a:r>
              <a:rPr lang="en-US" sz="3000" b="1" dirty="0">
                <a:solidFill>
                  <a:srgbClr val="202124"/>
                </a:solidFill>
                <a:latin typeface="Arial" pitchFamily="34" charset="0"/>
                <a:ea typeface="Arial" pitchFamily="34" charset="-122"/>
                <a:cs typeface="Arial" pitchFamily="34" charset="-120"/>
              </a:rPr>
              <a:t>From the control room to every coastal home.</a:t>
            </a:r>
            <a:endParaRPr lang="en-US" sz="3000" dirty="0"/>
          </a:p>
        </p:txBody>
      </p:sp>
      <p:sp>
        <p:nvSpPr>
          <p:cNvPr id="4" name="Shape 2"/>
          <p:cNvSpPr/>
          <p:nvPr/>
        </p:nvSpPr>
        <p:spPr>
          <a:xfrm>
            <a:off x="640080" y="1920240"/>
            <a:ext cx="3454298" cy="1874520"/>
          </a:xfrm>
          <a:prstGeom prst="roundRect">
            <a:avLst>
              <a:gd name="adj" fmla="val 8780"/>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5" name="Shape 3"/>
          <p:cNvSpPr/>
          <p:nvPr/>
        </p:nvSpPr>
        <p:spPr>
          <a:xfrm>
            <a:off x="960120" y="2267712"/>
            <a:ext cx="201168" cy="201168"/>
          </a:xfrm>
          <a:prstGeom prst="ellipse">
            <a:avLst/>
          </a:prstGeom>
          <a:solidFill>
            <a:srgbClr val="1A73E8"/>
          </a:solidFill>
          <a:ln/>
        </p:spPr>
      </p:sp>
      <p:sp>
        <p:nvSpPr>
          <p:cNvPr id="6" name="Text 4"/>
          <p:cNvSpPr txBox="1"/>
          <p:nvPr/>
        </p:nvSpPr>
        <p:spPr>
          <a:xfrm>
            <a:off x="960120" y="260604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A citizen app</a:t>
            </a:r>
            <a:endParaRPr lang="en-US" sz="1900" dirty="0"/>
          </a:p>
        </p:txBody>
      </p:sp>
      <p:sp>
        <p:nvSpPr>
          <p:cNvPr id="7" name="Text 5"/>
          <p:cNvSpPr txBox="1"/>
          <p:nvPr/>
        </p:nvSpPr>
        <p:spPr>
          <a:xfrm>
            <a:off x="960120" y="303580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“Am I at risk?” in my language, the nearest safe shelter and a lower-risk route.</a:t>
            </a:r>
            <a:endParaRPr lang="en-US" sz="1300" dirty="0"/>
          </a:p>
        </p:txBody>
      </p:sp>
      <p:sp>
        <p:nvSpPr>
          <p:cNvPr id="8" name="Shape 6"/>
          <p:cNvSpPr/>
          <p:nvPr/>
        </p:nvSpPr>
        <p:spPr>
          <a:xfrm>
            <a:off x="4368698" y="1920240"/>
            <a:ext cx="3454298" cy="1874520"/>
          </a:xfrm>
          <a:prstGeom prst="roundRect">
            <a:avLst>
              <a:gd name="adj" fmla="val 8780"/>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9" name="Shape 7"/>
          <p:cNvSpPr/>
          <p:nvPr/>
        </p:nvSpPr>
        <p:spPr>
          <a:xfrm>
            <a:off x="4688738" y="2267712"/>
            <a:ext cx="201168" cy="201168"/>
          </a:xfrm>
          <a:prstGeom prst="ellipse">
            <a:avLst/>
          </a:prstGeom>
          <a:solidFill>
            <a:srgbClr val="EA4335"/>
          </a:solidFill>
          <a:ln/>
        </p:spPr>
      </p:sp>
      <p:sp>
        <p:nvSpPr>
          <p:cNvPr id="10" name="Text 8"/>
          <p:cNvSpPr txBox="1"/>
          <p:nvPr/>
        </p:nvSpPr>
        <p:spPr>
          <a:xfrm>
            <a:off x="4688738" y="260604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Cascading failures</a:t>
            </a:r>
            <a:endParaRPr lang="en-US" sz="1900" dirty="0"/>
          </a:p>
        </p:txBody>
      </p:sp>
      <p:sp>
        <p:nvSpPr>
          <p:cNvPr id="11" name="Text 9"/>
          <p:cNvSpPr txBox="1"/>
          <p:nvPr/>
        </p:nvSpPr>
        <p:spPr>
          <a:xfrm>
            <a:off x="4688738" y="303580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Which hospitals lose power or water when a substation floods.</a:t>
            </a:r>
            <a:endParaRPr lang="en-US" sz="1300" dirty="0"/>
          </a:p>
        </p:txBody>
      </p:sp>
      <p:sp>
        <p:nvSpPr>
          <p:cNvPr id="12" name="Shape 10"/>
          <p:cNvSpPr/>
          <p:nvPr/>
        </p:nvSpPr>
        <p:spPr>
          <a:xfrm>
            <a:off x="8097317" y="1920240"/>
            <a:ext cx="3454298" cy="1874520"/>
          </a:xfrm>
          <a:prstGeom prst="roundRect">
            <a:avLst>
              <a:gd name="adj" fmla="val 8780"/>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3" name="Shape 11"/>
          <p:cNvSpPr/>
          <p:nvPr/>
        </p:nvSpPr>
        <p:spPr>
          <a:xfrm>
            <a:off x="8417357" y="2267712"/>
            <a:ext cx="201168" cy="201168"/>
          </a:xfrm>
          <a:prstGeom prst="ellipse">
            <a:avLst/>
          </a:prstGeom>
          <a:solidFill>
            <a:srgbClr val="FBBC04"/>
          </a:solidFill>
          <a:ln/>
        </p:spPr>
      </p:sp>
      <p:sp>
        <p:nvSpPr>
          <p:cNvPr id="14" name="Text 12"/>
          <p:cNvSpPr txBox="1"/>
          <p:nvPr/>
        </p:nvSpPr>
        <p:spPr>
          <a:xfrm>
            <a:off x="8417357" y="260604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Every phone</a:t>
            </a:r>
            <a:endParaRPr lang="en-US" sz="1900" dirty="0"/>
          </a:p>
        </p:txBody>
      </p:sp>
      <p:sp>
        <p:nvSpPr>
          <p:cNvPr id="15" name="Text 13"/>
          <p:cNvSpPr txBox="1"/>
          <p:nvPr/>
        </p:nvSpPr>
        <p:spPr>
          <a:xfrm>
            <a:off x="8417357" y="303580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Approved alerts sent through NDMA’s SACHET platform for cell broadcast.</a:t>
            </a:r>
            <a:endParaRPr lang="en-US" sz="1300" dirty="0"/>
          </a:p>
        </p:txBody>
      </p:sp>
      <p:sp>
        <p:nvSpPr>
          <p:cNvPr id="16" name="Shape 14"/>
          <p:cNvSpPr/>
          <p:nvPr/>
        </p:nvSpPr>
        <p:spPr>
          <a:xfrm>
            <a:off x="640080" y="4069080"/>
            <a:ext cx="3454298" cy="1874520"/>
          </a:xfrm>
          <a:prstGeom prst="roundRect">
            <a:avLst>
              <a:gd name="adj" fmla="val 8780"/>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17" name="Shape 15"/>
          <p:cNvSpPr/>
          <p:nvPr/>
        </p:nvSpPr>
        <p:spPr>
          <a:xfrm>
            <a:off x="960120" y="4416552"/>
            <a:ext cx="201168" cy="201168"/>
          </a:xfrm>
          <a:prstGeom prst="ellipse">
            <a:avLst/>
          </a:prstGeom>
          <a:solidFill>
            <a:srgbClr val="34A853"/>
          </a:solidFill>
          <a:ln/>
        </p:spPr>
      </p:sp>
      <p:sp>
        <p:nvSpPr>
          <p:cNvPr id="18" name="Text 16"/>
          <p:cNvSpPr txBox="1"/>
          <p:nvPr/>
        </p:nvSpPr>
        <p:spPr>
          <a:xfrm>
            <a:off x="960120" y="475488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Voice for villages</a:t>
            </a:r>
            <a:endParaRPr lang="en-US" sz="1900" dirty="0"/>
          </a:p>
        </p:txBody>
      </p:sp>
      <p:sp>
        <p:nvSpPr>
          <p:cNvPr id="19" name="Text 17"/>
          <p:cNvSpPr txBox="1"/>
          <p:nvPr/>
        </p:nvSpPr>
        <p:spPr>
          <a:xfrm>
            <a:off x="960120" y="518464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Officers call in and ask Gemini Live in Tamil, Telugu or Odia.</a:t>
            </a:r>
            <a:endParaRPr lang="en-US" sz="1300" dirty="0"/>
          </a:p>
        </p:txBody>
      </p:sp>
      <p:sp>
        <p:nvSpPr>
          <p:cNvPr id="20" name="Shape 18"/>
          <p:cNvSpPr/>
          <p:nvPr/>
        </p:nvSpPr>
        <p:spPr>
          <a:xfrm>
            <a:off x="4368698" y="4069080"/>
            <a:ext cx="3454298" cy="1874520"/>
          </a:xfrm>
          <a:prstGeom prst="roundRect">
            <a:avLst>
              <a:gd name="adj" fmla="val 8780"/>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1" name="Shape 19"/>
          <p:cNvSpPr/>
          <p:nvPr/>
        </p:nvSpPr>
        <p:spPr>
          <a:xfrm>
            <a:off x="4688738" y="4416552"/>
            <a:ext cx="201168" cy="201168"/>
          </a:xfrm>
          <a:prstGeom prst="ellipse">
            <a:avLst/>
          </a:prstGeom>
          <a:solidFill>
            <a:srgbClr val="1A73E8"/>
          </a:solidFill>
          <a:ln/>
        </p:spPr>
      </p:sp>
      <p:sp>
        <p:nvSpPr>
          <p:cNvPr id="22" name="Text 20"/>
          <p:cNvSpPr txBox="1"/>
          <p:nvPr/>
        </p:nvSpPr>
        <p:spPr>
          <a:xfrm>
            <a:off x="4688738" y="475488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Money before landfall</a:t>
            </a:r>
            <a:endParaRPr lang="en-US" sz="1900" dirty="0"/>
          </a:p>
        </p:txBody>
      </p:sp>
      <p:sp>
        <p:nvSpPr>
          <p:cNvPr id="23" name="Text 21"/>
          <p:cNvSpPr txBox="1"/>
          <p:nvPr/>
        </p:nvSpPr>
        <p:spPr>
          <a:xfrm>
            <a:off x="4688738" y="518464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Parametric triggers release relief funds before the storm hits.</a:t>
            </a:r>
            <a:endParaRPr lang="en-US" sz="1300" dirty="0"/>
          </a:p>
        </p:txBody>
      </p:sp>
      <p:sp>
        <p:nvSpPr>
          <p:cNvPr id="24" name="Shape 22"/>
          <p:cNvSpPr/>
          <p:nvPr/>
        </p:nvSpPr>
        <p:spPr>
          <a:xfrm>
            <a:off x="8097317" y="4069080"/>
            <a:ext cx="3454298" cy="1874520"/>
          </a:xfrm>
          <a:prstGeom prst="roundRect">
            <a:avLst>
              <a:gd name="adj" fmla="val 8780"/>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sp>
        <p:nvSpPr>
          <p:cNvPr id="25" name="Shape 23"/>
          <p:cNvSpPr/>
          <p:nvPr/>
        </p:nvSpPr>
        <p:spPr>
          <a:xfrm>
            <a:off x="8417357" y="4416552"/>
            <a:ext cx="201168" cy="201168"/>
          </a:xfrm>
          <a:prstGeom prst="ellipse">
            <a:avLst/>
          </a:prstGeom>
          <a:solidFill>
            <a:srgbClr val="EA4335"/>
          </a:solidFill>
          <a:ln/>
        </p:spPr>
      </p:sp>
      <p:sp>
        <p:nvSpPr>
          <p:cNvPr id="26" name="Text 24"/>
          <p:cNvSpPr txBox="1"/>
          <p:nvPr/>
        </p:nvSpPr>
        <p:spPr>
          <a:xfrm>
            <a:off x="8417357" y="4754880"/>
            <a:ext cx="2814218" cy="411480"/>
          </a:xfrm>
          <a:prstGeom prst="rect">
            <a:avLst/>
          </a:prstGeom>
          <a:noFill/>
          <a:ln/>
        </p:spPr>
        <p:txBody>
          <a:bodyPr wrap="square" lIns="0" tIns="0" rIns="0" bIns="0" rtlCol="0" anchor="t"/>
          <a:lstStyle/>
          <a:p>
            <a:pPr indent="0" marL="0">
              <a:buNone/>
            </a:pPr>
            <a:r>
              <a:rPr lang="en-US" sz="1900" b="1" dirty="0">
                <a:solidFill>
                  <a:srgbClr val="202124"/>
                </a:solidFill>
                <a:latin typeface="Arial" pitchFamily="34" charset="0"/>
                <a:ea typeface="Arial" pitchFamily="34" charset="-122"/>
                <a:cs typeface="Arial" pitchFamily="34" charset="-120"/>
              </a:rPr>
              <a:t>Learns every storm</a:t>
            </a:r>
            <a:endParaRPr lang="en-US" sz="1900" dirty="0"/>
          </a:p>
        </p:txBody>
      </p:sp>
      <p:sp>
        <p:nvSpPr>
          <p:cNvPr id="27" name="Text 25"/>
          <p:cNvSpPr txBox="1"/>
          <p:nvPr/>
        </p:nvSpPr>
        <p:spPr>
          <a:xfrm>
            <a:off x="8417357" y="5184648"/>
            <a:ext cx="2814218" cy="68580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Satellite flood maps retune the model after each event.</a:t>
            </a:r>
            <a:endParaRPr lang="en-US" sz="1300" dirty="0"/>
          </a:p>
        </p:txBody>
      </p:sp>
      <p:sp>
        <p:nvSpPr>
          <p:cNvPr id="28" name="Shape 26"/>
          <p:cNvSpPr/>
          <p:nvPr/>
        </p:nvSpPr>
        <p:spPr>
          <a:xfrm>
            <a:off x="640080" y="6473952"/>
            <a:ext cx="82296" cy="82296"/>
          </a:xfrm>
          <a:prstGeom prst="ellipse">
            <a:avLst/>
          </a:prstGeom>
          <a:solidFill>
            <a:srgbClr val="1A73E8"/>
          </a:solidFill>
          <a:ln/>
        </p:spPr>
      </p:sp>
      <p:sp>
        <p:nvSpPr>
          <p:cNvPr id="29" name="Shape 27"/>
          <p:cNvSpPr/>
          <p:nvPr/>
        </p:nvSpPr>
        <p:spPr>
          <a:xfrm>
            <a:off x="768096" y="6473952"/>
            <a:ext cx="82296" cy="82296"/>
          </a:xfrm>
          <a:prstGeom prst="ellipse">
            <a:avLst/>
          </a:prstGeom>
          <a:solidFill>
            <a:srgbClr val="EA4335"/>
          </a:solidFill>
          <a:ln/>
        </p:spPr>
      </p:sp>
      <p:sp>
        <p:nvSpPr>
          <p:cNvPr id="30" name="Shape 28"/>
          <p:cNvSpPr/>
          <p:nvPr/>
        </p:nvSpPr>
        <p:spPr>
          <a:xfrm>
            <a:off x="896112" y="6473952"/>
            <a:ext cx="82296" cy="82296"/>
          </a:xfrm>
          <a:prstGeom prst="ellipse">
            <a:avLst/>
          </a:prstGeom>
          <a:solidFill>
            <a:srgbClr val="FBBC04"/>
          </a:solidFill>
          <a:ln/>
        </p:spPr>
      </p:sp>
      <p:sp>
        <p:nvSpPr>
          <p:cNvPr id="31" name="Shape 29"/>
          <p:cNvSpPr/>
          <p:nvPr/>
        </p:nvSpPr>
        <p:spPr>
          <a:xfrm>
            <a:off x="1024128" y="6473952"/>
            <a:ext cx="82296" cy="82296"/>
          </a:xfrm>
          <a:prstGeom prst="ellipse">
            <a:avLst/>
          </a:prstGeom>
          <a:solidFill>
            <a:srgbClr val="34A853"/>
          </a:solidFill>
          <a:ln/>
        </p:spPr>
      </p:sp>
      <p:sp>
        <p:nvSpPr>
          <p:cNvPr id="32" name="Text 30"/>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33" name="Text 31"/>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4572000" cy="292608"/>
          </a:xfrm>
          <a:prstGeom prst="rect">
            <a:avLst/>
          </a:prstGeom>
          <a:noFill/>
          <a:ln/>
        </p:spPr>
        <p:txBody>
          <a:bodyPr wrap="square" lIns="0" tIns="0" rIns="0" bIns="0" rtlCol="0" anchor="t"/>
          <a:lstStyle/>
          <a:p>
            <a:pPr indent="0" marL="0">
              <a:buNone/>
            </a:pPr>
            <a:r>
              <a:rPr lang="en-US" sz="1300" b="1" spc="400" kern="0" dirty="0">
                <a:solidFill>
                  <a:srgbClr val="4A5A78"/>
                </a:solidFill>
                <a:latin typeface="Arial" pitchFamily="34" charset="0"/>
                <a:ea typeface="Arial" pitchFamily="34" charset="-122"/>
                <a:cs typeface="Arial" pitchFamily="34" charset="-120"/>
              </a:rPr>
              <a:t>WHY IT MATTERS</a:t>
            </a:r>
            <a:endParaRPr lang="en-US" sz="1300" dirty="0"/>
          </a:p>
        </p:txBody>
      </p:sp>
      <p:sp>
        <p:nvSpPr>
          <p:cNvPr id="3" name="Text 1"/>
          <p:cNvSpPr txBox="1"/>
          <p:nvPr/>
        </p:nvSpPr>
        <p:spPr>
          <a:xfrm>
            <a:off x="640080" y="868680"/>
            <a:ext cx="6858000" cy="1554480"/>
          </a:xfrm>
          <a:prstGeom prst="rect">
            <a:avLst/>
          </a:prstGeom>
          <a:noFill/>
          <a:ln/>
        </p:spPr>
        <p:txBody>
          <a:bodyPr wrap="square" lIns="0" tIns="0" rIns="0" bIns="0" rtlCol="0" anchor="t"/>
          <a:lstStyle/>
          <a:p>
            <a:pPr indent="0" marL="0">
              <a:buNone/>
            </a:pPr>
            <a:r>
              <a:rPr lang="en-US" sz="4400" b="1" dirty="0">
                <a:solidFill>
                  <a:srgbClr val="202124"/>
                </a:solidFill>
                <a:latin typeface="Arial" pitchFamily="34" charset="0"/>
                <a:ea typeface="Arial" pitchFamily="34" charset="-122"/>
                <a:cs typeface="Arial" pitchFamily="34" charset="-120"/>
              </a:rPr>
              <a:t>Forecasts into action,</a:t>
            </a:r>
            <a:endParaRPr lang="en-US" sz="4400" dirty="0"/>
          </a:p>
          <a:p>
            <a:pPr indent="0" marL="0">
              <a:buNone/>
            </a:pPr>
            <a:r>
              <a:rPr lang="en-US" sz="4400" b="1" dirty="0">
                <a:solidFill>
                  <a:srgbClr val="202124"/>
                </a:solidFill>
                <a:latin typeface="Arial" pitchFamily="34" charset="0"/>
                <a:ea typeface="Arial" pitchFamily="34" charset="-122"/>
                <a:cs typeface="Arial" pitchFamily="34" charset="-120"/>
              </a:rPr>
              <a:t>before landfall.</a:t>
            </a:r>
            <a:endParaRPr lang="en-US" sz="4400" dirty="0"/>
          </a:p>
        </p:txBody>
      </p:sp>
      <p:sp>
        <p:nvSpPr>
          <p:cNvPr id="4" name="Shape 2"/>
          <p:cNvSpPr/>
          <p:nvPr/>
        </p:nvSpPr>
        <p:spPr>
          <a:xfrm>
            <a:off x="640080" y="2788920"/>
            <a:ext cx="566928" cy="566928"/>
          </a:xfrm>
          <a:prstGeom prst="ellipse">
            <a:avLst/>
          </a:prstGeom>
          <a:solidFill>
            <a:srgbClr val="FFFFFF"/>
          </a:solidFill>
          <a:ln w="9525">
            <a:solidFill>
              <a:srgbClr val="DADCE0"/>
            </a:solidFill>
            <a:prstDash val="solid"/>
          </a:ln>
        </p:spPr>
      </p:sp>
      <p:pic>
        <p:nvPicPr>
          <p:cNvPr id="5" name="Image 0" descr="preencoded.png">    </p:cNvPr>
          <p:cNvPicPr>
            <a:picLocks noChangeAspect="1"/>
          </p:cNvPicPr>
          <p:nvPr/>
        </p:nvPicPr>
        <p:blipFill>
          <a:blip r:embed="rId2"/>
          <a:stretch>
            <a:fillRect/>
          </a:stretch>
        </p:blipFill>
        <p:spPr>
          <a:xfrm>
            <a:off x="776143" y="2924983"/>
            <a:ext cx="294803" cy="294803"/>
          </a:xfrm>
          <a:prstGeom prst="rect">
            <a:avLst/>
          </a:prstGeom>
        </p:spPr>
      </p:pic>
      <p:sp>
        <p:nvSpPr>
          <p:cNvPr id="6" name="Text 3"/>
          <p:cNvSpPr txBox="1"/>
          <p:nvPr/>
        </p:nvSpPr>
        <p:spPr>
          <a:xfrm>
            <a:off x="1417320" y="2770632"/>
            <a:ext cx="5760720" cy="310896"/>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District Collectors</a:t>
            </a:r>
            <a:endParaRPr lang="en-US" sz="1600" dirty="0"/>
          </a:p>
        </p:txBody>
      </p:sp>
      <p:sp>
        <p:nvSpPr>
          <p:cNvPr id="7" name="Text 4"/>
          <p:cNvSpPr txBox="1"/>
          <p:nvPr/>
        </p:nvSpPr>
        <p:spPr>
          <a:xfrm>
            <a:off x="1417320" y="3081528"/>
            <a:ext cx="5760720"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What to protect first, with the reason for each</a:t>
            </a:r>
            <a:endParaRPr lang="en-US" sz="1250" dirty="0"/>
          </a:p>
        </p:txBody>
      </p:sp>
      <p:sp>
        <p:nvSpPr>
          <p:cNvPr id="8" name="Shape 5"/>
          <p:cNvSpPr/>
          <p:nvPr/>
        </p:nvSpPr>
        <p:spPr>
          <a:xfrm>
            <a:off x="640080" y="3593592"/>
            <a:ext cx="566928" cy="566928"/>
          </a:xfrm>
          <a:prstGeom prst="ellipse">
            <a:avLst/>
          </a:prstGeom>
          <a:solidFill>
            <a:srgbClr val="FFFFFF"/>
          </a:solidFill>
          <a:ln w="9525">
            <a:solidFill>
              <a:srgbClr val="DADCE0"/>
            </a:solidFill>
            <a:prstDash val="solid"/>
          </a:ln>
        </p:spPr>
      </p:sp>
      <p:pic>
        <p:nvPicPr>
          <p:cNvPr id="9" name="Image 1" descr="preencoded.png">    </p:cNvPr>
          <p:cNvPicPr>
            <a:picLocks noChangeAspect="1"/>
          </p:cNvPicPr>
          <p:nvPr/>
        </p:nvPicPr>
        <p:blipFill>
          <a:blip r:embed="rId3"/>
          <a:stretch>
            <a:fillRect/>
          </a:stretch>
        </p:blipFill>
        <p:spPr>
          <a:xfrm>
            <a:off x="776143" y="3729655"/>
            <a:ext cx="294803" cy="294803"/>
          </a:xfrm>
          <a:prstGeom prst="rect">
            <a:avLst/>
          </a:prstGeom>
        </p:spPr>
      </p:pic>
      <p:sp>
        <p:nvSpPr>
          <p:cNvPr id="10" name="Text 6"/>
          <p:cNvSpPr txBox="1"/>
          <p:nvPr/>
        </p:nvSpPr>
        <p:spPr>
          <a:xfrm>
            <a:off x="1417320" y="3575304"/>
            <a:ext cx="5760720" cy="310896"/>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Hospitals</a:t>
            </a:r>
            <a:endParaRPr lang="en-US" sz="1600" dirty="0"/>
          </a:p>
        </p:txBody>
      </p:sp>
      <p:sp>
        <p:nvSpPr>
          <p:cNvPr id="11" name="Text 7"/>
          <p:cNvSpPr txBox="1"/>
          <p:nvPr/>
        </p:nvSpPr>
        <p:spPr>
          <a:xfrm>
            <a:off x="1417320" y="3886200"/>
            <a:ext cx="5760720"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Fuel, power and patient moves before roads flood</a:t>
            </a:r>
            <a:endParaRPr lang="en-US" sz="1250" dirty="0"/>
          </a:p>
        </p:txBody>
      </p:sp>
      <p:sp>
        <p:nvSpPr>
          <p:cNvPr id="12" name="Shape 8"/>
          <p:cNvSpPr/>
          <p:nvPr/>
        </p:nvSpPr>
        <p:spPr>
          <a:xfrm>
            <a:off x="640080" y="4398264"/>
            <a:ext cx="566928" cy="566928"/>
          </a:xfrm>
          <a:prstGeom prst="ellipse">
            <a:avLst/>
          </a:prstGeom>
          <a:solidFill>
            <a:srgbClr val="FFFFFF"/>
          </a:solidFill>
          <a:ln w="9525">
            <a:solidFill>
              <a:srgbClr val="DADCE0"/>
            </a:solidFill>
            <a:prstDash val="solid"/>
          </a:ln>
        </p:spPr>
      </p:sp>
      <p:pic>
        <p:nvPicPr>
          <p:cNvPr id="13" name="Image 2" descr="preencoded.png">    </p:cNvPr>
          <p:cNvPicPr>
            <a:picLocks noChangeAspect="1"/>
          </p:cNvPicPr>
          <p:nvPr/>
        </p:nvPicPr>
        <p:blipFill>
          <a:blip r:embed="rId4"/>
          <a:stretch>
            <a:fillRect/>
          </a:stretch>
        </p:blipFill>
        <p:spPr>
          <a:xfrm>
            <a:off x="776143" y="4534327"/>
            <a:ext cx="294803" cy="294803"/>
          </a:xfrm>
          <a:prstGeom prst="rect">
            <a:avLst/>
          </a:prstGeom>
        </p:spPr>
      </p:pic>
      <p:sp>
        <p:nvSpPr>
          <p:cNvPr id="14" name="Text 9"/>
          <p:cNvSpPr txBox="1"/>
          <p:nvPr/>
        </p:nvSpPr>
        <p:spPr>
          <a:xfrm>
            <a:off x="1417320" y="4379976"/>
            <a:ext cx="5760720" cy="310896"/>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Power and water boards</a:t>
            </a:r>
            <a:endParaRPr lang="en-US" sz="1600" dirty="0"/>
          </a:p>
        </p:txBody>
      </p:sp>
      <p:sp>
        <p:nvSpPr>
          <p:cNvPr id="15" name="Text 10"/>
          <p:cNvSpPr txBox="1"/>
          <p:nvPr/>
        </p:nvSpPr>
        <p:spPr>
          <a:xfrm>
            <a:off x="1417320" y="4690872"/>
            <a:ext cx="5760720"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Crews at the substations and pumps most at risk</a:t>
            </a:r>
            <a:endParaRPr lang="en-US" sz="1250" dirty="0"/>
          </a:p>
        </p:txBody>
      </p:sp>
      <p:sp>
        <p:nvSpPr>
          <p:cNvPr id="16" name="Shape 11"/>
          <p:cNvSpPr/>
          <p:nvPr/>
        </p:nvSpPr>
        <p:spPr>
          <a:xfrm>
            <a:off x="640080" y="5202936"/>
            <a:ext cx="566928" cy="566928"/>
          </a:xfrm>
          <a:prstGeom prst="ellipse">
            <a:avLst/>
          </a:prstGeom>
          <a:solidFill>
            <a:srgbClr val="FFFFFF"/>
          </a:solidFill>
          <a:ln w="9525">
            <a:solidFill>
              <a:srgbClr val="DADCE0"/>
            </a:solidFill>
            <a:prstDash val="solid"/>
          </a:ln>
        </p:spPr>
      </p:sp>
      <p:pic>
        <p:nvPicPr>
          <p:cNvPr id="17" name="Image 3" descr="preencoded.png">    </p:cNvPr>
          <p:cNvPicPr>
            <a:picLocks noChangeAspect="1"/>
          </p:cNvPicPr>
          <p:nvPr/>
        </p:nvPicPr>
        <p:blipFill>
          <a:blip r:embed="rId5"/>
          <a:stretch>
            <a:fillRect/>
          </a:stretch>
        </p:blipFill>
        <p:spPr>
          <a:xfrm>
            <a:off x="776143" y="5338999"/>
            <a:ext cx="294803" cy="294803"/>
          </a:xfrm>
          <a:prstGeom prst="rect">
            <a:avLst/>
          </a:prstGeom>
        </p:spPr>
      </p:pic>
      <p:sp>
        <p:nvSpPr>
          <p:cNvPr id="18" name="Text 12"/>
          <p:cNvSpPr txBox="1"/>
          <p:nvPr/>
        </p:nvSpPr>
        <p:spPr>
          <a:xfrm>
            <a:off x="1417320" y="5184648"/>
            <a:ext cx="5760720" cy="310896"/>
          </a:xfrm>
          <a:prstGeom prst="rect">
            <a:avLst/>
          </a:prstGeom>
          <a:noFill/>
          <a:ln/>
        </p:spPr>
        <p:txBody>
          <a:bodyPr wrap="square" lIns="0" tIns="0" rIns="0" bIns="0" rtlCol="0" anchor="t"/>
          <a:lstStyle/>
          <a:p>
            <a:pPr indent="0" marL="0">
              <a:buNone/>
            </a:pPr>
            <a:r>
              <a:rPr lang="en-US" sz="1600" b="1" dirty="0">
                <a:solidFill>
                  <a:srgbClr val="202124"/>
                </a:solidFill>
                <a:latin typeface="Arial" pitchFamily="34" charset="0"/>
                <a:ea typeface="Arial" pitchFamily="34" charset="-122"/>
                <a:cs typeface="Arial" pitchFamily="34" charset="-120"/>
              </a:rPr>
              <a:t>People on the coast</a:t>
            </a:r>
            <a:endParaRPr lang="en-US" sz="1600" dirty="0"/>
          </a:p>
        </p:txBody>
      </p:sp>
      <p:sp>
        <p:nvSpPr>
          <p:cNvPr id="19" name="Text 13"/>
          <p:cNvSpPr txBox="1"/>
          <p:nvPr/>
        </p:nvSpPr>
        <p:spPr>
          <a:xfrm>
            <a:off x="1417320" y="5495544"/>
            <a:ext cx="5760720" cy="292608"/>
          </a:xfrm>
          <a:prstGeom prst="rect">
            <a:avLst/>
          </a:prstGeom>
          <a:noFill/>
          <a:ln/>
        </p:spPr>
        <p:txBody>
          <a:bodyPr wrap="square" lIns="0" tIns="0" rIns="0" bIns="0" rtlCol="0" anchor="t"/>
          <a:lstStyle/>
          <a:p>
            <a:pPr indent="0" marL="0">
              <a:buNone/>
            </a:pPr>
            <a:r>
              <a:rPr lang="en-US" sz="1250" dirty="0">
                <a:solidFill>
                  <a:srgbClr val="4A5A78"/>
                </a:solidFill>
                <a:latin typeface="Arial" pitchFamily="34" charset="0"/>
                <a:ea typeface="Arial" pitchFamily="34" charset="-122"/>
                <a:cs typeface="Arial" pitchFamily="34" charset="-120"/>
              </a:rPr>
              <a:t>Warnings in their own language</a:t>
            </a:r>
            <a:endParaRPr lang="en-US" sz="1250" dirty="0"/>
          </a:p>
        </p:txBody>
      </p:sp>
      <p:sp>
        <p:nvSpPr>
          <p:cNvPr id="20" name="Shape 14"/>
          <p:cNvSpPr/>
          <p:nvPr/>
        </p:nvSpPr>
        <p:spPr>
          <a:xfrm>
            <a:off x="8001000" y="960120"/>
            <a:ext cx="3550615" cy="5120640"/>
          </a:xfrm>
          <a:prstGeom prst="roundRect">
            <a:avLst>
              <a:gd name="adj" fmla="val 5666"/>
            </a:avLst>
          </a:prstGeom>
          <a:solidFill>
            <a:srgbClr val="FFFFFF"/>
          </a:solidFill>
          <a:ln w="9525">
            <a:solidFill>
              <a:srgbClr val="DADCE0"/>
            </a:solidFill>
            <a:prstDash val="solid"/>
          </a:ln>
          <a:effectLst>
            <a:outerShdw sx="100000" sy="100000" kx="0" ky="0" algn="bl" rotWithShape="0" blurRad="177800" dist="38100" dir="5400000">
              <a:srgbClr val="1A2B4C">
                <a:alpha val="12000"/>
              </a:srgbClr>
            </a:outerShdw>
          </a:effectLst>
        </p:spPr>
      </p:sp>
      <p:pic>
        <p:nvPicPr>
          <p:cNvPr id="21" name="Image 4" descr="preencoded.png">    </p:cNvPr>
          <p:cNvPicPr>
            <a:picLocks noChangeAspect="1"/>
          </p:cNvPicPr>
          <p:nvPr/>
        </p:nvPicPr>
        <p:blipFill>
          <a:blip r:embed="rId6"/>
          <a:stretch>
            <a:fillRect/>
          </a:stretch>
        </p:blipFill>
        <p:spPr>
          <a:xfrm>
            <a:off x="8701888" y="1280160"/>
            <a:ext cx="2148840" cy="2148840"/>
          </a:xfrm>
          <a:prstGeom prst="rect">
            <a:avLst/>
          </a:prstGeom>
        </p:spPr>
      </p:pic>
      <p:sp>
        <p:nvSpPr>
          <p:cNvPr id="22" name="Text 15"/>
          <p:cNvSpPr txBox="1"/>
          <p:nvPr/>
        </p:nvSpPr>
        <p:spPr>
          <a:xfrm>
            <a:off x="8001000" y="3520440"/>
            <a:ext cx="3550615" cy="274320"/>
          </a:xfrm>
          <a:prstGeom prst="rect">
            <a:avLst/>
          </a:prstGeom>
          <a:noFill/>
          <a:ln/>
        </p:spPr>
        <p:txBody>
          <a:bodyPr wrap="square" lIns="0" tIns="0" rIns="0" bIns="0" rtlCol="0" anchor="t"/>
          <a:lstStyle/>
          <a:p>
            <a:pPr algn="ctr" indent="0" marL="0">
              <a:buNone/>
            </a:pPr>
            <a:r>
              <a:rPr lang="en-US" sz="1200" dirty="0">
                <a:solidFill>
                  <a:srgbClr val="5F6368"/>
                </a:solidFill>
                <a:latin typeface="Arial" pitchFamily="34" charset="0"/>
                <a:ea typeface="Arial" pitchFamily="34" charset="-122"/>
                <a:cs typeface="Arial" pitchFamily="34" charset="-120"/>
              </a:rPr>
              <a:t>Scan to try SurgeSight</a:t>
            </a:r>
            <a:endParaRPr lang="en-US" sz="1200" dirty="0"/>
          </a:p>
        </p:txBody>
      </p:sp>
      <p:sp>
        <p:nvSpPr>
          <p:cNvPr id="23" name="Shape 16"/>
          <p:cNvSpPr/>
          <p:nvPr/>
        </p:nvSpPr>
        <p:spPr>
          <a:xfrm>
            <a:off x="8679028" y="4133088"/>
            <a:ext cx="109728" cy="109728"/>
          </a:xfrm>
          <a:prstGeom prst="ellipse">
            <a:avLst/>
          </a:prstGeom>
          <a:solidFill>
            <a:srgbClr val="1A73E8"/>
          </a:solidFill>
          <a:ln/>
        </p:spPr>
      </p:sp>
      <p:sp>
        <p:nvSpPr>
          <p:cNvPr id="24" name="Shape 17"/>
          <p:cNvSpPr/>
          <p:nvPr/>
        </p:nvSpPr>
        <p:spPr>
          <a:xfrm>
            <a:off x="8843620" y="4133088"/>
            <a:ext cx="109728" cy="109728"/>
          </a:xfrm>
          <a:prstGeom prst="ellipse">
            <a:avLst/>
          </a:prstGeom>
          <a:solidFill>
            <a:srgbClr val="EA4335"/>
          </a:solidFill>
          <a:ln/>
        </p:spPr>
      </p:sp>
      <p:sp>
        <p:nvSpPr>
          <p:cNvPr id="25" name="Shape 18"/>
          <p:cNvSpPr/>
          <p:nvPr/>
        </p:nvSpPr>
        <p:spPr>
          <a:xfrm>
            <a:off x="9008212" y="4133088"/>
            <a:ext cx="109728" cy="109728"/>
          </a:xfrm>
          <a:prstGeom prst="ellipse">
            <a:avLst/>
          </a:prstGeom>
          <a:solidFill>
            <a:srgbClr val="FBBC04"/>
          </a:solidFill>
          <a:ln/>
        </p:spPr>
      </p:sp>
      <p:sp>
        <p:nvSpPr>
          <p:cNvPr id="26" name="Shape 19"/>
          <p:cNvSpPr/>
          <p:nvPr/>
        </p:nvSpPr>
        <p:spPr>
          <a:xfrm>
            <a:off x="9172804" y="4133088"/>
            <a:ext cx="109728" cy="109728"/>
          </a:xfrm>
          <a:prstGeom prst="ellipse">
            <a:avLst/>
          </a:prstGeom>
          <a:solidFill>
            <a:srgbClr val="34A853"/>
          </a:solidFill>
          <a:ln/>
        </p:spPr>
      </p:sp>
      <p:sp>
        <p:nvSpPr>
          <p:cNvPr id="27" name="Text 20"/>
          <p:cNvSpPr txBox="1"/>
          <p:nvPr/>
        </p:nvSpPr>
        <p:spPr>
          <a:xfrm>
            <a:off x="9392260" y="4005072"/>
            <a:ext cx="2011680" cy="365760"/>
          </a:xfrm>
          <a:prstGeom prst="rect">
            <a:avLst/>
          </a:prstGeom>
          <a:noFill/>
          <a:ln/>
        </p:spPr>
        <p:txBody>
          <a:bodyPr wrap="square" lIns="0" tIns="0" rIns="0" bIns="0" rtlCol="0" anchor="ctr"/>
          <a:lstStyle/>
          <a:p>
            <a:pPr indent="0" marL="0">
              <a:buNone/>
            </a:pPr>
            <a:r>
              <a:rPr lang="en-US" sz="1600" b="1" spc="300" kern="0" dirty="0">
                <a:solidFill>
                  <a:srgbClr val="202124"/>
                </a:solidFill>
                <a:latin typeface="Arial" pitchFamily="34" charset="0"/>
                <a:ea typeface="Arial" pitchFamily="34" charset="-122"/>
                <a:cs typeface="Arial" pitchFamily="34" charset="-120"/>
              </a:rPr>
              <a:t>TEAM ECHO</a:t>
            </a:r>
            <a:endParaRPr lang="en-US" sz="1600" dirty="0"/>
          </a:p>
        </p:txBody>
      </p:sp>
      <p:sp>
        <p:nvSpPr>
          <p:cNvPr id="28" name="Text 21"/>
          <p:cNvSpPr txBox="1"/>
          <p:nvPr/>
        </p:nvSpPr>
        <p:spPr>
          <a:xfrm>
            <a:off x="8001000" y="4434840"/>
            <a:ext cx="3550615" cy="292608"/>
          </a:xfrm>
          <a:prstGeom prst="rect">
            <a:avLst/>
          </a:prstGeom>
          <a:noFill/>
          <a:ln/>
        </p:spPr>
        <p:txBody>
          <a:bodyPr wrap="square" lIns="0" tIns="0" rIns="0" bIns="0" rtlCol="0" anchor="t"/>
          <a:lstStyle/>
          <a:p>
            <a:pPr algn="ctr" indent="0" marL="0">
              <a:buNone/>
            </a:pPr>
            <a:r>
              <a:rPr lang="en-US" sz="1300" dirty="0">
                <a:solidFill>
                  <a:srgbClr val="5F6368"/>
                </a:solidFill>
                <a:latin typeface="Arial" pitchFamily="34" charset="0"/>
                <a:ea typeface="Arial" pitchFamily="34" charset="-122"/>
                <a:cs typeface="Arial" pitchFamily="34" charset="-120"/>
              </a:rPr>
              <a:t>Charan  ·  Vishal</a:t>
            </a:r>
            <a:endParaRPr lang="en-US" sz="1300" dirty="0"/>
          </a:p>
        </p:txBody>
      </p:sp>
      <p:sp>
        <p:nvSpPr>
          <p:cNvPr id="29" name="Text 22"/>
          <p:cNvSpPr txBox="1"/>
          <p:nvPr/>
        </p:nvSpPr>
        <p:spPr>
          <a:xfrm>
            <a:off x="8001000" y="4892040"/>
            <a:ext cx="3550615" cy="1005840"/>
          </a:xfrm>
          <a:prstGeom prst="rect">
            <a:avLst/>
          </a:prstGeom>
          <a:noFill/>
          <a:ln/>
        </p:spPr>
        <p:txBody>
          <a:bodyPr wrap="square" lIns="0" tIns="0" rIns="0" bIns="0" rtlCol="0" anchor="t"/>
          <a:lstStyle/>
          <a:p>
            <a:pPr algn="ctr" indent="0" marL="0">
              <a:spcAft>
                <a:spcPts val="300"/>
              </a:spcAft>
              <a:buNone/>
            </a:pPr>
            <a:r>
              <a:rPr lang="en-US" sz="1200" b="1" u="sng" dirty="0">
                <a:solidFill>
                  <a:srgbClr val="1967D2"/>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Live app</a:t>
            </a:r>
            <a:endParaRPr lang="en-US" sz="1200" dirty="0"/>
          </a:p>
          <a:p>
            <a:pPr algn="ctr" indent="0" marL="0">
              <a:spcAft>
                <a:spcPts val="300"/>
              </a:spcAft>
              <a:buNone/>
            </a:pPr>
            <a:r>
              <a:rPr lang="en-US" sz="1200" dirty="0">
                <a:solidFill>
                  <a:srgbClr val="5F6368"/>
                </a:solidFill>
                <a:latin typeface="Arial" pitchFamily="34" charset="0"/>
                <a:ea typeface="Arial" pitchFamily="34" charset="-122"/>
                <a:cs typeface="Arial" pitchFamily="34" charset="-120"/>
              </a:rPr>
              <a:t>Demo video: [add link]</a:t>
            </a:r>
            <a:endParaRPr lang="en-US" sz="1200" dirty="0"/>
          </a:p>
          <a:p>
            <a:pPr algn="ctr" indent="0" marL="0">
              <a:spcAft>
                <a:spcPts val="300"/>
              </a:spcAft>
              <a:buNone/>
            </a:pPr>
            <a:r>
              <a:rPr lang="en-US" sz="1200" dirty="0">
                <a:solidFill>
                  <a:srgbClr val="5F6368"/>
                </a:solidFill>
                <a:latin typeface="Arial" pitchFamily="34" charset="0"/>
                <a:ea typeface="Arial" pitchFamily="34" charset="-122"/>
                <a:cs typeface="Arial" pitchFamily="34" charset="-120"/>
              </a:rPr>
              <a:t>Code: [add link]</a:t>
            </a:r>
            <a:endParaRPr lang="en-US" sz="1200" dirty="0"/>
          </a:p>
        </p:txBody>
      </p:sp>
      <p:sp>
        <p:nvSpPr>
          <p:cNvPr id="30" name="Shape 23"/>
          <p:cNvSpPr/>
          <p:nvPr/>
        </p:nvSpPr>
        <p:spPr>
          <a:xfrm>
            <a:off x="640080" y="6473952"/>
            <a:ext cx="82296" cy="82296"/>
          </a:xfrm>
          <a:prstGeom prst="ellipse">
            <a:avLst/>
          </a:prstGeom>
          <a:solidFill>
            <a:srgbClr val="1A73E8"/>
          </a:solidFill>
          <a:ln/>
        </p:spPr>
      </p:sp>
      <p:sp>
        <p:nvSpPr>
          <p:cNvPr id="31" name="Shape 24"/>
          <p:cNvSpPr/>
          <p:nvPr/>
        </p:nvSpPr>
        <p:spPr>
          <a:xfrm>
            <a:off x="768096" y="6473952"/>
            <a:ext cx="82296" cy="82296"/>
          </a:xfrm>
          <a:prstGeom prst="ellipse">
            <a:avLst/>
          </a:prstGeom>
          <a:solidFill>
            <a:srgbClr val="EA4335"/>
          </a:solidFill>
          <a:ln/>
        </p:spPr>
      </p:sp>
      <p:sp>
        <p:nvSpPr>
          <p:cNvPr id="32" name="Shape 25"/>
          <p:cNvSpPr/>
          <p:nvPr/>
        </p:nvSpPr>
        <p:spPr>
          <a:xfrm>
            <a:off x="896112" y="6473952"/>
            <a:ext cx="82296" cy="82296"/>
          </a:xfrm>
          <a:prstGeom prst="ellipse">
            <a:avLst/>
          </a:prstGeom>
          <a:solidFill>
            <a:srgbClr val="FBBC04"/>
          </a:solidFill>
          <a:ln/>
        </p:spPr>
      </p:sp>
      <p:sp>
        <p:nvSpPr>
          <p:cNvPr id="33" name="Shape 26"/>
          <p:cNvSpPr/>
          <p:nvPr/>
        </p:nvSpPr>
        <p:spPr>
          <a:xfrm>
            <a:off x="1024128" y="6473952"/>
            <a:ext cx="82296" cy="82296"/>
          </a:xfrm>
          <a:prstGeom prst="ellipse">
            <a:avLst/>
          </a:prstGeom>
          <a:solidFill>
            <a:srgbClr val="34A853"/>
          </a:solidFill>
          <a:ln/>
        </p:spPr>
      </p:sp>
      <p:sp>
        <p:nvSpPr>
          <p:cNvPr id="34" name="Text 27"/>
          <p:cNvSpPr txBox="1"/>
          <p:nvPr/>
        </p:nvSpPr>
        <p:spPr>
          <a:xfrm>
            <a:off x="1234440" y="6391656"/>
            <a:ext cx="4572000" cy="246888"/>
          </a:xfrm>
          <a:prstGeom prst="rect">
            <a:avLst/>
          </a:prstGeom>
          <a:noFill/>
          <a:ln/>
        </p:spPr>
        <p:txBody>
          <a:bodyPr wrap="square" lIns="0" tIns="0" rIns="0" bIns="0" rtlCol="0" anchor="ctr"/>
          <a:lstStyle/>
          <a:p>
            <a:pPr indent="0" marL="0">
              <a:buNone/>
            </a:pPr>
            <a:r>
              <a:rPr lang="en-US" sz="950" b="1" spc="200" kern="0" dirty="0">
                <a:solidFill>
                  <a:srgbClr val="4A5A78"/>
                </a:solidFill>
                <a:latin typeface="Arial" pitchFamily="34" charset="0"/>
                <a:ea typeface="Arial" pitchFamily="34" charset="-122"/>
                <a:cs typeface="Arial" pitchFamily="34" charset="-120"/>
              </a:rPr>
              <a:t>TEAM ECHO  ·  SURGESIGHT</a:t>
            </a:r>
            <a:endParaRPr lang="en-US" sz="950" dirty="0"/>
          </a:p>
        </p:txBody>
      </p:sp>
      <p:sp>
        <p:nvSpPr>
          <p:cNvPr id="35" name="Text 28"/>
          <p:cNvSpPr txBox="1"/>
          <p:nvPr/>
        </p:nvSpPr>
        <p:spPr>
          <a:xfrm>
            <a:off x="11002975" y="6391656"/>
            <a:ext cx="548640" cy="246888"/>
          </a:xfrm>
          <a:prstGeom prst="rect">
            <a:avLst/>
          </a:prstGeom>
          <a:noFill/>
          <a:ln/>
        </p:spPr>
        <p:txBody>
          <a:bodyPr wrap="square" lIns="0" tIns="0" rIns="0" bIns="0" rtlCol="0" anchor="ctr"/>
          <a:lstStyle/>
          <a:p>
            <a:pPr algn="r" indent="0" marL="0">
              <a:buNone/>
            </a:pPr>
            <a:r>
              <a:rPr lang="en-US" sz="950" dirty="0">
                <a:solidFill>
                  <a:srgbClr val="4A5A78"/>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SurgeSight, Team Echo</dc:title>
  <dc:subject>PptxGenJS Presentation</dc:subject>
  <dc:creator>Team Echo (Charan, Vishal)</dc:creator>
  <cp:lastModifiedBy>Team Echo (Charan, Vishal)</cp:lastModifiedBy>
  <cp:revision>1</cp:revision>
  <dcterms:created xsi:type="dcterms:W3CDTF">2026-09-30T17:09:21Z</dcterms:created>
  <dcterms:modified xsi:type="dcterms:W3CDTF">2026-09-30T17:09:21Z</dcterms:modified>
</cp:coreProperties>
</file>