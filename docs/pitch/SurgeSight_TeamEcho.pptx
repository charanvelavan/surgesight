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Echo: Charan and Vishal. Our project is SurgeSight: it lets district officials see a cyclone’s impact on schools, hospitals, power and roads before it reaches the coast. It is built on Gemini, Earth Engine, Google Maps and Cloud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IMD’s forecasts are good, but they stop at the storm. Before landfall a District Collector and each department still have to work out, by phone and spreadsheet, what that track means for schools, hospitals, power, roads and people. The challenge is to turn one forecast into answers each department can act on: which facilities and why, which roads, what if the track shifts, what each department should do, and how to say it in the local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it, we built SurgeSight. Five steps: Gemini reads the IMD bulletin. Our model scores every facility and main road for wind, surge and rain using Earth Engine data. The map shows the alerted schools, hospitals and roads, each with its reason. Gemini writes each department’s advisory in its own language. And an officer approves before anything is sent. Numbers come from our models, words from Gemini, and every number Gemini writes is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study and test SurgeSight, we replayed a real storm: Cyclone Michaung, December 2023, which crossed the Andhra Pradesh coast near Bapatla after extreme rain flooded Chennai. We chose it because it spans two states and two languages, and because open data (IBTrACS, NOAA GFS, NASA IMERG and Sentinel-2) let us check our estimates against what really happened. The replay only shows what was known at each bulletin.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one is the impact map, built on Google Maps. Every school, hospital, substation, shelter, police and fire station, water works and fishing harbour under the storm is coloured from low to critical. Alert zones move with the storm, you see the observed track and our experimental forecast with its uncertainty, and the road layer shows which main roads to check. Tap any facility, here a school in Kothapatnam, and SurgeSight tells you why it was alerted.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two answers the question every officer asks: why was this alerted? For KGVB School in Kothapatnam, the panel shows the numbers first: 3 metres above sea level, 272 millimetres of forecast rain, 94 km/h peak wind, 14 km from the track. Then it shows what drives the score: wind and rain flooding, making it Critical. Then Gemini explains it in plain words, and every number it writes is checked against the table. It also flags that road access to the nearest hospital is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Gemini does. It reads bulletins, even photos of them. It explains why each facility was alerted and what changes in a what-if. It writes an action plan for each department. It speaks six Indian languages, with audio. As an ADK agent team it picks from 29 tools to answer questions. And it searches for the latest bulletins with Google Search. What it never does is calculate the risk. Our models do that, and a guard removes any number Gemini cannot back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four: every department gets its own advisory, written by Gemini from the ranked facilities and roads, in its own language. Here is the Health Department in Tamil. Each comes with audio from Cloud Text-to-Speech and a standard CAP 1.2 alert. Nothing is sent until an officer approves it; then it goes out by Gmail and phone push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data comes in from the IMD bulletin, ten Earth Engine datasets and OpenStreetMap. Our risk models compute wind, surge and rain flooding, road exposure, hospital access, a 100-run ensemble and what-ifs. Gemini 3.7 Flash with the Agent Development Kit uses 29 tools to explain and advise, behind a number guard. And we checked it against what really happened: a 27.6 km average error on our 6-hour track forecast, forecast rain that matches NASA’s observed rain with a correlation of 0.71, and twice as much satellite-observed flooding on the roads we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SurgeSight uses 23 Google services: Gemini on Vertex AI with Gemini Live and the Agent Development Kit, Search grounding and Cloud speech; Earth Engine and the Maps Platform; BigQuery, Firestore and Cloud Storage; Gmail, Firebase Messaging and Auth; and Cloud Run, Scheduler, Secret Manager, Cloud Build and Artifact Registry. It runs today on Cloud Run in Mumbai, refreshes its weather every three hours by itself, and a new state needs only a configuration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next. A citizen app: “am I at risk?” in my language, the nearest safe shelter and a lower-risk route. Cascading failures: which hospitals lose power or water when a substation floods. Approved alerts sent to NDMA’s SACHET platform so they reach every phone. Voice for the last mile, so village officers can call in and ask Gemini Live in their language. Money before landfall through parametric triggers. And a model that learns from every storm through satellite flood maps, extending to floods and heatwaves.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District Collectors get a ranked list of what to protect first, with a reason for each. Hospitals can plan fuel, power and patient moves before the roads flood. Power and water boards send crews to the assets most at risk. And people on the coast get warnings in their own language. SurgeSight does not replace IMD. It turns forecasts into action before landfall. Thank you. We are Team 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jp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7" Type="http://schemas.openxmlformats.org/officeDocument/2006/relationships/hyperlink" Target="https://surgesight-221627601364.asia-south1.run.app" TargetMode="External"/><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713232"/>
            <a:ext cx="100584" cy="100584"/>
          </a:xfrm>
          <a:prstGeom prst="ellipse">
            <a:avLst/>
          </a:prstGeom>
          <a:solidFill>
            <a:srgbClr val="1A73E8"/>
          </a:solidFill>
          <a:ln/>
        </p:spPr>
      </p:sp>
      <p:sp>
        <p:nvSpPr>
          <p:cNvPr id="3" name="Shape 1"/>
          <p:cNvSpPr/>
          <p:nvPr/>
        </p:nvSpPr>
        <p:spPr>
          <a:xfrm>
            <a:off x="694944" y="713232"/>
            <a:ext cx="100584" cy="100584"/>
          </a:xfrm>
          <a:prstGeom prst="ellipse">
            <a:avLst/>
          </a:prstGeom>
          <a:solidFill>
            <a:srgbClr val="EA4335"/>
          </a:solidFill>
          <a:ln/>
        </p:spPr>
      </p:sp>
      <p:sp>
        <p:nvSpPr>
          <p:cNvPr id="4" name="Shape 2"/>
          <p:cNvSpPr/>
          <p:nvPr/>
        </p:nvSpPr>
        <p:spPr>
          <a:xfrm>
            <a:off x="841248" y="713232"/>
            <a:ext cx="100584" cy="100584"/>
          </a:xfrm>
          <a:prstGeom prst="ellipse">
            <a:avLst/>
          </a:prstGeom>
          <a:solidFill>
            <a:srgbClr val="FBBC04"/>
          </a:solidFill>
          <a:ln/>
        </p:spPr>
      </p:sp>
      <p:sp>
        <p:nvSpPr>
          <p:cNvPr id="5" name="Shape 3"/>
          <p:cNvSpPr/>
          <p:nvPr/>
        </p:nvSpPr>
        <p:spPr>
          <a:xfrm>
            <a:off x="987552" y="713232"/>
            <a:ext cx="100584" cy="100584"/>
          </a:xfrm>
          <a:prstGeom prst="ellipse">
            <a:avLst/>
          </a:prstGeom>
          <a:solidFill>
            <a:srgbClr val="34A853"/>
          </a:solidFill>
          <a:ln/>
        </p:spPr>
      </p:sp>
      <p:sp>
        <p:nvSpPr>
          <p:cNvPr id="6" name="Text 4"/>
          <p:cNvSpPr txBox="1"/>
          <p:nvPr/>
        </p:nvSpPr>
        <p:spPr>
          <a:xfrm>
            <a:off x="1188720" y="603504"/>
            <a:ext cx="5029200" cy="310896"/>
          </a:xfrm>
          <a:prstGeom prst="rect">
            <a:avLst/>
          </a:prstGeom>
          <a:noFill/>
          <a:ln/>
        </p:spPr>
        <p:txBody>
          <a:bodyPr wrap="square" lIns="0" tIns="0" rIns="0" bIns="0" rtlCol="0" anchor="ctr"/>
          <a:lstStyle/>
          <a:p>
            <a:pPr indent="0" marL="0">
              <a:buNone/>
            </a:pPr>
            <a:r>
              <a:rPr lang="en-US" sz="1100" b="1" spc="200" kern="0" dirty="0">
                <a:solidFill>
                  <a:srgbClr val="A8C7FA"/>
                </a:solidFill>
                <a:latin typeface="Arial" pitchFamily="34" charset="0"/>
                <a:ea typeface="Arial" pitchFamily="34" charset="-122"/>
                <a:cs typeface="Arial" pitchFamily="34" charset="-120"/>
              </a:rPr>
              <a:t>BUILD WITH AI: CODE FOR COMMUNITIES 2.0</a:t>
            </a:r>
            <a:endParaRPr lang="en-US" sz="1100" dirty="0"/>
          </a:p>
        </p:txBody>
      </p:sp>
      <p:pic>
        <p:nvPicPr>
          <p:cNvPr id="7" name="Image 0" descr="/private/tmp/claude-503/-Users-CharanVelavan-Charan-Projects-SurgeSight/9ee263a0-0835-4556-8164-6a5a42928b6b/scratchpad/deck/img/logo.png">    </p:cNvPr>
          <p:cNvPicPr>
            <a:picLocks noChangeAspect="1"/>
          </p:cNvPicPr>
          <p:nvPr/>
        </p:nvPicPr>
        <p:blipFill>
          <a:blip r:embed="rId2"/>
          <a:stretch>
            <a:fillRect/>
          </a:stretch>
        </p:blipFill>
        <p:spPr>
          <a:xfrm>
            <a:off x="548640" y="1600200"/>
            <a:ext cx="914400" cy="914400"/>
          </a:xfrm>
          <a:prstGeom prst="rect">
            <a:avLst/>
          </a:prstGeom>
        </p:spPr>
      </p:pic>
      <p:sp>
        <p:nvSpPr>
          <p:cNvPr id="8" name="Text 5"/>
          <p:cNvSpPr txBox="1"/>
          <p:nvPr/>
        </p:nvSpPr>
        <p:spPr>
          <a:xfrm>
            <a:off x="548640" y="2697480"/>
            <a:ext cx="5669280" cy="8686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SurgeSight</a:t>
            </a:r>
            <a:endParaRPr lang="en-US" sz="5400" dirty="0"/>
          </a:p>
        </p:txBody>
      </p:sp>
      <p:sp>
        <p:nvSpPr>
          <p:cNvPr id="9" name="Text 6"/>
          <p:cNvSpPr txBox="1"/>
          <p:nvPr/>
        </p:nvSpPr>
        <p:spPr>
          <a:xfrm>
            <a:off x="548640" y="3611880"/>
            <a:ext cx="5120640" cy="868680"/>
          </a:xfrm>
          <a:prstGeom prst="rect">
            <a:avLst/>
          </a:prstGeom>
          <a:noFill/>
          <a:ln/>
        </p:spPr>
        <p:txBody>
          <a:bodyPr wrap="square" lIns="0" tIns="0" rIns="0" bIns="0" rtlCol="0" anchor="t"/>
          <a:lstStyle/>
          <a:p>
            <a:pPr indent="0" marL="0">
              <a:buNone/>
            </a:pPr>
            <a:r>
              <a:rPr lang="en-US" sz="2200" dirty="0">
                <a:solidFill>
                  <a:srgbClr val="E8EAED"/>
                </a:solidFill>
                <a:latin typeface="Arial" pitchFamily="34" charset="0"/>
                <a:ea typeface="Arial" pitchFamily="34" charset="-122"/>
                <a:cs typeface="Arial" pitchFamily="34" charset="-120"/>
              </a:rPr>
              <a:t>See a cyclone’s impact before it reaches the coast.</a:t>
            </a:r>
            <a:endParaRPr lang="en-US" sz="2200" dirty="0"/>
          </a:p>
        </p:txBody>
      </p:sp>
      <p:sp>
        <p:nvSpPr>
          <p:cNvPr id="10" name="Text 7"/>
          <p:cNvSpPr txBox="1"/>
          <p:nvPr/>
        </p:nvSpPr>
        <p:spPr>
          <a:xfrm>
            <a:off x="548640" y="4526280"/>
            <a:ext cx="4937760" cy="502920"/>
          </a:xfrm>
          <a:prstGeom prst="rect">
            <a:avLst/>
          </a:prstGeom>
          <a:noFill/>
          <a:ln/>
        </p:spPr>
        <p:txBody>
          <a:bodyPr wrap="square" lIns="0" tIns="0" rIns="0" bIns="0" rtlCol="0" anchor="t"/>
          <a:lstStyle/>
          <a:p>
            <a:pPr indent="0" marL="0">
              <a:buNone/>
            </a:pPr>
            <a:r>
              <a:rPr lang="en-US" sz="1150" dirty="0">
                <a:solidFill>
                  <a:srgbClr val="A8C7FA"/>
                </a:solidFill>
                <a:latin typeface="Arial" pitchFamily="34" charset="0"/>
                <a:ea typeface="Arial" pitchFamily="34" charset="-122"/>
                <a:cs typeface="Arial" pitchFamily="34" charset="-120"/>
              </a:rPr>
              <a:t>Problem Statement 05 · Track-Based Cyclone Impact &amp; Infrastructure Vulnerability Forecaster</a:t>
            </a:r>
            <a:endParaRPr lang="en-US" sz="1150" dirty="0"/>
          </a:p>
        </p:txBody>
      </p:sp>
      <p:sp>
        <p:nvSpPr>
          <p:cNvPr id="11" name="Shape 8"/>
          <p:cNvSpPr/>
          <p:nvPr/>
        </p:nvSpPr>
        <p:spPr>
          <a:xfrm>
            <a:off x="548640" y="5833872"/>
            <a:ext cx="100584" cy="100584"/>
          </a:xfrm>
          <a:prstGeom prst="ellipse">
            <a:avLst/>
          </a:prstGeom>
          <a:solidFill>
            <a:srgbClr val="1A73E8"/>
          </a:solidFill>
          <a:ln/>
        </p:spPr>
      </p:sp>
      <p:sp>
        <p:nvSpPr>
          <p:cNvPr id="12" name="Shape 9"/>
          <p:cNvSpPr/>
          <p:nvPr/>
        </p:nvSpPr>
        <p:spPr>
          <a:xfrm>
            <a:off x="694944" y="5833872"/>
            <a:ext cx="100584" cy="100584"/>
          </a:xfrm>
          <a:prstGeom prst="ellipse">
            <a:avLst/>
          </a:prstGeom>
          <a:solidFill>
            <a:srgbClr val="EA4335"/>
          </a:solidFill>
          <a:ln/>
        </p:spPr>
      </p:sp>
      <p:sp>
        <p:nvSpPr>
          <p:cNvPr id="13" name="Shape 10"/>
          <p:cNvSpPr/>
          <p:nvPr/>
        </p:nvSpPr>
        <p:spPr>
          <a:xfrm>
            <a:off x="841248" y="5833872"/>
            <a:ext cx="100584" cy="100584"/>
          </a:xfrm>
          <a:prstGeom prst="ellipse">
            <a:avLst/>
          </a:prstGeom>
          <a:solidFill>
            <a:srgbClr val="FBBC04"/>
          </a:solidFill>
          <a:ln/>
        </p:spPr>
      </p:sp>
      <p:sp>
        <p:nvSpPr>
          <p:cNvPr id="14" name="Shape 11"/>
          <p:cNvSpPr/>
          <p:nvPr/>
        </p:nvSpPr>
        <p:spPr>
          <a:xfrm>
            <a:off x="987552" y="5833872"/>
            <a:ext cx="100584" cy="100584"/>
          </a:xfrm>
          <a:prstGeom prst="ellipse">
            <a:avLst/>
          </a:prstGeom>
          <a:solidFill>
            <a:srgbClr val="34A853"/>
          </a:solidFill>
          <a:ln/>
        </p:spPr>
      </p:sp>
      <p:sp>
        <p:nvSpPr>
          <p:cNvPr id="15" name="Text 12"/>
          <p:cNvSpPr txBox="1"/>
          <p:nvPr/>
        </p:nvSpPr>
        <p:spPr>
          <a:xfrm>
            <a:off x="1188720" y="5669280"/>
            <a:ext cx="2743200" cy="329184"/>
          </a:xfrm>
          <a:prstGeom prst="rect">
            <a:avLst/>
          </a:prstGeom>
          <a:noFill/>
          <a:ln/>
        </p:spPr>
        <p:txBody>
          <a:bodyPr wrap="square" lIns="0" tIns="0" rIns="0" bIns="0"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TEAM ECHO</a:t>
            </a:r>
            <a:endParaRPr lang="en-US" sz="1500" dirty="0"/>
          </a:p>
        </p:txBody>
      </p:sp>
      <p:sp>
        <p:nvSpPr>
          <p:cNvPr id="16" name="Text 13"/>
          <p:cNvSpPr txBox="1"/>
          <p:nvPr/>
        </p:nvSpPr>
        <p:spPr>
          <a:xfrm>
            <a:off x="1188720" y="5989320"/>
            <a:ext cx="2743200" cy="274320"/>
          </a:xfrm>
          <a:prstGeom prst="rect">
            <a:avLst/>
          </a:prstGeom>
          <a:noFill/>
          <a:ln/>
        </p:spPr>
        <p:txBody>
          <a:bodyPr wrap="square" lIns="0" tIns="0" rIns="0" bIns="0" rtlCol="0" anchor="ctr"/>
          <a:lstStyle/>
          <a:p>
            <a:pPr indent="0" marL="0">
              <a:buNone/>
            </a:pPr>
            <a:r>
              <a:rPr lang="en-US" sz="1200" dirty="0">
                <a:solidFill>
                  <a:srgbClr val="A8C7FA"/>
                </a:solidFill>
                <a:latin typeface="Arial" pitchFamily="34" charset="0"/>
                <a:ea typeface="Arial" pitchFamily="34" charset="-122"/>
                <a:cs typeface="Arial" pitchFamily="34" charset="-120"/>
              </a:rPr>
              <a:t>Charan  ·  Vishal</a:t>
            </a:r>
            <a:endParaRPr lang="en-US" sz="1200" dirty="0"/>
          </a:p>
        </p:txBody>
      </p:sp>
      <p:sp>
        <p:nvSpPr>
          <p:cNvPr id="17" name="Shape 14"/>
          <p:cNvSpPr/>
          <p:nvPr/>
        </p:nvSpPr>
        <p:spPr>
          <a:xfrm>
            <a:off x="5973775" y="1178433"/>
            <a:ext cx="5760720" cy="4226814"/>
          </a:xfrm>
          <a:prstGeom prst="roundRect">
            <a:avLst>
              <a:gd name="adj" fmla="val 3029"/>
            </a:avLst>
          </a:prstGeom>
          <a:solidFill>
            <a:srgbClr val="FFFFFF"/>
          </a:solidFill>
          <a:ln/>
          <a:effectLst>
            <a:outerShdw sx="100000" sy="100000" kx="0" ky="0" algn="bl" rotWithShape="0" blurRad="304800" dist="76200" dir="5400000">
              <a:srgbClr val="000000">
                <a:alpha val="45000"/>
              </a:srgbClr>
            </a:outerShdw>
          </a:effectLst>
        </p:spPr>
      </p:sp>
      <p:pic>
        <p:nvPicPr>
          <p:cNvPr id="18" name="Image 1" descr="/private/tmp/claude-503/-Users-CharanVelavan-Charan-Projects-SurgeSight/9ee263a0-0835-4556-8164-6a5a42928b6b/scratchpad/deck/img/title_map.jpg">    </p:cNvPr>
          <p:cNvPicPr>
            <a:picLocks noChangeAspect="1"/>
          </p:cNvPicPr>
          <p:nvPr/>
        </p:nvPicPr>
        <p:blipFill>
          <a:blip r:embed="rId3"/>
          <a:stretch>
            <a:fillRect/>
          </a:stretch>
        </p:blipFill>
        <p:spPr>
          <a:xfrm>
            <a:off x="6065215" y="1269873"/>
            <a:ext cx="5577840" cy="4043934"/>
          </a:xfrm>
          <a:prstGeom prst="rect">
            <a:avLst/>
          </a:prstGeom>
        </p:spPr>
      </p:pic>
      <p:sp>
        <p:nvSpPr>
          <p:cNvPr id="19" name="Text 15"/>
          <p:cNvSpPr txBox="1"/>
          <p:nvPr/>
        </p:nvSpPr>
        <p:spPr>
          <a:xfrm>
            <a:off x="6065215" y="5569839"/>
            <a:ext cx="777240" cy="274320"/>
          </a:xfrm>
          <a:prstGeom prst="rect">
            <a:avLst/>
          </a:prstGeom>
          <a:noFill/>
          <a:ln/>
        </p:spPr>
        <p:txBody>
          <a:bodyPr wrap="square" lIns="0" tIns="0" rIns="0" bIns="0" rtlCol="0" anchor="ctr"/>
          <a:lstStyle/>
          <a:p>
            <a:pPr indent="0" marL="0">
              <a:buNone/>
            </a:pPr>
            <a:r>
              <a:rPr lang="en-US" sz="1050" dirty="0">
                <a:solidFill>
                  <a:srgbClr val="A8C7FA"/>
                </a:solidFill>
                <a:latin typeface="Arial" pitchFamily="34" charset="0"/>
                <a:ea typeface="Arial" pitchFamily="34" charset="-122"/>
                <a:cs typeface="Arial" pitchFamily="34" charset="-120"/>
              </a:rPr>
              <a:t>Built with</a:t>
            </a:r>
            <a:endParaRPr lang="en-US" sz="1050" dirty="0"/>
          </a:p>
        </p:txBody>
      </p:sp>
      <p:sp>
        <p:nvSpPr>
          <p:cNvPr id="20" name="Shape 16"/>
          <p:cNvSpPr/>
          <p:nvPr/>
        </p:nvSpPr>
        <p:spPr>
          <a:xfrm>
            <a:off x="6869887" y="5661279"/>
            <a:ext cx="91440" cy="91440"/>
          </a:xfrm>
          <a:prstGeom prst="ellipse">
            <a:avLst/>
          </a:prstGeom>
          <a:solidFill>
            <a:srgbClr val="1A73E8"/>
          </a:solidFill>
          <a:ln/>
        </p:spPr>
      </p:sp>
      <p:sp>
        <p:nvSpPr>
          <p:cNvPr id="21" name="Text 17"/>
          <p:cNvSpPr txBox="1"/>
          <p:nvPr/>
        </p:nvSpPr>
        <p:spPr>
          <a:xfrm>
            <a:off x="7016191" y="5569839"/>
            <a:ext cx="1280160" cy="27432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Gemini</a:t>
            </a:r>
            <a:endParaRPr lang="en-US" sz="1050" dirty="0"/>
          </a:p>
        </p:txBody>
      </p:sp>
      <p:sp>
        <p:nvSpPr>
          <p:cNvPr id="22" name="Shape 18"/>
          <p:cNvSpPr/>
          <p:nvPr/>
        </p:nvSpPr>
        <p:spPr>
          <a:xfrm>
            <a:off x="7736738" y="5661279"/>
            <a:ext cx="91440" cy="91440"/>
          </a:xfrm>
          <a:prstGeom prst="ellipse">
            <a:avLst/>
          </a:prstGeom>
          <a:solidFill>
            <a:srgbClr val="EA4335"/>
          </a:solidFill>
          <a:ln/>
        </p:spPr>
      </p:sp>
      <p:sp>
        <p:nvSpPr>
          <p:cNvPr id="23" name="Text 19"/>
          <p:cNvSpPr txBox="1"/>
          <p:nvPr/>
        </p:nvSpPr>
        <p:spPr>
          <a:xfrm>
            <a:off x="7883042" y="5569839"/>
            <a:ext cx="1280160" cy="27432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Earth Engine</a:t>
            </a:r>
            <a:endParaRPr lang="en-US" sz="1050" dirty="0"/>
          </a:p>
        </p:txBody>
      </p:sp>
      <p:sp>
        <p:nvSpPr>
          <p:cNvPr id="24" name="Shape 20"/>
          <p:cNvSpPr/>
          <p:nvPr/>
        </p:nvSpPr>
        <p:spPr>
          <a:xfrm>
            <a:off x="9031529" y="5661279"/>
            <a:ext cx="91440" cy="91440"/>
          </a:xfrm>
          <a:prstGeom prst="ellipse">
            <a:avLst/>
          </a:prstGeom>
          <a:solidFill>
            <a:srgbClr val="FBBC04"/>
          </a:solidFill>
          <a:ln/>
        </p:spPr>
      </p:sp>
      <p:sp>
        <p:nvSpPr>
          <p:cNvPr id="25" name="Text 21"/>
          <p:cNvSpPr txBox="1"/>
          <p:nvPr/>
        </p:nvSpPr>
        <p:spPr>
          <a:xfrm>
            <a:off x="9177833" y="5569839"/>
            <a:ext cx="1280160" cy="27432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Google Maps</a:t>
            </a:r>
            <a:endParaRPr lang="en-US" sz="1050" dirty="0"/>
          </a:p>
        </p:txBody>
      </p:sp>
      <p:sp>
        <p:nvSpPr>
          <p:cNvPr id="26" name="Shape 22"/>
          <p:cNvSpPr/>
          <p:nvPr/>
        </p:nvSpPr>
        <p:spPr>
          <a:xfrm>
            <a:off x="10254996" y="5661279"/>
            <a:ext cx="91440" cy="91440"/>
          </a:xfrm>
          <a:prstGeom prst="ellipse">
            <a:avLst/>
          </a:prstGeom>
          <a:solidFill>
            <a:srgbClr val="34A853"/>
          </a:solidFill>
          <a:ln/>
        </p:spPr>
      </p:sp>
      <p:sp>
        <p:nvSpPr>
          <p:cNvPr id="27" name="Text 23"/>
          <p:cNvSpPr txBox="1"/>
          <p:nvPr/>
        </p:nvSpPr>
        <p:spPr>
          <a:xfrm>
            <a:off x="10401300" y="5569839"/>
            <a:ext cx="1280160" cy="27432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Cloud Run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91440" cy="91440"/>
          </a:xfrm>
          <a:prstGeom prst="ellipse">
            <a:avLst/>
          </a:prstGeom>
          <a:solidFill>
            <a:srgbClr val="1A73E8"/>
          </a:solidFill>
          <a:ln/>
        </p:spPr>
      </p:sp>
      <p:sp>
        <p:nvSpPr>
          <p:cNvPr id="3" name="Shape 1"/>
          <p:cNvSpPr/>
          <p:nvPr/>
        </p:nvSpPr>
        <p:spPr>
          <a:xfrm>
            <a:off x="685800" y="475488"/>
            <a:ext cx="91440" cy="91440"/>
          </a:xfrm>
          <a:prstGeom prst="ellipse">
            <a:avLst/>
          </a:prstGeom>
          <a:solidFill>
            <a:srgbClr val="EA4335"/>
          </a:solidFill>
          <a:ln/>
        </p:spPr>
      </p:sp>
      <p:sp>
        <p:nvSpPr>
          <p:cNvPr id="4" name="Shape 2"/>
          <p:cNvSpPr/>
          <p:nvPr/>
        </p:nvSpPr>
        <p:spPr>
          <a:xfrm>
            <a:off x="822960" y="475488"/>
            <a:ext cx="91440" cy="91440"/>
          </a:xfrm>
          <a:prstGeom prst="ellipse">
            <a:avLst/>
          </a:prstGeom>
          <a:solidFill>
            <a:srgbClr val="FBBC04"/>
          </a:solidFill>
          <a:ln/>
        </p:spPr>
      </p:sp>
      <p:sp>
        <p:nvSpPr>
          <p:cNvPr id="5" name="Shape 3"/>
          <p:cNvSpPr/>
          <p:nvPr/>
        </p:nvSpPr>
        <p:spPr>
          <a:xfrm>
            <a:off x="960120" y="475488"/>
            <a:ext cx="91440" cy="91440"/>
          </a:xfrm>
          <a:prstGeom prst="ellipse">
            <a:avLst/>
          </a:prstGeom>
          <a:solidFill>
            <a:srgbClr val="34A853"/>
          </a:solidFill>
          <a:ln/>
        </p:spPr>
      </p:sp>
      <p:sp>
        <p:nvSpPr>
          <p:cNvPr id="6" name="Text 4"/>
          <p:cNvSpPr txBox="1"/>
          <p:nvPr/>
        </p:nvSpPr>
        <p:spPr>
          <a:xfrm>
            <a:off x="1115568" y="393192"/>
            <a:ext cx="8229600" cy="274320"/>
          </a:xfrm>
          <a:prstGeom prst="rect">
            <a:avLst/>
          </a:prstGeom>
          <a:noFill/>
          <a:ln/>
        </p:spPr>
        <p:txBody>
          <a:bodyPr wrap="square" lIns="0" tIns="0" rIns="0" bIns="0" rtlCol="0" anchor="ctr"/>
          <a:lstStyle/>
          <a:p>
            <a:pPr indent="0" marL="0">
              <a:buNone/>
            </a:pPr>
            <a:r>
              <a:rPr lang="en-US" sz="1100" b="1" spc="200" kern="0" dirty="0">
                <a:solidFill>
                  <a:srgbClr val="1A73E8"/>
                </a:solidFill>
                <a:latin typeface="Arial" pitchFamily="34" charset="0"/>
                <a:ea typeface="Arial" pitchFamily="34" charset="-122"/>
                <a:cs typeface="Arial" pitchFamily="34" charset="-120"/>
              </a:rPr>
              <a:t>THE PROBLEM &amp; THE CHALLENGE</a:t>
            </a:r>
            <a:endParaRPr lang="en-US" sz="1100" dirty="0"/>
          </a:p>
        </p:txBody>
      </p:sp>
      <p:sp>
        <p:nvSpPr>
          <p:cNvPr id="7" name="Text 5"/>
          <p:cNvSpPr txBox="1"/>
          <p:nvPr/>
        </p:nvSpPr>
        <p:spPr>
          <a:xfrm>
            <a:off x="548640" y="786384"/>
            <a:ext cx="11094415" cy="914400"/>
          </a:xfrm>
          <a:prstGeom prst="rect">
            <a:avLst/>
          </a:prstGeom>
          <a:noFill/>
          <a:ln/>
        </p:spPr>
        <p:txBody>
          <a:bodyPr wrap="square" lIns="0" tIns="0" rIns="0" bIns="0" rtlCol="0" anchor="t"/>
          <a:lstStyle/>
          <a:p>
            <a:pPr indent="0" marL="0">
              <a:buNone/>
            </a:pPr>
            <a:r>
              <a:rPr lang="en-US" sz="2700" b="1" dirty="0">
                <a:solidFill>
                  <a:srgbClr val="202124"/>
                </a:solidFill>
                <a:latin typeface="Arial" pitchFamily="34" charset="0"/>
                <a:ea typeface="Arial" pitchFamily="34" charset="-122"/>
                <a:cs typeface="Arial" pitchFamily="34" charset="-120"/>
              </a:rPr>
              <a:t>Forecasts tell us where a cyclone will go. They don’t tell an officer what it will hit.</a:t>
            </a:r>
            <a:endParaRPr lang="en-US" sz="2700" dirty="0"/>
          </a:p>
        </p:txBody>
      </p:sp>
      <p:sp>
        <p:nvSpPr>
          <p:cNvPr id="8" name="Shape 6"/>
          <p:cNvSpPr/>
          <p:nvPr/>
        </p:nvSpPr>
        <p:spPr>
          <a:xfrm>
            <a:off x="548640" y="1828800"/>
            <a:ext cx="5074920" cy="4370832"/>
          </a:xfrm>
          <a:prstGeom prst="roundRect">
            <a:avLst>
              <a:gd name="adj" fmla="val 2510"/>
            </a:avLst>
          </a:prstGeom>
          <a:solidFill>
            <a:srgbClr val="F8F9FA"/>
          </a:solidFill>
          <a:ln/>
        </p:spPr>
      </p:sp>
      <p:sp>
        <p:nvSpPr>
          <p:cNvPr id="9" name="Shape 7"/>
          <p:cNvSpPr/>
          <p:nvPr/>
        </p:nvSpPr>
        <p:spPr>
          <a:xfrm>
            <a:off x="822960" y="2057400"/>
            <a:ext cx="512064" cy="512064"/>
          </a:xfrm>
          <a:prstGeom prst="ellipse">
            <a:avLst/>
          </a:prstGeom>
          <a:solidFill>
            <a:srgbClr val="FCE8E6"/>
          </a:solidFill>
          <a:ln/>
        </p:spPr>
      </p:sp>
      <p:pic>
        <p:nvPicPr>
          <p:cNvPr id="10" name="Image 0" descr="preencoded.png">    </p:cNvPr>
          <p:cNvPicPr>
            <a:picLocks noChangeAspect="1"/>
          </p:cNvPicPr>
          <p:nvPr/>
        </p:nvPicPr>
        <p:blipFill>
          <a:blip r:embed="rId1"/>
          <a:stretch>
            <a:fillRect/>
          </a:stretch>
        </p:blipFill>
        <p:spPr>
          <a:xfrm>
            <a:off x="935614" y="2170054"/>
            <a:ext cx="286756" cy="286756"/>
          </a:xfrm>
          <a:prstGeom prst="rect">
            <a:avLst/>
          </a:prstGeom>
        </p:spPr>
      </p:pic>
      <p:sp>
        <p:nvSpPr>
          <p:cNvPr id="11" name="Text 8"/>
          <p:cNvSpPr txBox="1"/>
          <p:nvPr/>
        </p:nvSpPr>
        <p:spPr>
          <a:xfrm>
            <a:off x="1463040" y="2057400"/>
            <a:ext cx="2743200" cy="512064"/>
          </a:xfrm>
          <a:prstGeom prst="rect">
            <a:avLst/>
          </a:prstGeom>
          <a:noFill/>
          <a:ln/>
        </p:spPr>
        <p:txBody>
          <a:bodyPr wrap="square" lIns="0" tIns="0" rIns="0" bIns="0" rtlCol="0" anchor="ctr"/>
          <a:lstStyle/>
          <a:p>
            <a:pPr indent="0" marL="0">
              <a:buNone/>
            </a:pPr>
            <a:r>
              <a:rPr lang="en-US" sz="1300" b="1" spc="200" kern="0" dirty="0">
                <a:solidFill>
                  <a:srgbClr val="C5221F"/>
                </a:solidFill>
                <a:latin typeface="Arial" pitchFamily="34" charset="0"/>
                <a:ea typeface="Arial" pitchFamily="34" charset="-122"/>
                <a:cs typeface="Arial" pitchFamily="34" charset="-120"/>
              </a:rPr>
              <a:t>THE PROBLEM</a:t>
            </a:r>
            <a:endParaRPr lang="en-US" sz="1300" dirty="0"/>
          </a:p>
        </p:txBody>
      </p:sp>
      <p:sp>
        <p:nvSpPr>
          <p:cNvPr id="12" name="Text 9"/>
          <p:cNvSpPr txBox="1"/>
          <p:nvPr/>
        </p:nvSpPr>
        <p:spPr>
          <a:xfrm>
            <a:off x="822960" y="2743200"/>
            <a:ext cx="4526280" cy="1600200"/>
          </a:xfrm>
          <a:prstGeom prst="rect">
            <a:avLst/>
          </a:prstGeom>
          <a:noFill/>
          <a:ln/>
        </p:spPr>
        <p:txBody>
          <a:bodyPr wrap="square" lIns="0" tIns="0" rIns="0" bIns="0" rtlCol="0" anchor="t"/>
          <a:lstStyle/>
          <a:p>
            <a:pPr indent="0" marL="0">
              <a:lnSpc>
                <a:spcPct val="110000"/>
              </a:lnSpc>
              <a:buNone/>
            </a:pPr>
            <a:r>
              <a:rPr lang="en-US" sz="1450" dirty="0">
                <a:solidFill>
                  <a:srgbClr val="202124"/>
                </a:solidFill>
                <a:latin typeface="Arial" pitchFamily="34" charset="0"/>
                <a:ea typeface="Arial" pitchFamily="34" charset="-122"/>
                <a:cs typeface="Arial" pitchFamily="34" charset="-120"/>
              </a:rPr>
              <a:t>IMD issues good cyclone forecasts. But before landfall, a District Collector and every department still work out by phone calls and spreadsheets what that track means for their schools, hospitals, power lines, roads and people.</a:t>
            </a:r>
            <a:endParaRPr lang="en-US" sz="1450" dirty="0"/>
          </a:p>
        </p:txBody>
      </p:sp>
      <p:sp>
        <p:nvSpPr>
          <p:cNvPr id="13" name="Shape 10"/>
          <p:cNvSpPr/>
          <p:nvPr/>
        </p:nvSpPr>
        <p:spPr>
          <a:xfrm>
            <a:off x="822960" y="4617720"/>
            <a:ext cx="1325880" cy="566928"/>
          </a:xfrm>
          <a:prstGeom prst="roundRect">
            <a:avLst>
              <a:gd name="adj" fmla="val 16129"/>
            </a:avLst>
          </a:prstGeom>
          <a:solidFill>
            <a:srgbClr val="E8F0FE"/>
          </a:solidFill>
          <a:ln w="19050">
            <a:solidFill>
              <a:srgbClr val="1A73E8"/>
            </a:solidFill>
            <a:prstDash val="solid"/>
          </a:ln>
        </p:spPr>
      </p:sp>
      <p:sp>
        <p:nvSpPr>
          <p:cNvPr id="14" name="Text 11"/>
          <p:cNvSpPr txBox="1"/>
          <p:nvPr/>
        </p:nvSpPr>
        <p:spPr>
          <a:xfrm>
            <a:off x="822960" y="4617720"/>
            <a:ext cx="1325880" cy="566928"/>
          </a:xfrm>
          <a:prstGeom prst="rect">
            <a:avLst/>
          </a:prstGeom>
          <a:noFill/>
          <a:ln/>
        </p:spPr>
        <p:txBody>
          <a:bodyPr wrap="square" lIns="0" tIns="0" rIns="0" bIns="0" rtlCol="0" anchor="ctr"/>
          <a:lstStyle/>
          <a:p>
            <a:pPr algn="ctr" indent="0" marL="0">
              <a:buNone/>
            </a:pPr>
            <a:r>
              <a:rPr lang="en-US" sz="1200" b="1" spc="100" kern="0" dirty="0">
                <a:solidFill>
                  <a:srgbClr val="1967D2"/>
                </a:solidFill>
                <a:latin typeface="Arial" pitchFamily="34" charset="0"/>
                <a:ea typeface="Arial" pitchFamily="34" charset="-122"/>
                <a:cs typeface="Arial" pitchFamily="34" charset="-120"/>
              </a:rPr>
              <a:t>FORECAST</a:t>
            </a:r>
            <a:endParaRPr lang="en-US" sz="1200" dirty="0"/>
          </a:p>
        </p:txBody>
      </p:sp>
      <p:sp>
        <p:nvSpPr>
          <p:cNvPr id="15" name="Shape 12"/>
          <p:cNvSpPr/>
          <p:nvPr/>
        </p:nvSpPr>
        <p:spPr>
          <a:xfrm>
            <a:off x="2176272" y="4901184"/>
            <a:ext cx="219456" cy="914"/>
          </a:xfrm>
          <a:prstGeom prst="line">
            <a:avLst/>
          </a:prstGeom>
          <a:noFill/>
          <a:ln w="19050">
            <a:solidFill>
              <a:srgbClr val="5F6368"/>
            </a:solidFill>
            <a:prstDash val="solid"/>
            <a:tailEnd type="triangle"/>
          </a:ln>
        </p:spPr>
      </p:sp>
      <p:sp>
        <p:nvSpPr>
          <p:cNvPr id="16" name="Shape 13"/>
          <p:cNvSpPr/>
          <p:nvPr/>
        </p:nvSpPr>
        <p:spPr>
          <a:xfrm>
            <a:off x="2423160" y="4617720"/>
            <a:ext cx="1325880" cy="566928"/>
          </a:xfrm>
          <a:prstGeom prst="roundRect">
            <a:avLst>
              <a:gd name="adj" fmla="val 16129"/>
            </a:avLst>
          </a:prstGeom>
          <a:solidFill>
            <a:srgbClr val="FFFFFF"/>
          </a:solidFill>
          <a:ln w="19050">
            <a:solidFill>
              <a:srgbClr val="EA4335"/>
            </a:solidFill>
            <a:prstDash val="dash"/>
          </a:ln>
        </p:spPr>
      </p:sp>
      <p:sp>
        <p:nvSpPr>
          <p:cNvPr id="17" name="Text 14"/>
          <p:cNvSpPr txBox="1"/>
          <p:nvPr/>
        </p:nvSpPr>
        <p:spPr>
          <a:xfrm>
            <a:off x="2423160" y="4617720"/>
            <a:ext cx="1325880" cy="566928"/>
          </a:xfrm>
          <a:prstGeom prst="rect">
            <a:avLst/>
          </a:prstGeom>
          <a:noFill/>
          <a:ln/>
        </p:spPr>
        <p:txBody>
          <a:bodyPr wrap="square" lIns="0" tIns="0" rIns="0" bIns="0" rtlCol="0" anchor="ctr"/>
          <a:lstStyle/>
          <a:p>
            <a:pPr algn="ctr" indent="0" marL="0">
              <a:buNone/>
            </a:pPr>
            <a:r>
              <a:rPr lang="en-US" sz="1200" b="1" spc="100" kern="0" dirty="0">
                <a:solidFill>
                  <a:srgbClr val="C5221F"/>
                </a:solidFill>
                <a:latin typeface="Arial" pitchFamily="34" charset="0"/>
                <a:ea typeface="Arial" pitchFamily="34" charset="-122"/>
                <a:cs typeface="Arial" pitchFamily="34" charset="-120"/>
              </a:rPr>
              <a:t>?</a:t>
            </a:r>
            <a:endParaRPr lang="en-US" sz="1200" dirty="0"/>
          </a:p>
        </p:txBody>
      </p:sp>
      <p:sp>
        <p:nvSpPr>
          <p:cNvPr id="18" name="Shape 15"/>
          <p:cNvSpPr/>
          <p:nvPr/>
        </p:nvSpPr>
        <p:spPr>
          <a:xfrm>
            <a:off x="3776472" y="4901184"/>
            <a:ext cx="219456" cy="914"/>
          </a:xfrm>
          <a:prstGeom prst="line">
            <a:avLst/>
          </a:prstGeom>
          <a:noFill/>
          <a:ln w="19050">
            <a:solidFill>
              <a:srgbClr val="5F6368"/>
            </a:solidFill>
            <a:prstDash val="solid"/>
            <a:tailEnd type="triangle"/>
          </a:ln>
        </p:spPr>
      </p:sp>
      <p:sp>
        <p:nvSpPr>
          <p:cNvPr id="19" name="Shape 16"/>
          <p:cNvSpPr/>
          <p:nvPr/>
        </p:nvSpPr>
        <p:spPr>
          <a:xfrm>
            <a:off x="4023360" y="4617720"/>
            <a:ext cx="1325880" cy="566928"/>
          </a:xfrm>
          <a:prstGeom prst="roundRect">
            <a:avLst>
              <a:gd name="adj" fmla="val 16129"/>
            </a:avLst>
          </a:prstGeom>
          <a:solidFill>
            <a:srgbClr val="E6F4EA"/>
          </a:solidFill>
          <a:ln w="19050">
            <a:solidFill>
              <a:srgbClr val="34A853"/>
            </a:solidFill>
            <a:prstDash val="solid"/>
          </a:ln>
        </p:spPr>
      </p:sp>
      <p:sp>
        <p:nvSpPr>
          <p:cNvPr id="20" name="Text 17"/>
          <p:cNvSpPr txBox="1"/>
          <p:nvPr/>
        </p:nvSpPr>
        <p:spPr>
          <a:xfrm>
            <a:off x="4023360" y="4617720"/>
            <a:ext cx="1325880" cy="566928"/>
          </a:xfrm>
          <a:prstGeom prst="rect">
            <a:avLst/>
          </a:prstGeom>
          <a:noFill/>
          <a:ln/>
        </p:spPr>
        <p:txBody>
          <a:bodyPr wrap="square" lIns="0" tIns="0" rIns="0" bIns="0" rtlCol="0" anchor="ctr"/>
          <a:lstStyle/>
          <a:p>
            <a:pPr algn="ctr" indent="0" marL="0">
              <a:buNone/>
            </a:pPr>
            <a:r>
              <a:rPr lang="en-US" sz="1200" b="1" spc="100" kern="0" dirty="0">
                <a:solidFill>
                  <a:srgbClr val="188038"/>
                </a:solidFill>
                <a:latin typeface="Arial" pitchFamily="34" charset="0"/>
                <a:ea typeface="Arial" pitchFamily="34" charset="-122"/>
                <a:cs typeface="Arial" pitchFamily="34" charset="-120"/>
              </a:rPr>
              <a:t>ACTION</a:t>
            </a:r>
            <a:endParaRPr lang="en-US" sz="1200" dirty="0"/>
          </a:p>
        </p:txBody>
      </p:sp>
      <p:sp>
        <p:nvSpPr>
          <p:cNvPr id="21" name="Text 18"/>
          <p:cNvSpPr txBox="1"/>
          <p:nvPr/>
        </p:nvSpPr>
        <p:spPr>
          <a:xfrm>
            <a:off x="822960" y="5276088"/>
            <a:ext cx="4526280" cy="274320"/>
          </a:xfrm>
          <a:prstGeom prst="rect">
            <a:avLst/>
          </a:prstGeom>
          <a:noFill/>
          <a:ln/>
        </p:spPr>
        <p:txBody>
          <a:bodyPr wrap="square" lIns="0" tIns="0" rIns="0" bIns="0" rtlCol="0" anchor="t"/>
          <a:lstStyle/>
          <a:p>
            <a:pPr indent="0" marL="0">
              <a:buNone/>
            </a:pPr>
            <a:r>
              <a:rPr lang="en-US" sz="1050" i="1" dirty="0">
                <a:solidFill>
                  <a:srgbClr val="5F6368"/>
                </a:solidFill>
                <a:latin typeface="Arial" pitchFamily="34" charset="0"/>
                <a:ea typeface="Arial" pitchFamily="34" charset="-122"/>
                <a:cs typeface="Arial" pitchFamily="34" charset="-120"/>
              </a:rPr>
              <a:t>The missing layer is consequence.</a:t>
            </a:r>
            <a:endParaRPr lang="en-US" sz="1050" dirty="0"/>
          </a:p>
        </p:txBody>
      </p:sp>
      <p:sp>
        <p:nvSpPr>
          <p:cNvPr id="22" name="Shape 19"/>
          <p:cNvSpPr/>
          <p:nvPr/>
        </p:nvSpPr>
        <p:spPr>
          <a:xfrm>
            <a:off x="5943600" y="1828800"/>
            <a:ext cx="512064" cy="512064"/>
          </a:xfrm>
          <a:prstGeom prst="ellipse">
            <a:avLst/>
          </a:prstGeom>
          <a:solidFill>
            <a:srgbClr val="E8F0FE"/>
          </a:solidFill>
          <a:ln/>
        </p:spPr>
      </p:sp>
      <p:pic>
        <p:nvPicPr>
          <p:cNvPr id="23" name="Image 1" descr="preencoded.png">    </p:cNvPr>
          <p:cNvPicPr>
            <a:picLocks noChangeAspect="1"/>
          </p:cNvPicPr>
          <p:nvPr/>
        </p:nvPicPr>
        <p:blipFill>
          <a:blip r:embed="rId2"/>
          <a:stretch>
            <a:fillRect/>
          </a:stretch>
        </p:blipFill>
        <p:spPr>
          <a:xfrm>
            <a:off x="6056254" y="1941454"/>
            <a:ext cx="286756" cy="286756"/>
          </a:xfrm>
          <a:prstGeom prst="rect">
            <a:avLst/>
          </a:prstGeom>
        </p:spPr>
      </p:pic>
      <p:sp>
        <p:nvSpPr>
          <p:cNvPr id="24" name="Text 20"/>
          <p:cNvSpPr txBox="1"/>
          <p:nvPr/>
        </p:nvSpPr>
        <p:spPr>
          <a:xfrm>
            <a:off x="6583680" y="1828800"/>
            <a:ext cx="3200400" cy="512064"/>
          </a:xfrm>
          <a:prstGeom prst="rect">
            <a:avLst/>
          </a:prstGeom>
          <a:noFill/>
          <a:ln/>
        </p:spPr>
        <p:txBody>
          <a:bodyPr wrap="square" lIns="0" tIns="0" rIns="0" bIns="0" rtlCol="0" anchor="ctr"/>
          <a:lstStyle/>
          <a:p>
            <a:pPr indent="0" marL="0">
              <a:buNone/>
            </a:pPr>
            <a:r>
              <a:rPr lang="en-US" sz="1300" b="1" spc="200" kern="0" dirty="0">
                <a:solidFill>
                  <a:srgbClr val="1967D2"/>
                </a:solidFill>
                <a:latin typeface="Arial" pitchFamily="34" charset="0"/>
                <a:ea typeface="Arial" pitchFamily="34" charset="-122"/>
                <a:cs typeface="Arial" pitchFamily="34" charset="-120"/>
              </a:rPr>
              <a:t>THE CHALLENGE</a:t>
            </a:r>
            <a:endParaRPr lang="en-US" sz="1300" dirty="0"/>
          </a:p>
        </p:txBody>
      </p:sp>
      <p:sp>
        <p:nvSpPr>
          <p:cNvPr id="25" name="Text 21"/>
          <p:cNvSpPr txBox="1"/>
          <p:nvPr/>
        </p:nvSpPr>
        <p:spPr>
          <a:xfrm>
            <a:off x="5943600" y="2487168"/>
            <a:ext cx="5699455" cy="566928"/>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Turn one cyclone forecast into answers every department can act on, before landfall:</a:t>
            </a:r>
            <a:endParaRPr lang="en-US" sz="1300" dirty="0"/>
          </a:p>
        </p:txBody>
      </p:sp>
      <p:sp>
        <p:nvSpPr>
          <p:cNvPr id="26" name="Shape 22"/>
          <p:cNvSpPr/>
          <p:nvPr/>
        </p:nvSpPr>
        <p:spPr>
          <a:xfrm>
            <a:off x="5943600" y="3182112"/>
            <a:ext cx="457200" cy="457200"/>
          </a:xfrm>
          <a:prstGeom prst="ellipse">
            <a:avLst/>
          </a:prstGeom>
          <a:solidFill>
            <a:srgbClr val="FCE8E6"/>
          </a:solidFill>
          <a:ln/>
        </p:spPr>
      </p:sp>
      <p:pic>
        <p:nvPicPr>
          <p:cNvPr id="27" name="Image 2" descr="preencoded.png">    </p:cNvPr>
          <p:cNvPicPr>
            <a:picLocks noChangeAspect="1"/>
          </p:cNvPicPr>
          <p:nvPr/>
        </p:nvPicPr>
        <p:blipFill>
          <a:blip r:embed="rId3"/>
          <a:stretch>
            <a:fillRect/>
          </a:stretch>
        </p:blipFill>
        <p:spPr>
          <a:xfrm>
            <a:off x="6044184" y="3282696"/>
            <a:ext cx="256032" cy="256032"/>
          </a:xfrm>
          <a:prstGeom prst="rect">
            <a:avLst/>
          </a:prstGeom>
        </p:spPr>
      </p:pic>
      <p:sp>
        <p:nvSpPr>
          <p:cNvPr id="28" name="Text 23"/>
          <p:cNvSpPr txBox="1"/>
          <p:nvPr/>
        </p:nvSpPr>
        <p:spPr>
          <a:xfrm>
            <a:off x="6565392" y="3182112"/>
            <a:ext cx="5077663" cy="45720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Which schools and hospitals will be hit hardest, and why?</a:t>
            </a:r>
            <a:endParaRPr lang="en-US" sz="1400" dirty="0"/>
          </a:p>
        </p:txBody>
      </p:sp>
      <p:sp>
        <p:nvSpPr>
          <p:cNvPr id="29" name="Shape 24"/>
          <p:cNvSpPr/>
          <p:nvPr/>
        </p:nvSpPr>
        <p:spPr>
          <a:xfrm>
            <a:off x="5943600" y="3785616"/>
            <a:ext cx="457200" cy="457200"/>
          </a:xfrm>
          <a:prstGeom prst="ellipse">
            <a:avLst/>
          </a:prstGeom>
          <a:solidFill>
            <a:srgbClr val="FEF7E0"/>
          </a:solidFill>
          <a:ln/>
        </p:spPr>
      </p:sp>
      <p:pic>
        <p:nvPicPr>
          <p:cNvPr id="30" name="Image 3" descr="preencoded.png">    </p:cNvPr>
          <p:cNvPicPr>
            <a:picLocks noChangeAspect="1"/>
          </p:cNvPicPr>
          <p:nvPr/>
        </p:nvPicPr>
        <p:blipFill>
          <a:blip r:embed="rId4"/>
          <a:stretch>
            <a:fillRect/>
          </a:stretch>
        </p:blipFill>
        <p:spPr>
          <a:xfrm>
            <a:off x="6044184" y="3886200"/>
            <a:ext cx="256032" cy="256032"/>
          </a:xfrm>
          <a:prstGeom prst="rect">
            <a:avLst/>
          </a:prstGeom>
        </p:spPr>
      </p:pic>
      <p:sp>
        <p:nvSpPr>
          <p:cNvPr id="31" name="Text 25"/>
          <p:cNvSpPr txBox="1"/>
          <p:nvPr/>
        </p:nvSpPr>
        <p:spPr>
          <a:xfrm>
            <a:off x="6565392" y="3785616"/>
            <a:ext cx="5077663" cy="45720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Which roads to a hospital could be cut off?</a:t>
            </a:r>
            <a:endParaRPr lang="en-US" sz="1400" dirty="0"/>
          </a:p>
        </p:txBody>
      </p:sp>
      <p:sp>
        <p:nvSpPr>
          <p:cNvPr id="32" name="Shape 26"/>
          <p:cNvSpPr/>
          <p:nvPr/>
        </p:nvSpPr>
        <p:spPr>
          <a:xfrm>
            <a:off x="5943600" y="4389120"/>
            <a:ext cx="457200" cy="457200"/>
          </a:xfrm>
          <a:prstGeom prst="ellipse">
            <a:avLst/>
          </a:prstGeom>
          <a:solidFill>
            <a:srgbClr val="E8F0FE"/>
          </a:solidFill>
          <a:ln/>
        </p:spPr>
      </p:sp>
      <p:pic>
        <p:nvPicPr>
          <p:cNvPr id="33" name="Image 4" descr="preencoded.png">    </p:cNvPr>
          <p:cNvPicPr>
            <a:picLocks noChangeAspect="1"/>
          </p:cNvPicPr>
          <p:nvPr/>
        </p:nvPicPr>
        <p:blipFill>
          <a:blip r:embed="rId5"/>
          <a:stretch>
            <a:fillRect/>
          </a:stretch>
        </p:blipFill>
        <p:spPr>
          <a:xfrm>
            <a:off x="6044184" y="4489704"/>
            <a:ext cx="256032" cy="256032"/>
          </a:xfrm>
          <a:prstGeom prst="rect">
            <a:avLst/>
          </a:prstGeom>
        </p:spPr>
      </p:pic>
      <p:sp>
        <p:nvSpPr>
          <p:cNvPr id="34" name="Text 27"/>
          <p:cNvSpPr txBox="1"/>
          <p:nvPr/>
        </p:nvSpPr>
        <p:spPr>
          <a:xfrm>
            <a:off x="6565392" y="4389120"/>
            <a:ext cx="5077663" cy="45720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What changes if the track shifts 30 km north?</a:t>
            </a:r>
            <a:endParaRPr lang="en-US" sz="1400" dirty="0"/>
          </a:p>
        </p:txBody>
      </p:sp>
      <p:sp>
        <p:nvSpPr>
          <p:cNvPr id="35" name="Shape 28"/>
          <p:cNvSpPr/>
          <p:nvPr/>
        </p:nvSpPr>
        <p:spPr>
          <a:xfrm>
            <a:off x="5943600" y="4992624"/>
            <a:ext cx="457200" cy="457200"/>
          </a:xfrm>
          <a:prstGeom prst="ellipse">
            <a:avLst/>
          </a:prstGeom>
          <a:solidFill>
            <a:srgbClr val="E6F4EA"/>
          </a:solidFill>
          <a:ln/>
        </p:spPr>
      </p:sp>
      <p:pic>
        <p:nvPicPr>
          <p:cNvPr id="36" name="Image 5" descr="preencoded.png">    </p:cNvPr>
          <p:cNvPicPr>
            <a:picLocks noChangeAspect="1"/>
          </p:cNvPicPr>
          <p:nvPr/>
        </p:nvPicPr>
        <p:blipFill>
          <a:blip r:embed="rId6"/>
          <a:stretch>
            <a:fillRect/>
          </a:stretch>
        </p:blipFill>
        <p:spPr>
          <a:xfrm>
            <a:off x="6044184" y="5093208"/>
            <a:ext cx="256032" cy="256032"/>
          </a:xfrm>
          <a:prstGeom prst="rect">
            <a:avLst/>
          </a:prstGeom>
        </p:spPr>
      </p:pic>
      <p:sp>
        <p:nvSpPr>
          <p:cNvPr id="37" name="Text 29"/>
          <p:cNvSpPr txBox="1"/>
          <p:nvPr/>
        </p:nvSpPr>
        <p:spPr>
          <a:xfrm>
            <a:off x="6565392" y="4992624"/>
            <a:ext cx="5077663" cy="45720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What should Health do, and what should Electricity do?</a:t>
            </a:r>
            <a:endParaRPr lang="en-US" sz="1400" dirty="0"/>
          </a:p>
        </p:txBody>
      </p:sp>
      <p:sp>
        <p:nvSpPr>
          <p:cNvPr id="38" name="Shape 30"/>
          <p:cNvSpPr/>
          <p:nvPr/>
        </p:nvSpPr>
        <p:spPr>
          <a:xfrm>
            <a:off x="5943600" y="5596128"/>
            <a:ext cx="457200" cy="457200"/>
          </a:xfrm>
          <a:prstGeom prst="ellipse">
            <a:avLst/>
          </a:prstGeom>
          <a:solidFill>
            <a:srgbClr val="E8F0FE"/>
          </a:solidFill>
          <a:ln/>
        </p:spPr>
      </p:sp>
      <p:pic>
        <p:nvPicPr>
          <p:cNvPr id="39" name="Image 6" descr="preencoded.png">    </p:cNvPr>
          <p:cNvPicPr>
            <a:picLocks noChangeAspect="1"/>
          </p:cNvPicPr>
          <p:nvPr/>
        </p:nvPicPr>
        <p:blipFill>
          <a:blip r:embed="rId7"/>
          <a:stretch>
            <a:fillRect/>
          </a:stretch>
        </p:blipFill>
        <p:spPr>
          <a:xfrm>
            <a:off x="6044184" y="5696712"/>
            <a:ext cx="256032" cy="256032"/>
          </a:xfrm>
          <a:prstGeom prst="rect">
            <a:avLst/>
          </a:prstGeom>
        </p:spPr>
      </p:pic>
      <p:sp>
        <p:nvSpPr>
          <p:cNvPr id="40" name="Text 31"/>
          <p:cNvSpPr txBox="1"/>
          <p:nvPr/>
        </p:nvSpPr>
        <p:spPr>
          <a:xfrm>
            <a:off x="6565392" y="5596128"/>
            <a:ext cx="5077663" cy="45720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How do we warn people in Tamil, Telugu or Odia?</a:t>
            </a:r>
            <a:endParaRPr lang="en-US" sz="1400" dirty="0"/>
          </a:p>
        </p:txBody>
      </p:sp>
      <p:sp>
        <p:nvSpPr>
          <p:cNvPr id="41" name="Shape 32"/>
          <p:cNvSpPr/>
          <p:nvPr/>
        </p:nvSpPr>
        <p:spPr>
          <a:xfrm>
            <a:off x="548640" y="6492240"/>
            <a:ext cx="73152" cy="73152"/>
          </a:xfrm>
          <a:prstGeom prst="ellipse">
            <a:avLst/>
          </a:prstGeom>
          <a:solidFill>
            <a:srgbClr val="1A73E8"/>
          </a:solidFill>
          <a:ln/>
        </p:spPr>
      </p:sp>
      <p:sp>
        <p:nvSpPr>
          <p:cNvPr id="42" name="Shape 33"/>
          <p:cNvSpPr/>
          <p:nvPr/>
        </p:nvSpPr>
        <p:spPr>
          <a:xfrm>
            <a:off x="658368" y="6492240"/>
            <a:ext cx="73152" cy="73152"/>
          </a:xfrm>
          <a:prstGeom prst="ellipse">
            <a:avLst/>
          </a:prstGeom>
          <a:solidFill>
            <a:srgbClr val="EA4335"/>
          </a:solidFill>
          <a:ln/>
        </p:spPr>
      </p:sp>
      <p:sp>
        <p:nvSpPr>
          <p:cNvPr id="43" name="Shape 34"/>
          <p:cNvSpPr/>
          <p:nvPr/>
        </p:nvSpPr>
        <p:spPr>
          <a:xfrm>
            <a:off x="768096" y="6492240"/>
            <a:ext cx="73152" cy="73152"/>
          </a:xfrm>
          <a:prstGeom prst="ellipse">
            <a:avLst/>
          </a:prstGeom>
          <a:solidFill>
            <a:srgbClr val="FBBC04"/>
          </a:solidFill>
          <a:ln/>
        </p:spPr>
      </p:sp>
      <p:sp>
        <p:nvSpPr>
          <p:cNvPr id="44" name="Shape 35"/>
          <p:cNvSpPr/>
          <p:nvPr/>
        </p:nvSpPr>
        <p:spPr>
          <a:xfrm>
            <a:off x="877824" y="6492240"/>
            <a:ext cx="73152" cy="73152"/>
          </a:xfrm>
          <a:prstGeom prst="ellipse">
            <a:avLst/>
          </a:prstGeom>
          <a:solidFill>
            <a:srgbClr val="34A853"/>
          </a:solidFill>
          <a:ln/>
        </p:spPr>
      </p:sp>
      <p:sp>
        <p:nvSpPr>
          <p:cNvPr id="45" name="Text 36"/>
          <p:cNvSpPr txBox="1"/>
          <p:nvPr/>
        </p:nvSpPr>
        <p:spPr>
          <a:xfrm>
            <a:off x="1024128" y="6419088"/>
            <a:ext cx="4572000" cy="22860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Team Echo  ·  SurgeSight</a:t>
            </a:r>
            <a:endParaRPr lang="en-US" sz="950" dirty="0"/>
          </a:p>
        </p:txBody>
      </p:sp>
      <p:sp>
        <p:nvSpPr>
          <p:cNvPr id="46" name="Text 37"/>
          <p:cNvSpPr txBox="1"/>
          <p:nvPr/>
        </p:nvSpPr>
        <p:spPr>
          <a:xfrm>
            <a:off x="11094415" y="6419088"/>
            <a:ext cx="548640" cy="228600"/>
          </a:xfrm>
          <a:prstGeom prst="rect">
            <a:avLst/>
          </a:prstGeom>
          <a:noFill/>
          <a:ln/>
        </p:spPr>
        <p:txBody>
          <a:bodyPr wrap="square" lIns="0" tIns="0" rIns="0" bIns="0" rtlCol="0" anchor="ctr"/>
          <a:lstStyle/>
          <a:p>
            <a:pPr algn="r" indent="0" marL="0">
              <a:buNone/>
            </a:pPr>
            <a:r>
              <a:rPr lang="en-US" sz="950" dirty="0">
                <a:solidFill>
                  <a:srgbClr val="5F6368"/>
                </a:solidFill>
                <a:latin typeface="Arial" pitchFamily="34" charset="0"/>
                <a:ea typeface="Arial" pitchFamily="34" charset="-122"/>
                <a:cs typeface="Arial"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91440" cy="91440"/>
          </a:xfrm>
          <a:prstGeom prst="ellipse">
            <a:avLst/>
          </a:prstGeom>
          <a:solidFill>
            <a:srgbClr val="1A73E8"/>
          </a:solidFill>
          <a:ln/>
        </p:spPr>
      </p:sp>
      <p:sp>
        <p:nvSpPr>
          <p:cNvPr id="3" name="Shape 1"/>
          <p:cNvSpPr/>
          <p:nvPr/>
        </p:nvSpPr>
        <p:spPr>
          <a:xfrm>
            <a:off x="685800" y="475488"/>
            <a:ext cx="91440" cy="91440"/>
          </a:xfrm>
          <a:prstGeom prst="ellipse">
            <a:avLst/>
          </a:prstGeom>
          <a:solidFill>
            <a:srgbClr val="EA4335"/>
          </a:solidFill>
          <a:ln/>
        </p:spPr>
      </p:sp>
      <p:sp>
        <p:nvSpPr>
          <p:cNvPr id="4" name="Shape 2"/>
          <p:cNvSpPr/>
          <p:nvPr/>
        </p:nvSpPr>
        <p:spPr>
          <a:xfrm>
            <a:off x="822960" y="475488"/>
            <a:ext cx="91440" cy="91440"/>
          </a:xfrm>
          <a:prstGeom prst="ellipse">
            <a:avLst/>
          </a:prstGeom>
          <a:solidFill>
            <a:srgbClr val="FBBC04"/>
          </a:solidFill>
          <a:ln/>
        </p:spPr>
      </p:sp>
      <p:sp>
        <p:nvSpPr>
          <p:cNvPr id="5" name="Shape 3"/>
          <p:cNvSpPr/>
          <p:nvPr/>
        </p:nvSpPr>
        <p:spPr>
          <a:xfrm>
            <a:off x="960120" y="475488"/>
            <a:ext cx="91440" cy="91440"/>
          </a:xfrm>
          <a:prstGeom prst="ellipse">
            <a:avLst/>
          </a:prstGeom>
          <a:solidFill>
            <a:srgbClr val="34A853"/>
          </a:solidFill>
          <a:ln/>
        </p:spPr>
      </p:sp>
      <p:sp>
        <p:nvSpPr>
          <p:cNvPr id="6" name="Text 4"/>
          <p:cNvSpPr txBox="1"/>
          <p:nvPr/>
        </p:nvSpPr>
        <p:spPr>
          <a:xfrm>
            <a:off x="1115568" y="393192"/>
            <a:ext cx="8229600" cy="274320"/>
          </a:xfrm>
          <a:prstGeom prst="rect">
            <a:avLst/>
          </a:prstGeom>
          <a:noFill/>
          <a:ln/>
        </p:spPr>
        <p:txBody>
          <a:bodyPr wrap="square" lIns="0" tIns="0" rIns="0" bIns="0" rtlCol="0" anchor="ctr"/>
          <a:lstStyle/>
          <a:p>
            <a:pPr indent="0" marL="0">
              <a:buNone/>
            </a:pPr>
            <a:r>
              <a:rPr lang="en-US" sz="1100" b="1" spc="200" kern="0" dirty="0">
                <a:solidFill>
                  <a:srgbClr val="1A73E8"/>
                </a:solidFill>
                <a:latin typeface="Arial" pitchFamily="34" charset="0"/>
                <a:ea typeface="Arial" pitchFamily="34" charset="-122"/>
                <a:cs typeface="Arial" pitchFamily="34" charset="-120"/>
              </a:rPr>
              <a:t>OUR SOLUTION</a:t>
            </a:r>
            <a:endParaRPr lang="en-US" sz="1100" dirty="0"/>
          </a:p>
        </p:txBody>
      </p:sp>
      <p:sp>
        <p:nvSpPr>
          <p:cNvPr id="7" name="Text 5"/>
          <p:cNvSpPr txBox="1"/>
          <p:nvPr/>
        </p:nvSpPr>
        <p:spPr>
          <a:xfrm>
            <a:off x="548640" y="786384"/>
            <a:ext cx="11094415" cy="914400"/>
          </a:xfrm>
          <a:prstGeom prst="rect">
            <a:avLst/>
          </a:prstGeom>
          <a:noFill/>
          <a:ln/>
        </p:spPr>
        <p:txBody>
          <a:bodyPr wrap="square" lIns="0" tIns="0" rIns="0" bIns="0" rtlCol="0" anchor="t"/>
          <a:lstStyle/>
          <a:p>
            <a:pPr indent="0" marL="0">
              <a:buNone/>
            </a:pPr>
            <a:r>
              <a:rPr lang="en-US" sz="2700" b="1" dirty="0">
                <a:solidFill>
                  <a:srgbClr val="202124"/>
                </a:solidFill>
                <a:latin typeface="Arial" pitchFamily="34" charset="0"/>
                <a:ea typeface="Arial" pitchFamily="34" charset="-122"/>
                <a:cs typeface="Arial" pitchFamily="34" charset="-120"/>
              </a:rPr>
              <a:t>To solve it, we built SurgeSight: from one cyclone bulletin to approved action, in five steps.</a:t>
            </a:r>
            <a:endParaRPr lang="en-US" sz="2700" dirty="0"/>
          </a:p>
        </p:txBody>
      </p:sp>
      <p:sp>
        <p:nvSpPr>
          <p:cNvPr id="8" name="Shape 6"/>
          <p:cNvSpPr/>
          <p:nvPr/>
        </p:nvSpPr>
        <p:spPr>
          <a:xfrm>
            <a:off x="1658082" y="2674620"/>
            <a:ext cx="8875532" cy="0"/>
          </a:xfrm>
          <a:prstGeom prst="line">
            <a:avLst/>
          </a:prstGeom>
          <a:noFill/>
          <a:ln w="25400">
            <a:solidFill>
              <a:srgbClr val="DADCE0"/>
            </a:solidFill>
            <a:prstDash val="solid"/>
          </a:ln>
        </p:spPr>
      </p:sp>
      <p:sp>
        <p:nvSpPr>
          <p:cNvPr id="9" name="Shape 7"/>
          <p:cNvSpPr/>
          <p:nvPr/>
        </p:nvSpPr>
        <p:spPr>
          <a:xfrm>
            <a:off x="1059150" y="2075688"/>
            <a:ext cx="1197864" cy="1197864"/>
          </a:xfrm>
          <a:prstGeom prst="ellipse">
            <a:avLst/>
          </a:prstGeom>
          <a:solidFill>
            <a:srgbClr val="FFFFFF"/>
          </a:solidFill>
          <a:ln/>
        </p:spPr>
      </p:sp>
      <p:sp>
        <p:nvSpPr>
          <p:cNvPr id="10" name="Shape 8"/>
          <p:cNvSpPr/>
          <p:nvPr/>
        </p:nvSpPr>
        <p:spPr>
          <a:xfrm>
            <a:off x="1132302" y="2148840"/>
            <a:ext cx="1051560" cy="1051560"/>
          </a:xfrm>
          <a:prstGeom prst="ellipse">
            <a:avLst/>
          </a:prstGeom>
          <a:solidFill>
            <a:srgbClr val="E8F0FE"/>
          </a:solidFill>
          <a:ln/>
        </p:spPr>
      </p:sp>
      <p:pic>
        <p:nvPicPr>
          <p:cNvPr id="11" name="Image 0" descr="preencoded.png">    </p:cNvPr>
          <p:cNvPicPr>
            <a:picLocks noChangeAspect="1"/>
          </p:cNvPicPr>
          <p:nvPr/>
        </p:nvPicPr>
        <p:blipFill>
          <a:blip r:embed="rId1"/>
          <a:stretch>
            <a:fillRect/>
          </a:stretch>
        </p:blipFill>
        <p:spPr>
          <a:xfrm>
            <a:off x="1363645" y="2380183"/>
            <a:ext cx="588874" cy="588874"/>
          </a:xfrm>
          <a:prstGeom prst="rect">
            <a:avLst/>
          </a:prstGeom>
        </p:spPr>
      </p:pic>
      <p:sp>
        <p:nvSpPr>
          <p:cNvPr id="12" name="Text 9"/>
          <p:cNvSpPr txBox="1"/>
          <p:nvPr/>
        </p:nvSpPr>
        <p:spPr>
          <a:xfrm>
            <a:off x="548640" y="3383280"/>
            <a:ext cx="2218883" cy="384048"/>
          </a:xfrm>
          <a:prstGeom prst="rect">
            <a:avLst/>
          </a:prstGeom>
          <a:noFill/>
          <a:ln/>
        </p:spPr>
        <p:txBody>
          <a:bodyPr wrap="square" lIns="0" tIns="0" rIns="0" bIns="0" rtlCol="0" anchor="t"/>
          <a:lstStyle/>
          <a:p>
            <a:pPr algn="ctr" indent="0" marL="0">
              <a:buNone/>
            </a:pPr>
            <a:r>
              <a:rPr lang="en-US" sz="1900" b="1" dirty="0">
                <a:solidFill>
                  <a:srgbClr val="202124"/>
                </a:solidFill>
                <a:latin typeface="Arial" pitchFamily="34" charset="0"/>
                <a:ea typeface="Arial" pitchFamily="34" charset="-122"/>
                <a:cs typeface="Arial" pitchFamily="34" charset="-120"/>
              </a:rPr>
              <a:t>1  Read</a:t>
            </a:r>
            <a:endParaRPr lang="en-US" sz="1900" dirty="0"/>
          </a:p>
        </p:txBody>
      </p:sp>
      <p:sp>
        <p:nvSpPr>
          <p:cNvPr id="13" name="Text 10"/>
          <p:cNvSpPr txBox="1"/>
          <p:nvPr/>
        </p:nvSpPr>
        <p:spPr>
          <a:xfrm>
            <a:off x="731520" y="3840480"/>
            <a:ext cx="1853123" cy="868680"/>
          </a:xfrm>
          <a:prstGeom prst="rect">
            <a:avLst/>
          </a:prstGeom>
          <a:noFill/>
          <a:ln/>
        </p:spPr>
        <p:txBody>
          <a:bodyPr wrap="square" lIns="0" tIns="0" rIns="0" bIns="0" rtlCol="0" anchor="t"/>
          <a:lstStyle/>
          <a:p>
            <a:pPr algn="ctr" indent="0" marL="0">
              <a:buNone/>
            </a:pPr>
            <a:r>
              <a:rPr lang="en-US" sz="1300" dirty="0">
                <a:solidFill>
                  <a:srgbClr val="5F6368"/>
                </a:solidFill>
                <a:latin typeface="Arial" pitchFamily="34" charset="0"/>
                <a:ea typeface="Arial" pitchFamily="34" charset="-122"/>
                <a:cs typeface="Arial" pitchFamily="34" charset="-120"/>
              </a:rPr>
              <a:t>Gemini reads the IMD bulletin: text, PDF or photo</a:t>
            </a:r>
            <a:endParaRPr lang="en-US" sz="1300" dirty="0"/>
          </a:p>
        </p:txBody>
      </p:sp>
      <p:sp>
        <p:nvSpPr>
          <p:cNvPr id="14" name="Shape 11"/>
          <p:cNvSpPr/>
          <p:nvPr/>
        </p:nvSpPr>
        <p:spPr>
          <a:xfrm>
            <a:off x="1255746" y="4800600"/>
            <a:ext cx="804672" cy="292608"/>
          </a:xfrm>
          <a:prstGeom prst="roundRect">
            <a:avLst>
              <a:gd name="adj" fmla="val 50000"/>
            </a:avLst>
          </a:prstGeom>
          <a:solidFill>
            <a:srgbClr val="E8F0FE"/>
          </a:solidFill>
          <a:ln/>
        </p:spPr>
      </p:sp>
      <p:sp>
        <p:nvSpPr>
          <p:cNvPr id="15" name="Text 12"/>
          <p:cNvSpPr txBox="1"/>
          <p:nvPr/>
        </p:nvSpPr>
        <p:spPr>
          <a:xfrm>
            <a:off x="1255746" y="4800600"/>
            <a:ext cx="804672" cy="292608"/>
          </a:xfrm>
          <a:prstGeom prst="rect">
            <a:avLst/>
          </a:prstGeom>
          <a:noFill/>
          <a:ln/>
        </p:spPr>
        <p:txBody>
          <a:bodyPr wrap="square" lIns="0" tIns="0" rIns="0" bIns="0" rtlCol="0" anchor="ctr"/>
          <a:lstStyle/>
          <a:p>
            <a:pPr algn="ctr" indent="0" marL="0">
              <a:buNone/>
            </a:pPr>
            <a:r>
              <a:rPr lang="en-US" sz="1000" b="1" dirty="0">
                <a:solidFill>
                  <a:srgbClr val="1967D2"/>
                </a:solidFill>
                <a:latin typeface="Arial" pitchFamily="34" charset="0"/>
                <a:ea typeface="Arial" pitchFamily="34" charset="-122"/>
                <a:cs typeface="Arial" pitchFamily="34" charset="-120"/>
              </a:rPr>
              <a:t>Gemini</a:t>
            </a:r>
            <a:endParaRPr lang="en-US" sz="1000" dirty="0"/>
          </a:p>
        </p:txBody>
      </p:sp>
      <p:sp>
        <p:nvSpPr>
          <p:cNvPr id="16" name="Shape 13"/>
          <p:cNvSpPr/>
          <p:nvPr/>
        </p:nvSpPr>
        <p:spPr>
          <a:xfrm>
            <a:off x="3278033" y="2075688"/>
            <a:ext cx="1197864" cy="1197864"/>
          </a:xfrm>
          <a:prstGeom prst="ellipse">
            <a:avLst/>
          </a:prstGeom>
          <a:solidFill>
            <a:srgbClr val="FFFFFF"/>
          </a:solidFill>
          <a:ln/>
        </p:spPr>
      </p:sp>
      <p:sp>
        <p:nvSpPr>
          <p:cNvPr id="17" name="Shape 14"/>
          <p:cNvSpPr/>
          <p:nvPr/>
        </p:nvSpPr>
        <p:spPr>
          <a:xfrm>
            <a:off x="3351185" y="2148840"/>
            <a:ext cx="1051560" cy="1051560"/>
          </a:xfrm>
          <a:prstGeom prst="ellipse">
            <a:avLst/>
          </a:prstGeom>
          <a:solidFill>
            <a:srgbClr val="FCE8E6"/>
          </a:solidFill>
          <a:ln/>
        </p:spPr>
      </p:sp>
      <p:pic>
        <p:nvPicPr>
          <p:cNvPr id="18" name="Image 1" descr="preencoded.png">    </p:cNvPr>
          <p:cNvPicPr>
            <a:picLocks noChangeAspect="1"/>
          </p:cNvPicPr>
          <p:nvPr/>
        </p:nvPicPr>
        <p:blipFill>
          <a:blip r:embed="rId2"/>
          <a:stretch>
            <a:fillRect/>
          </a:stretch>
        </p:blipFill>
        <p:spPr>
          <a:xfrm>
            <a:off x="3582528" y="2380183"/>
            <a:ext cx="588874" cy="588874"/>
          </a:xfrm>
          <a:prstGeom prst="rect">
            <a:avLst/>
          </a:prstGeom>
        </p:spPr>
      </p:pic>
      <p:sp>
        <p:nvSpPr>
          <p:cNvPr id="19" name="Text 15"/>
          <p:cNvSpPr txBox="1"/>
          <p:nvPr/>
        </p:nvSpPr>
        <p:spPr>
          <a:xfrm>
            <a:off x="2767523" y="3383280"/>
            <a:ext cx="2218883" cy="384048"/>
          </a:xfrm>
          <a:prstGeom prst="rect">
            <a:avLst/>
          </a:prstGeom>
          <a:noFill/>
          <a:ln/>
        </p:spPr>
        <p:txBody>
          <a:bodyPr wrap="square" lIns="0" tIns="0" rIns="0" bIns="0" rtlCol="0" anchor="t"/>
          <a:lstStyle/>
          <a:p>
            <a:pPr algn="ctr" indent="0" marL="0">
              <a:buNone/>
            </a:pPr>
            <a:r>
              <a:rPr lang="en-US" sz="1900" b="1" dirty="0">
                <a:solidFill>
                  <a:srgbClr val="202124"/>
                </a:solidFill>
                <a:latin typeface="Arial" pitchFamily="34" charset="0"/>
                <a:ea typeface="Arial" pitchFamily="34" charset="-122"/>
                <a:cs typeface="Arial" pitchFamily="34" charset="-120"/>
              </a:rPr>
              <a:t>2  Score</a:t>
            </a:r>
            <a:endParaRPr lang="en-US" sz="1900" dirty="0"/>
          </a:p>
        </p:txBody>
      </p:sp>
      <p:sp>
        <p:nvSpPr>
          <p:cNvPr id="20" name="Text 16"/>
          <p:cNvSpPr txBox="1"/>
          <p:nvPr/>
        </p:nvSpPr>
        <p:spPr>
          <a:xfrm>
            <a:off x="2950403" y="3840480"/>
            <a:ext cx="1853123" cy="868680"/>
          </a:xfrm>
          <a:prstGeom prst="rect">
            <a:avLst/>
          </a:prstGeom>
          <a:noFill/>
          <a:ln/>
        </p:spPr>
        <p:txBody>
          <a:bodyPr wrap="square" lIns="0" tIns="0" rIns="0" bIns="0" rtlCol="0" anchor="t"/>
          <a:lstStyle/>
          <a:p>
            <a:pPr algn="ctr" indent="0" marL="0">
              <a:buNone/>
            </a:pPr>
            <a:r>
              <a:rPr lang="en-US" sz="1300" dirty="0">
                <a:solidFill>
                  <a:srgbClr val="5F6368"/>
                </a:solidFill>
                <a:latin typeface="Arial" pitchFamily="34" charset="0"/>
                <a:ea typeface="Arial" pitchFamily="34" charset="-122"/>
                <a:cs typeface="Arial" pitchFamily="34" charset="-120"/>
              </a:rPr>
              <a:t>Every facility and main road is scored for wind, surge and rain</a:t>
            </a:r>
            <a:endParaRPr lang="en-US" sz="1300" dirty="0"/>
          </a:p>
        </p:txBody>
      </p:sp>
      <p:sp>
        <p:nvSpPr>
          <p:cNvPr id="21" name="Shape 17"/>
          <p:cNvSpPr/>
          <p:nvPr/>
        </p:nvSpPr>
        <p:spPr>
          <a:xfrm>
            <a:off x="3255173" y="4800600"/>
            <a:ext cx="1243584" cy="292608"/>
          </a:xfrm>
          <a:prstGeom prst="roundRect">
            <a:avLst>
              <a:gd name="adj" fmla="val 50000"/>
            </a:avLst>
          </a:prstGeom>
          <a:solidFill>
            <a:srgbClr val="FCE8E6"/>
          </a:solidFill>
          <a:ln/>
        </p:spPr>
      </p:sp>
      <p:sp>
        <p:nvSpPr>
          <p:cNvPr id="22" name="Text 18"/>
          <p:cNvSpPr txBox="1"/>
          <p:nvPr/>
        </p:nvSpPr>
        <p:spPr>
          <a:xfrm>
            <a:off x="3255173" y="4800600"/>
            <a:ext cx="1243584" cy="292608"/>
          </a:xfrm>
          <a:prstGeom prst="rect">
            <a:avLst/>
          </a:prstGeom>
          <a:noFill/>
          <a:ln/>
        </p:spPr>
        <p:txBody>
          <a:bodyPr wrap="square" lIns="0" tIns="0" rIns="0" bIns="0" rtlCol="0" anchor="ctr"/>
          <a:lstStyle/>
          <a:p>
            <a:pPr algn="ctr" indent="0" marL="0">
              <a:buNone/>
            </a:pPr>
            <a:r>
              <a:rPr lang="en-US" sz="1000" b="1" dirty="0">
                <a:solidFill>
                  <a:srgbClr val="C5221F"/>
                </a:solidFill>
                <a:latin typeface="Arial" pitchFamily="34" charset="0"/>
                <a:ea typeface="Arial" pitchFamily="34" charset="-122"/>
                <a:cs typeface="Arial" pitchFamily="34" charset="-120"/>
              </a:rPr>
              <a:t>Earth Engine</a:t>
            </a:r>
            <a:endParaRPr lang="en-US" sz="1000" dirty="0"/>
          </a:p>
        </p:txBody>
      </p:sp>
      <p:sp>
        <p:nvSpPr>
          <p:cNvPr id="23" name="Shape 19"/>
          <p:cNvSpPr/>
          <p:nvPr/>
        </p:nvSpPr>
        <p:spPr>
          <a:xfrm>
            <a:off x="5496916" y="2075688"/>
            <a:ext cx="1197864" cy="1197864"/>
          </a:xfrm>
          <a:prstGeom prst="ellipse">
            <a:avLst/>
          </a:prstGeom>
          <a:solidFill>
            <a:srgbClr val="FFFFFF"/>
          </a:solidFill>
          <a:ln/>
        </p:spPr>
      </p:sp>
      <p:sp>
        <p:nvSpPr>
          <p:cNvPr id="24" name="Shape 20"/>
          <p:cNvSpPr/>
          <p:nvPr/>
        </p:nvSpPr>
        <p:spPr>
          <a:xfrm>
            <a:off x="5570068" y="2148840"/>
            <a:ext cx="1051560" cy="1051560"/>
          </a:xfrm>
          <a:prstGeom prst="ellipse">
            <a:avLst/>
          </a:prstGeom>
          <a:solidFill>
            <a:srgbClr val="FEF7E0"/>
          </a:solidFill>
          <a:ln/>
        </p:spPr>
      </p:sp>
      <p:pic>
        <p:nvPicPr>
          <p:cNvPr id="25" name="Image 2" descr="preencoded.png">    </p:cNvPr>
          <p:cNvPicPr>
            <a:picLocks noChangeAspect="1"/>
          </p:cNvPicPr>
          <p:nvPr/>
        </p:nvPicPr>
        <p:blipFill>
          <a:blip r:embed="rId3"/>
          <a:stretch>
            <a:fillRect/>
          </a:stretch>
        </p:blipFill>
        <p:spPr>
          <a:xfrm>
            <a:off x="5801411" y="2380183"/>
            <a:ext cx="588874" cy="588874"/>
          </a:xfrm>
          <a:prstGeom prst="rect">
            <a:avLst/>
          </a:prstGeom>
        </p:spPr>
      </p:pic>
      <p:sp>
        <p:nvSpPr>
          <p:cNvPr id="26" name="Text 21"/>
          <p:cNvSpPr txBox="1"/>
          <p:nvPr/>
        </p:nvSpPr>
        <p:spPr>
          <a:xfrm>
            <a:off x="4986406" y="3383280"/>
            <a:ext cx="2218883" cy="384048"/>
          </a:xfrm>
          <a:prstGeom prst="rect">
            <a:avLst/>
          </a:prstGeom>
          <a:noFill/>
          <a:ln/>
        </p:spPr>
        <p:txBody>
          <a:bodyPr wrap="square" lIns="0" tIns="0" rIns="0" bIns="0" rtlCol="0" anchor="t"/>
          <a:lstStyle/>
          <a:p>
            <a:pPr algn="ctr" indent="0" marL="0">
              <a:buNone/>
            </a:pPr>
            <a:r>
              <a:rPr lang="en-US" sz="1900" b="1" dirty="0">
                <a:solidFill>
                  <a:srgbClr val="202124"/>
                </a:solidFill>
                <a:latin typeface="Arial" pitchFamily="34" charset="0"/>
                <a:ea typeface="Arial" pitchFamily="34" charset="-122"/>
                <a:cs typeface="Arial" pitchFamily="34" charset="-120"/>
              </a:rPr>
              <a:t>3  Show</a:t>
            </a:r>
            <a:endParaRPr lang="en-US" sz="1900" dirty="0"/>
          </a:p>
        </p:txBody>
      </p:sp>
      <p:sp>
        <p:nvSpPr>
          <p:cNvPr id="27" name="Text 22"/>
          <p:cNvSpPr txBox="1"/>
          <p:nvPr/>
        </p:nvSpPr>
        <p:spPr>
          <a:xfrm>
            <a:off x="5169286" y="3840480"/>
            <a:ext cx="1853123" cy="868680"/>
          </a:xfrm>
          <a:prstGeom prst="rect">
            <a:avLst/>
          </a:prstGeom>
          <a:noFill/>
          <a:ln/>
        </p:spPr>
        <p:txBody>
          <a:bodyPr wrap="square" lIns="0" tIns="0" rIns="0" bIns="0" rtlCol="0" anchor="t"/>
          <a:lstStyle/>
          <a:p>
            <a:pPr algn="ctr" indent="0" marL="0">
              <a:buNone/>
            </a:pPr>
            <a:r>
              <a:rPr lang="en-US" sz="1300" dirty="0">
                <a:solidFill>
                  <a:srgbClr val="5F6368"/>
                </a:solidFill>
                <a:latin typeface="Arial" pitchFamily="34" charset="0"/>
                <a:ea typeface="Arial" pitchFamily="34" charset="-122"/>
                <a:cs typeface="Arial" pitchFamily="34" charset="-120"/>
              </a:rPr>
              <a:t>Alerted schools, hospitals and roads on the map, each with its reason</a:t>
            </a:r>
            <a:endParaRPr lang="en-US" sz="1300" dirty="0"/>
          </a:p>
        </p:txBody>
      </p:sp>
      <p:sp>
        <p:nvSpPr>
          <p:cNvPr id="28" name="Shape 23"/>
          <p:cNvSpPr/>
          <p:nvPr/>
        </p:nvSpPr>
        <p:spPr>
          <a:xfrm>
            <a:off x="5510632" y="4800600"/>
            <a:ext cx="1170432" cy="292608"/>
          </a:xfrm>
          <a:prstGeom prst="roundRect">
            <a:avLst>
              <a:gd name="adj" fmla="val 50000"/>
            </a:avLst>
          </a:prstGeom>
          <a:solidFill>
            <a:srgbClr val="FEF7E0"/>
          </a:solidFill>
          <a:ln/>
        </p:spPr>
      </p:sp>
      <p:sp>
        <p:nvSpPr>
          <p:cNvPr id="29" name="Text 24"/>
          <p:cNvSpPr txBox="1"/>
          <p:nvPr/>
        </p:nvSpPr>
        <p:spPr>
          <a:xfrm>
            <a:off x="5510632" y="4800600"/>
            <a:ext cx="1170432" cy="292608"/>
          </a:xfrm>
          <a:prstGeom prst="rect">
            <a:avLst/>
          </a:prstGeom>
          <a:noFill/>
          <a:ln/>
        </p:spPr>
        <p:txBody>
          <a:bodyPr wrap="square" lIns="0" tIns="0" rIns="0" bIns="0" rtlCol="0" anchor="ctr"/>
          <a:lstStyle/>
          <a:p>
            <a:pPr algn="ctr" indent="0" marL="0">
              <a:buNone/>
            </a:pPr>
            <a:r>
              <a:rPr lang="en-US" sz="1000" b="1" dirty="0">
                <a:solidFill>
                  <a:srgbClr val="B06000"/>
                </a:solidFill>
                <a:latin typeface="Arial" pitchFamily="34" charset="0"/>
                <a:ea typeface="Arial" pitchFamily="34" charset="-122"/>
                <a:cs typeface="Arial" pitchFamily="34" charset="-120"/>
              </a:rPr>
              <a:t>Google Maps</a:t>
            </a:r>
            <a:endParaRPr lang="en-US" sz="1000" dirty="0"/>
          </a:p>
        </p:txBody>
      </p:sp>
      <p:sp>
        <p:nvSpPr>
          <p:cNvPr id="30" name="Shape 25"/>
          <p:cNvSpPr/>
          <p:nvPr/>
        </p:nvSpPr>
        <p:spPr>
          <a:xfrm>
            <a:off x="7715799" y="2075688"/>
            <a:ext cx="1197864" cy="1197864"/>
          </a:xfrm>
          <a:prstGeom prst="ellipse">
            <a:avLst/>
          </a:prstGeom>
          <a:solidFill>
            <a:srgbClr val="FFFFFF"/>
          </a:solidFill>
          <a:ln/>
        </p:spPr>
      </p:sp>
      <p:sp>
        <p:nvSpPr>
          <p:cNvPr id="31" name="Shape 26"/>
          <p:cNvSpPr/>
          <p:nvPr/>
        </p:nvSpPr>
        <p:spPr>
          <a:xfrm>
            <a:off x="7788951" y="2148840"/>
            <a:ext cx="1051560" cy="1051560"/>
          </a:xfrm>
          <a:prstGeom prst="ellipse">
            <a:avLst/>
          </a:prstGeom>
          <a:solidFill>
            <a:srgbClr val="E6F4EA"/>
          </a:solidFill>
          <a:ln/>
        </p:spPr>
      </p:sp>
      <p:pic>
        <p:nvPicPr>
          <p:cNvPr id="32" name="Image 3" descr="preencoded.png">    </p:cNvPr>
          <p:cNvPicPr>
            <a:picLocks noChangeAspect="1"/>
          </p:cNvPicPr>
          <p:nvPr/>
        </p:nvPicPr>
        <p:blipFill>
          <a:blip r:embed="rId4"/>
          <a:stretch>
            <a:fillRect/>
          </a:stretch>
        </p:blipFill>
        <p:spPr>
          <a:xfrm>
            <a:off x="8020294" y="2380183"/>
            <a:ext cx="588874" cy="588874"/>
          </a:xfrm>
          <a:prstGeom prst="rect">
            <a:avLst/>
          </a:prstGeom>
        </p:spPr>
      </p:pic>
      <p:sp>
        <p:nvSpPr>
          <p:cNvPr id="33" name="Text 27"/>
          <p:cNvSpPr txBox="1"/>
          <p:nvPr/>
        </p:nvSpPr>
        <p:spPr>
          <a:xfrm>
            <a:off x="7205289" y="3383280"/>
            <a:ext cx="2218883" cy="384048"/>
          </a:xfrm>
          <a:prstGeom prst="rect">
            <a:avLst/>
          </a:prstGeom>
          <a:noFill/>
          <a:ln/>
        </p:spPr>
        <p:txBody>
          <a:bodyPr wrap="square" lIns="0" tIns="0" rIns="0" bIns="0" rtlCol="0" anchor="t"/>
          <a:lstStyle/>
          <a:p>
            <a:pPr algn="ctr" indent="0" marL="0">
              <a:buNone/>
            </a:pPr>
            <a:r>
              <a:rPr lang="en-US" sz="1900" b="1" dirty="0">
                <a:solidFill>
                  <a:srgbClr val="202124"/>
                </a:solidFill>
                <a:latin typeface="Arial" pitchFamily="34" charset="0"/>
                <a:ea typeface="Arial" pitchFamily="34" charset="-122"/>
                <a:cs typeface="Arial" pitchFamily="34" charset="-120"/>
              </a:rPr>
              <a:t>4  Advise</a:t>
            </a:r>
            <a:endParaRPr lang="en-US" sz="1900" dirty="0"/>
          </a:p>
        </p:txBody>
      </p:sp>
      <p:sp>
        <p:nvSpPr>
          <p:cNvPr id="34" name="Text 28"/>
          <p:cNvSpPr txBox="1"/>
          <p:nvPr/>
        </p:nvSpPr>
        <p:spPr>
          <a:xfrm>
            <a:off x="7388169" y="3840480"/>
            <a:ext cx="1853123" cy="868680"/>
          </a:xfrm>
          <a:prstGeom prst="rect">
            <a:avLst/>
          </a:prstGeom>
          <a:noFill/>
          <a:ln/>
        </p:spPr>
        <p:txBody>
          <a:bodyPr wrap="square" lIns="0" tIns="0" rIns="0" bIns="0" rtlCol="0" anchor="t"/>
          <a:lstStyle/>
          <a:p>
            <a:pPr algn="ctr" indent="0" marL="0">
              <a:buNone/>
            </a:pPr>
            <a:r>
              <a:rPr lang="en-US" sz="1300" dirty="0">
                <a:solidFill>
                  <a:srgbClr val="5F6368"/>
                </a:solidFill>
                <a:latin typeface="Arial" pitchFamily="34" charset="0"/>
                <a:ea typeface="Arial" pitchFamily="34" charset="-122"/>
                <a:cs typeface="Arial" pitchFamily="34" charset="-120"/>
              </a:rPr>
              <a:t>Gemini writes each department’s advisory in its own language</a:t>
            </a:r>
            <a:endParaRPr lang="en-US" sz="1300" dirty="0"/>
          </a:p>
        </p:txBody>
      </p:sp>
      <p:sp>
        <p:nvSpPr>
          <p:cNvPr id="35" name="Shape 29"/>
          <p:cNvSpPr/>
          <p:nvPr/>
        </p:nvSpPr>
        <p:spPr>
          <a:xfrm>
            <a:off x="7912395" y="4800600"/>
            <a:ext cx="804672" cy="292608"/>
          </a:xfrm>
          <a:prstGeom prst="roundRect">
            <a:avLst>
              <a:gd name="adj" fmla="val 50000"/>
            </a:avLst>
          </a:prstGeom>
          <a:solidFill>
            <a:srgbClr val="E6F4EA"/>
          </a:solidFill>
          <a:ln/>
        </p:spPr>
      </p:sp>
      <p:sp>
        <p:nvSpPr>
          <p:cNvPr id="36" name="Text 30"/>
          <p:cNvSpPr txBox="1"/>
          <p:nvPr/>
        </p:nvSpPr>
        <p:spPr>
          <a:xfrm>
            <a:off x="7912395" y="4800600"/>
            <a:ext cx="804672" cy="292608"/>
          </a:xfrm>
          <a:prstGeom prst="rect">
            <a:avLst/>
          </a:prstGeom>
          <a:noFill/>
          <a:ln/>
        </p:spPr>
        <p:txBody>
          <a:bodyPr wrap="square" lIns="0" tIns="0" rIns="0" bIns="0" rtlCol="0" anchor="ctr"/>
          <a:lstStyle/>
          <a:p>
            <a:pPr algn="ctr" indent="0" marL="0">
              <a:buNone/>
            </a:pPr>
            <a:r>
              <a:rPr lang="en-US" sz="1000" b="1" dirty="0">
                <a:solidFill>
                  <a:srgbClr val="188038"/>
                </a:solidFill>
                <a:latin typeface="Arial" pitchFamily="34" charset="0"/>
                <a:ea typeface="Arial" pitchFamily="34" charset="-122"/>
                <a:cs typeface="Arial" pitchFamily="34" charset="-120"/>
              </a:rPr>
              <a:t>Gemini</a:t>
            </a:r>
            <a:endParaRPr lang="en-US" sz="1000" dirty="0"/>
          </a:p>
        </p:txBody>
      </p:sp>
      <p:sp>
        <p:nvSpPr>
          <p:cNvPr id="37" name="Shape 31"/>
          <p:cNvSpPr/>
          <p:nvPr/>
        </p:nvSpPr>
        <p:spPr>
          <a:xfrm>
            <a:off x="9934682" y="2075688"/>
            <a:ext cx="1197864" cy="1197864"/>
          </a:xfrm>
          <a:prstGeom prst="ellipse">
            <a:avLst/>
          </a:prstGeom>
          <a:solidFill>
            <a:srgbClr val="FFFFFF"/>
          </a:solidFill>
          <a:ln/>
        </p:spPr>
      </p:sp>
      <p:sp>
        <p:nvSpPr>
          <p:cNvPr id="38" name="Shape 32"/>
          <p:cNvSpPr/>
          <p:nvPr/>
        </p:nvSpPr>
        <p:spPr>
          <a:xfrm>
            <a:off x="10007834" y="2148840"/>
            <a:ext cx="1051560" cy="1051560"/>
          </a:xfrm>
          <a:prstGeom prst="ellipse">
            <a:avLst/>
          </a:prstGeom>
          <a:solidFill>
            <a:srgbClr val="E8F0FE"/>
          </a:solidFill>
          <a:ln/>
        </p:spPr>
      </p:sp>
      <p:pic>
        <p:nvPicPr>
          <p:cNvPr id="39" name="Image 4" descr="preencoded.png">    </p:cNvPr>
          <p:cNvPicPr>
            <a:picLocks noChangeAspect="1"/>
          </p:cNvPicPr>
          <p:nvPr/>
        </p:nvPicPr>
        <p:blipFill>
          <a:blip r:embed="rId5"/>
          <a:stretch>
            <a:fillRect/>
          </a:stretch>
        </p:blipFill>
        <p:spPr>
          <a:xfrm>
            <a:off x="10239177" y="2380183"/>
            <a:ext cx="588874" cy="588874"/>
          </a:xfrm>
          <a:prstGeom prst="rect">
            <a:avLst/>
          </a:prstGeom>
        </p:spPr>
      </p:pic>
      <p:sp>
        <p:nvSpPr>
          <p:cNvPr id="40" name="Text 33"/>
          <p:cNvSpPr txBox="1"/>
          <p:nvPr/>
        </p:nvSpPr>
        <p:spPr>
          <a:xfrm>
            <a:off x="9424172" y="3383280"/>
            <a:ext cx="2218883" cy="384048"/>
          </a:xfrm>
          <a:prstGeom prst="rect">
            <a:avLst/>
          </a:prstGeom>
          <a:noFill/>
          <a:ln/>
        </p:spPr>
        <p:txBody>
          <a:bodyPr wrap="square" lIns="0" tIns="0" rIns="0" bIns="0" rtlCol="0" anchor="t"/>
          <a:lstStyle/>
          <a:p>
            <a:pPr algn="ctr" indent="0" marL="0">
              <a:buNone/>
            </a:pPr>
            <a:r>
              <a:rPr lang="en-US" sz="1900" b="1" dirty="0">
                <a:solidFill>
                  <a:srgbClr val="202124"/>
                </a:solidFill>
                <a:latin typeface="Arial" pitchFamily="34" charset="0"/>
                <a:ea typeface="Arial" pitchFamily="34" charset="-122"/>
                <a:cs typeface="Arial" pitchFamily="34" charset="-120"/>
              </a:rPr>
              <a:t>5  Approve</a:t>
            </a:r>
            <a:endParaRPr lang="en-US" sz="1900" dirty="0"/>
          </a:p>
        </p:txBody>
      </p:sp>
      <p:sp>
        <p:nvSpPr>
          <p:cNvPr id="41" name="Text 34"/>
          <p:cNvSpPr txBox="1"/>
          <p:nvPr/>
        </p:nvSpPr>
        <p:spPr>
          <a:xfrm>
            <a:off x="9607052" y="3840480"/>
            <a:ext cx="1853123" cy="868680"/>
          </a:xfrm>
          <a:prstGeom prst="rect">
            <a:avLst/>
          </a:prstGeom>
          <a:noFill/>
          <a:ln/>
        </p:spPr>
        <p:txBody>
          <a:bodyPr wrap="square" lIns="0" tIns="0" rIns="0" bIns="0" rtlCol="0" anchor="t"/>
          <a:lstStyle/>
          <a:p>
            <a:pPr algn="ctr" indent="0" marL="0">
              <a:buNone/>
            </a:pPr>
            <a:r>
              <a:rPr lang="en-US" sz="1300" dirty="0">
                <a:solidFill>
                  <a:srgbClr val="5F6368"/>
                </a:solidFill>
                <a:latin typeface="Arial" pitchFamily="34" charset="0"/>
                <a:ea typeface="Arial" pitchFamily="34" charset="-122"/>
                <a:cs typeface="Arial" pitchFamily="34" charset="-120"/>
              </a:rPr>
              <a:t>An officer approves, then alerts go out by email and phone</a:t>
            </a:r>
            <a:endParaRPr lang="en-US" sz="1300" dirty="0"/>
          </a:p>
        </p:txBody>
      </p:sp>
      <p:sp>
        <p:nvSpPr>
          <p:cNvPr id="42" name="Shape 35"/>
          <p:cNvSpPr/>
          <p:nvPr/>
        </p:nvSpPr>
        <p:spPr>
          <a:xfrm>
            <a:off x="9765518" y="4800600"/>
            <a:ext cx="1536192" cy="292608"/>
          </a:xfrm>
          <a:prstGeom prst="roundRect">
            <a:avLst>
              <a:gd name="adj" fmla="val 50000"/>
            </a:avLst>
          </a:prstGeom>
          <a:solidFill>
            <a:srgbClr val="E8F0FE"/>
          </a:solidFill>
          <a:ln/>
        </p:spPr>
      </p:sp>
      <p:sp>
        <p:nvSpPr>
          <p:cNvPr id="43" name="Text 36"/>
          <p:cNvSpPr txBox="1"/>
          <p:nvPr/>
        </p:nvSpPr>
        <p:spPr>
          <a:xfrm>
            <a:off x="9765518" y="4800600"/>
            <a:ext cx="1536192" cy="292608"/>
          </a:xfrm>
          <a:prstGeom prst="rect">
            <a:avLst/>
          </a:prstGeom>
          <a:noFill/>
          <a:ln/>
        </p:spPr>
        <p:txBody>
          <a:bodyPr wrap="square" lIns="0" tIns="0" rIns="0" bIns="0" rtlCol="0" anchor="ctr"/>
          <a:lstStyle/>
          <a:p>
            <a:pPr algn="ctr" indent="0" marL="0">
              <a:buNone/>
            </a:pPr>
            <a:r>
              <a:rPr lang="en-US" sz="1000" b="1" dirty="0">
                <a:solidFill>
                  <a:srgbClr val="1967D2"/>
                </a:solidFill>
                <a:latin typeface="Arial" pitchFamily="34" charset="0"/>
                <a:ea typeface="Arial" pitchFamily="34" charset="-122"/>
                <a:cs typeface="Arial" pitchFamily="34" charset="-120"/>
              </a:rPr>
              <a:t>Gmail · Firebase</a:t>
            </a:r>
            <a:endParaRPr lang="en-US" sz="1000" dirty="0"/>
          </a:p>
        </p:txBody>
      </p:sp>
      <p:sp>
        <p:nvSpPr>
          <p:cNvPr id="44" name="Shape 37"/>
          <p:cNvSpPr/>
          <p:nvPr/>
        </p:nvSpPr>
        <p:spPr>
          <a:xfrm>
            <a:off x="548640" y="5669280"/>
            <a:ext cx="11094415" cy="512064"/>
          </a:xfrm>
          <a:prstGeom prst="roundRect">
            <a:avLst>
              <a:gd name="adj" fmla="val 50000"/>
            </a:avLst>
          </a:prstGeom>
          <a:solidFill>
            <a:srgbClr val="E8F0FE"/>
          </a:solidFill>
          <a:ln/>
        </p:spPr>
      </p:sp>
      <p:sp>
        <p:nvSpPr>
          <p:cNvPr id="45" name="Text 38"/>
          <p:cNvSpPr txBox="1"/>
          <p:nvPr/>
        </p:nvSpPr>
        <p:spPr>
          <a:xfrm>
            <a:off x="822960" y="5669280"/>
            <a:ext cx="10545775" cy="512064"/>
          </a:xfrm>
          <a:prstGeom prst="rect">
            <a:avLst/>
          </a:prstGeom>
          <a:noFill/>
          <a:ln/>
        </p:spPr>
        <p:txBody>
          <a:bodyPr wrap="square" lIns="0" tIns="0" rIns="0" bIns="0" rtlCol="0" anchor="ctr"/>
          <a:lstStyle/>
          <a:p>
            <a:pPr algn="ctr" indent="0" marL="0">
              <a:buNone/>
            </a:pPr>
            <a:r>
              <a:rPr lang="en-US" sz="1300" b="1" dirty="0">
                <a:solidFill>
                  <a:srgbClr val="202124"/>
                </a:solidFill>
                <a:latin typeface="Arial" pitchFamily="34" charset="0"/>
                <a:ea typeface="Arial" pitchFamily="34" charset="-122"/>
                <a:cs typeface="Arial" pitchFamily="34" charset="-120"/>
              </a:rPr>
              <a:t>Numbers come from our models. Words come from Gemini. </a:t>
            </a:r>
            <a:pPr algn="ctr" indent="0" marL="0">
              <a:buNone/>
            </a:pPr>
            <a:r>
              <a:rPr lang="en-US" sz="1300" dirty="0">
                <a:solidFill>
                  <a:srgbClr val="202124"/>
                </a:solidFill>
                <a:latin typeface="Arial" pitchFamily="34" charset="0"/>
                <a:ea typeface="Arial" pitchFamily="34" charset="-122"/>
                <a:cs typeface="Arial" pitchFamily="34" charset="-120"/>
              </a:rPr>
              <a:t>Every number Gemini writes is checked against our data.</a:t>
            </a:r>
            <a:endParaRPr lang="en-US" sz="1300" dirty="0"/>
          </a:p>
        </p:txBody>
      </p:sp>
      <p:sp>
        <p:nvSpPr>
          <p:cNvPr id="46" name="Shape 39"/>
          <p:cNvSpPr/>
          <p:nvPr/>
        </p:nvSpPr>
        <p:spPr>
          <a:xfrm>
            <a:off x="548640" y="6492240"/>
            <a:ext cx="73152" cy="73152"/>
          </a:xfrm>
          <a:prstGeom prst="ellipse">
            <a:avLst/>
          </a:prstGeom>
          <a:solidFill>
            <a:srgbClr val="1A73E8"/>
          </a:solidFill>
          <a:ln/>
        </p:spPr>
      </p:sp>
      <p:sp>
        <p:nvSpPr>
          <p:cNvPr id="47" name="Shape 40"/>
          <p:cNvSpPr/>
          <p:nvPr/>
        </p:nvSpPr>
        <p:spPr>
          <a:xfrm>
            <a:off x="658368" y="6492240"/>
            <a:ext cx="73152" cy="73152"/>
          </a:xfrm>
          <a:prstGeom prst="ellipse">
            <a:avLst/>
          </a:prstGeom>
          <a:solidFill>
            <a:srgbClr val="EA4335"/>
          </a:solidFill>
          <a:ln/>
        </p:spPr>
      </p:sp>
      <p:sp>
        <p:nvSpPr>
          <p:cNvPr id="48" name="Shape 41"/>
          <p:cNvSpPr/>
          <p:nvPr/>
        </p:nvSpPr>
        <p:spPr>
          <a:xfrm>
            <a:off x="768096" y="6492240"/>
            <a:ext cx="73152" cy="73152"/>
          </a:xfrm>
          <a:prstGeom prst="ellipse">
            <a:avLst/>
          </a:prstGeom>
          <a:solidFill>
            <a:srgbClr val="FBBC04"/>
          </a:solidFill>
          <a:ln/>
        </p:spPr>
      </p:sp>
      <p:sp>
        <p:nvSpPr>
          <p:cNvPr id="49" name="Shape 42"/>
          <p:cNvSpPr/>
          <p:nvPr/>
        </p:nvSpPr>
        <p:spPr>
          <a:xfrm>
            <a:off x="877824" y="6492240"/>
            <a:ext cx="73152" cy="73152"/>
          </a:xfrm>
          <a:prstGeom prst="ellipse">
            <a:avLst/>
          </a:prstGeom>
          <a:solidFill>
            <a:srgbClr val="34A853"/>
          </a:solidFill>
          <a:ln/>
        </p:spPr>
      </p:sp>
      <p:sp>
        <p:nvSpPr>
          <p:cNvPr id="50" name="Text 43"/>
          <p:cNvSpPr txBox="1"/>
          <p:nvPr/>
        </p:nvSpPr>
        <p:spPr>
          <a:xfrm>
            <a:off x="1024128" y="6419088"/>
            <a:ext cx="4572000" cy="22860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Team Echo  ·  SurgeSight</a:t>
            </a:r>
            <a:endParaRPr lang="en-US" sz="950" dirty="0"/>
          </a:p>
        </p:txBody>
      </p:sp>
      <p:sp>
        <p:nvSpPr>
          <p:cNvPr id="51" name="Text 44"/>
          <p:cNvSpPr txBox="1"/>
          <p:nvPr/>
        </p:nvSpPr>
        <p:spPr>
          <a:xfrm>
            <a:off x="11094415" y="6419088"/>
            <a:ext cx="548640" cy="228600"/>
          </a:xfrm>
          <a:prstGeom prst="rect">
            <a:avLst/>
          </a:prstGeom>
          <a:noFill/>
          <a:ln/>
        </p:spPr>
        <p:txBody>
          <a:bodyPr wrap="square" lIns="0" tIns="0" rIns="0" bIns="0" rtlCol="0" anchor="ctr"/>
          <a:lstStyle/>
          <a:p>
            <a:pPr algn="r" indent="0" marL="0">
              <a:buNone/>
            </a:pPr>
            <a:r>
              <a:rPr lang="en-US" sz="950" dirty="0">
                <a:solidFill>
                  <a:srgbClr val="5F6368"/>
                </a:solidFill>
                <a:latin typeface="Arial" pitchFamily="34" charset="0"/>
                <a:ea typeface="Arial" pitchFamily="34" charset="-122"/>
                <a:cs typeface="Arial"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91440" cy="91440"/>
          </a:xfrm>
          <a:prstGeom prst="ellipse">
            <a:avLst/>
          </a:prstGeom>
          <a:solidFill>
            <a:srgbClr val="1A73E8"/>
          </a:solidFill>
          <a:ln/>
        </p:spPr>
      </p:sp>
      <p:sp>
        <p:nvSpPr>
          <p:cNvPr id="3" name="Shape 1"/>
          <p:cNvSpPr/>
          <p:nvPr/>
        </p:nvSpPr>
        <p:spPr>
          <a:xfrm>
            <a:off x="685800" y="475488"/>
            <a:ext cx="91440" cy="91440"/>
          </a:xfrm>
          <a:prstGeom prst="ellipse">
            <a:avLst/>
          </a:prstGeom>
          <a:solidFill>
            <a:srgbClr val="EA4335"/>
          </a:solidFill>
          <a:ln/>
        </p:spPr>
      </p:sp>
      <p:sp>
        <p:nvSpPr>
          <p:cNvPr id="4" name="Shape 2"/>
          <p:cNvSpPr/>
          <p:nvPr/>
        </p:nvSpPr>
        <p:spPr>
          <a:xfrm>
            <a:off x="822960" y="475488"/>
            <a:ext cx="91440" cy="91440"/>
          </a:xfrm>
          <a:prstGeom prst="ellipse">
            <a:avLst/>
          </a:prstGeom>
          <a:solidFill>
            <a:srgbClr val="FBBC04"/>
          </a:solidFill>
          <a:ln/>
        </p:spPr>
      </p:sp>
      <p:sp>
        <p:nvSpPr>
          <p:cNvPr id="5" name="Shape 3"/>
          <p:cNvSpPr/>
          <p:nvPr/>
        </p:nvSpPr>
        <p:spPr>
          <a:xfrm>
            <a:off x="960120" y="475488"/>
            <a:ext cx="91440" cy="91440"/>
          </a:xfrm>
          <a:prstGeom prst="ellipse">
            <a:avLst/>
          </a:prstGeom>
          <a:solidFill>
            <a:srgbClr val="34A853"/>
          </a:solidFill>
          <a:ln/>
        </p:spPr>
      </p:sp>
      <p:sp>
        <p:nvSpPr>
          <p:cNvPr id="6" name="Text 4"/>
          <p:cNvSpPr txBox="1"/>
          <p:nvPr/>
        </p:nvSpPr>
        <p:spPr>
          <a:xfrm>
            <a:off x="1115568" y="393192"/>
            <a:ext cx="8229600" cy="274320"/>
          </a:xfrm>
          <a:prstGeom prst="rect">
            <a:avLst/>
          </a:prstGeom>
          <a:noFill/>
          <a:ln/>
        </p:spPr>
        <p:txBody>
          <a:bodyPr wrap="square" lIns="0" tIns="0" rIns="0" bIns="0" rtlCol="0" anchor="ctr"/>
          <a:lstStyle/>
          <a:p>
            <a:pPr indent="0" marL="0">
              <a:buNone/>
            </a:pPr>
            <a:r>
              <a:rPr lang="en-US" sz="1100" b="1" spc="200" kern="0" dirty="0">
                <a:solidFill>
                  <a:srgbClr val="1A73E8"/>
                </a:solidFill>
                <a:latin typeface="Arial" pitchFamily="34" charset="0"/>
                <a:ea typeface="Arial" pitchFamily="34" charset="-122"/>
                <a:cs typeface="Arial" pitchFamily="34" charset="-120"/>
              </a:rPr>
              <a:t>CASE STUDY</a:t>
            </a:r>
            <a:endParaRPr lang="en-US" sz="1100" dirty="0"/>
          </a:p>
        </p:txBody>
      </p:sp>
      <p:sp>
        <p:nvSpPr>
          <p:cNvPr id="7" name="Text 5"/>
          <p:cNvSpPr txBox="1"/>
          <p:nvPr/>
        </p:nvSpPr>
        <p:spPr>
          <a:xfrm>
            <a:off x="548640" y="786384"/>
            <a:ext cx="11094415" cy="914400"/>
          </a:xfrm>
          <a:prstGeom prst="rect">
            <a:avLst/>
          </a:prstGeom>
          <a:noFill/>
          <a:ln/>
        </p:spPr>
        <p:txBody>
          <a:bodyPr wrap="square" lIns="0" tIns="0" rIns="0" bIns="0" rtlCol="0" anchor="t"/>
          <a:lstStyle/>
          <a:p>
            <a:pPr indent="0" marL="0">
              <a:buNone/>
            </a:pPr>
            <a:r>
              <a:rPr lang="en-US" sz="2700" b="1" dirty="0">
                <a:solidFill>
                  <a:srgbClr val="202124"/>
                </a:solidFill>
                <a:latin typeface="Arial" pitchFamily="34" charset="0"/>
                <a:ea typeface="Arial" pitchFamily="34" charset="-122"/>
                <a:cs typeface="Arial" pitchFamily="34" charset="-120"/>
              </a:rPr>
              <a:t>To study and test SurgeSight, we replayed Cyclone Michaung (December 2023) bulletin by bulletin.</a:t>
            </a:r>
            <a:endParaRPr lang="en-US" sz="2700" dirty="0"/>
          </a:p>
        </p:txBody>
      </p:sp>
      <p:sp>
        <p:nvSpPr>
          <p:cNvPr id="8" name="Text 6"/>
          <p:cNvSpPr txBox="1"/>
          <p:nvPr/>
        </p:nvSpPr>
        <p:spPr>
          <a:xfrm>
            <a:off x="548640" y="1828800"/>
            <a:ext cx="4572000" cy="685800"/>
          </a:xfrm>
          <a:prstGeom prst="rect">
            <a:avLst/>
          </a:prstGeom>
          <a:noFill/>
          <a:ln/>
        </p:spPr>
        <p:txBody>
          <a:bodyPr wrap="square" lIns="0" tIns="0" rIns="0" bIns="0" rtlCol="0" anchor="t"/>
          <a:lstStyle/>
          <a:p>
            <a:pPr indent="0" marL="0">
              <a:buNone/>
            </a:pPr>
            <a:r>
              <a:rPr lang="en-US" sz="1250" b="1" dirty="0">
                <a:solidFill>
                  <a:srgbClr val="202124"/>
                </a:solidFill>
                <a:latin typeface="Arial" pitchFamily="34" charset="0"/>
                <a:ea typeface="Arial" pitchFamily="34" charset="-122"/>
                <a:cs typeface="Arial" pitchFamily="34" charset="-120"/>
              </a:rPr>
              <a:t>Severe Cyclonic Storm Michaung </a:t>
            </a:r>
            <a:pPr indent="0" marL="0">
              <a:buNone/>
            </a:pPr>
            <a:r>
              <a:rPr lang="en-US" sz="1250" dirty="0">
                <a:solidFill>
                  <a:srgbClr val="202124"/>
                </a:solidFill>
                <a:latin typeface="Arial" pitchFamily="34" charset="0"/>
                <a:ea typeface="Arial" pitchFamily="34" charset="-122"/>
                <a:cs typeface="Arial" pitchFamily="34" charset="-120"/>
              </a:rPr>
              <a:t>crossed the Andhra Pradesh coast near Bapatla on 5 December 2023, after extreme rain flooded Chennai.</a:t>
            </a:r>
            <a:endParaRPr lang="en-US" sz="1250" dirty="0"/>
          </a:p>
        </p:txBody>
      </p:sp>
      <p:sp>
        <p:nvSpPr>
          <p:cNvPr id="9" name="Text 7"/>
          <p:cNvSpPr txBox="1"/>
          <p:nvPr/>
        </p:nvSpPr>
        <p:spPr>
          <a:xfrm>
            <a:off x="548640" y="2670048"/>
            <a:ext cx="4572000" cy="256032"/>
          </a:xfrm>
          <a:prstGeom prst="rect">
            <a:avLst/>
          </a:prstGeom>
          <a:noFill/>
          <a:ln/>
        </p:spPr>
        <p:txBody>
          <a:bodyPr wrap="square" lIns="0" tIns="0" rIns="0" bIns="0" rtlCol="0" anchor="t"/>
          <a:lstStyle/>
          <a:p>
            <a:pPr indent="0" marL="0">
              <a:buNone/>
            </a:pPr>
            <a:r>
              <a:rPr lang="en-US" sz="1050" b="1" spc="150" kern="0" dirty="0">
                <a:solidFill>
                  <a:srgbClr val="5F6368"/>
                </a:solidFill>
                <a:latin typeface="Arial" pitchFamily="34" charset="0"/>
                <a:ea typeface="Arial" pitchFamily="34" charset="-122"/>
                <a:cs typeface="Arial" pitchFamily="34" charset="-120"/>
              </a:rPr>
              <a:t>WHY WE CHOSE IT</a:t>
            </a:r>
            <a:endParaRPr lang="en-US" sz="1050" dirty="0"/>
          </a:p>
        </p:txBody>
      </p:sp>
      <p:sp>
        <p:nvSpPr>
          <p:cNvPr id="10" name="Shape 8"/>
          <p:cNvSpPr/>
          <p:nvPr/>
        </p:nvSpPr>
        <p:spPr>
          <a:xfrm>
            <a:off x="548640" y="2990088"/>
            <a:ext cx="438912" cy="438912"/>
          </a:xfrm>
          <a:prstGeom prst="ellipse">
            <a:avLst/>
          </a:prstGeom>
          <a:solidFill>
            <a:srgbClr val="E8F0FE"/>
          </a:solidFill>
          <a:ln/>
        </p:spPr>
      </p:sp>
      <p:pic>
        <p:nvPicPr>
          <p:cNvPr id="11" name="Image 0" descr="preencoded.png">    </p:cNvPr>
          <p:cNvPicPr>
            <a:picLocks noChangeAspect="1"/>
          </p:cNvPicPr>
          <p:nvPr/>
        </p:nvPicPr>
        <p:blipFill>
          <a:blip r:embed="rId1"/>
          <a:stretch>
            <a:fillRect/>
          </a:stretch>
        </p:blipFill>
        <p:spPr>
          <a:xfrm>
            <a:off x="645201" y="3086649"/>
            <a:ext cx="245791" cy="245791"/>
          </a:xfrm>
          <a:prstGeom prst="rect">
            <a:avLst/>
          </a:prstGeom>
        </p:spPr>
      </p:pic>
      <p:sp>
        <p:nvSpPr>
          <p:cNvPr id="12" name="Text 9"/>
          <p:cNvSpPr txBox="1"/>
          <p:nvPr/>
        </p:nvSpPr>
        <p:spPr>
          <a:xfrm>
            <a:off x="1133856" y="2971800"/>
            <a:ext cx="3986784" cy="256032"/>
          </a:xfrm>
          <a:prstGeom prst="rect">
            <a:avLst/>
          </a:prstGeom>
          <a:noFill/>
          <a:ln/>
        </p:spPr>
        <p:txBody>
          <a:bodyPr wrap="square" lIns="0" tIns="0" rIns="0" bIns="0" rtlCol="0" anchor="t"/>
          <a:lstStyle/>
          <a:p>
            <a:pPr indent="0" marL="0">
              <a:buNone/>
            </a:pPr>
            <a:r>
              <a:rPr lang="en-US" sz="1250" b="1" dirty="0">
                <a:solidFill>
                  <a:srgbClr val="202124"/>
                </a:solidFill>
                <a:latin typeface="Arial" pitchFamily="34" charset="0"/>
                <a:ea typeface="Arial" pitchFamily="34" charset="-122"/>
                <a:cs typeface="Arial" pitchFamily="34" charset="-120"/>
              </a:rPr>
              <a:t>Two states, two languages</a:t>
            </a:r>
            <a:endParaRPr lang="en-US" sz="1250" dirty="0"/>
          </a:p>
        </p:txBody>
      </p:sp>
      <p:sp>
        <p:nvSpPr>
          <p:cNvPr id="13" name="Text 10"/>
          <p:cNvSpPr txBox="1"/>
          <p:nvPr/>
        </p:nvSpPr>
        <p:spPr>
          <a:xfrm>
            <a:off x="1133856" y="3227832"/>
            <a:ext cx="3986784" cy="237744"/>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Tamil Nadu and Andhra Pradesh, dense cities and long coast</a:t>
            </a:r>
            <a:endParaRPr lang="en-US" sz="1000" dirty="0"/>
          </a:p>
        </p:txBody>
      </p:sp>
      <p:sp>
        <p:nvSpPr>
          <p:cNvPr id="14" name="Shape 11"/>
          <p:cNvSpPr/>
          <p:nvPr/>
        </p:nvSpPr>
        <p:spPr>
          <a:xfrm>
            <a:off x="548640" y="3593592"/>
            <a:ext cx="438912" cy="438912"/>
          </a:xfrm>
          <a:prstGeom prst="ellipse">
            <a:avLst/>
          </a:prstGeom>
          <a:solidFill>
            <a:srgbClr val="E6F4EA"/>
          </a:solidFill>
          <a:ln/>
        </p:spPr>
      </p:sp>
      <p:pic>
        <p:nvPicPr>
          <p:cNvPr id="15" name="Image 1" descr="preencoded.png">    </p:cNvPr>
          <p:cNvPicPr>
            <a:picLocks noChangeAspect="1"/>
          </p:cNvPicPr>
          <p:nvPr/>
        </p:nvPicPr>
        <p:blipFill>
          <a:blip r:embed="rId2"/>
          <a:stretch>
            <a:fillRect/>
          </a:stretch>
        </p:blipFill>
        <p:spPr>
          <a:xfrm>
            <a:off x="645201" y="3690153"/>
            <a:ext cx="245791" cy="245791"/>
          </a:xfrm>
          <a:prstGeom prst="rect">
            <a:avLst/>
          </a:prstGeom>
        </p:spPr>
      </p:pic>
      <p:sp>
        <p:nvSpPr>
          <p:cNvPr id="16" name="Text 12"/>
          <p:cNvSpPr txBox="1"/>
          <p:nvPr/>
        </p:nvSpPr>
        <p:spPr>
          <a:xfrm>
            <a:off x="1133856" y="3575304"/>
            <a:ext cx="3986784" cy="256032"/>
          </a:xfrm>
          <a:prstGeom prst="rect">
            <a:avLst/>
          </a:prstGeom>
          <a:noFill/>
          <a:ln/>
        </p:spPr>
        <p:txBody>
          <a:bodyPr wrap="square" lIns="0" tIns="0" rIns="0" bIns="0" rtlCol="0" anchor="t"/>
          <a:lstStyle/>
          <a:p>
            <a:pPr indent="0" marL="0">
              <a:buNone/>
            </a:pPr>
            <a:r>
              <a:rPr lang="en-US" sz="1250" b="1" dirty="0">
                <a:solidFill>
                  <a:srgbClr val="202124"/>
                </a:solidFill>
                <a:latin typeface="Arial" pitchFamily="34" charset="0"/>
                <a:ea typeface="Arial" pitchFamily="34" charset="-122"/>
                <a:cs typeface="Arial" pitchFamily="34" charset="-120"/>
              </a:rPr>
              <a:t>Open data to check ourselves</a:t>
            </a:r>
            <a:endParaRPr lang="en-US" sz="1250" dirty="0"/>
          </a:p>
        </p:txBody>
      </p:sp>
      <p:sp>
        <p:nvSpPr>
          <p:cNvPr id="17" name="Text 13"/>
          <p:cNvSpPr txBox="1"/>
          <p:nvPr/>
        </p:nvSpPr>
        <p:spPr>
          <a:xfrm>
            <a:off x="1133856" y="3831336"/>
            <a:ext cx="3986784" cy="237744"/>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IBTrACS track, NOAA GFS, NASA IMERG, Sentinel-2 floods</a:t>
            </a:r>
            <a:endParaRPr lang="en-US" sz="1000" dirty="0"/>
          </a:p>
        </p:txBody>
      </p:sp>
      <p:sp>
        <p:nvSpPr>
          <p:cNvPr id="18" name="Shape 14"/>
          <p:cNvSpPr/>
          <p:nvPr/>
        </p:nvSpPr>
        <p:spPr>
          <a:xfrm>
            <a:off x="548640" y="4197096"/>
            <a:ext cx="438912" cy="438912"/>
          </a:xfrm>
          <a:prstGeom prst="ellipse">
            <a:avLst/>
          </a:prstGeom>
          <a:solidFill>
            <a:srgbClr val="FCE8E6"/>
          </a:solidFill>
          <a:ln/>
        </p:spPr>
      </p:sp>
      <p:pic>
        <p:nvPicPr>
          <p:cNvPr id="19" name="Image 2" descr="preencoded.png">    </p:cNvPr>
          <p:cNvPicPr>
            <a:picLocks noChangeAspect="1"/>
          </p:cNvPicPr>
          <p:nvPr/>
        </p:nvPicPr>
        <p:blipFill>
          <a:blip r:embed="rId3"/>
          <a:stretch>
            <a:fillRect/>
          </a:stretch>
        </p:blipFill>
        <p:spPr>
          <a:xfrm>
            <a:off x="645201" y="4293657"/>
            <a:ext cx="245791" cy="245791"/>
          </a:xfrm>
          <a:prstGeom prst="rect">
            <a:avLst/>
          </a:prstGeom>
        </p:spPr>
      </p:pic>
      <p:sp>
        <p:nvSpPr>
          <p:cNvPr id="20" name="Text 15"/>
          <p:cNvSpPr txBox="1"/>
          <p:nvPr/>
        </p:nvSpPr>
        <p:spPr>
          <a:xfrm>
            <a:off x="1133856" y="4178808"/>
            <a:ext cx="3986784" cy="256032"/>
          </a:xfrm>
          <a:prstGeom prst="rect">
            <a:avLst/>
          </a:prstGeom>
          <a:noFill/>
          <a:ln/>
        </p:spPr>
        <p:txBody>
          <a:bodyPr wrap="square" lIns="0" tIns="0" rIns="0" bIns="0" rtlCol="0" anchor="t"/>
          <a:lstStyle/>
          <a:p>
            <a:pPr indent="0" marL="0">
              <a:buNone/>
            </a:pPr>
            <a:r>
              <a:rPr lang="en-US" sz="1250" b="1" dirty="0">
                <a:solidFill>
                  <a:srgbClr val="202124"/>
                </a:solidFill>
                <a:latin typeface="Arial" pitchFamily="34" charset="0"/>
                <a:ea typeface="Arial" pitchFamily="34" charset="-122"/>
                <a:cs typeface="Arial" pitchFamily="34" charset="-120"/>
              </a:rPr>
              <a:t>An honest replay</a:t>
            </a:r>
            <a:endParaRPr lang="en-US" sz="1250" dirty="0"/>
          </a:p>
        </p:txBody>
      </p:sp>
      <p:sp>
        <p:nvSpPr>
          <p:cNvPr id="21" name="Text 16"/>
          <p:cNvSpPr txBox="1"/>
          <p:nvPr/>
        </p:nvSpPr>
        <p:spPr>
          <a:xfrm>
            <a:off x="1133856" y="4434840"/>
            <a:ext cx="3986784" cy="237744"/>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Each screen shows only what was known at that bulletin</a:t>
            </a:r>
            <a:endParaRPr lang="en-US" sz="1000" dirty="0"/>
          </a:p>
        </p:txBody>
      </p:sp>
      <p:sp>
        <p:nvSpPr>
          <p:cNvPr id="22" name="Shape 17"/>
          <p:cNvSpPr/>
          <p:nvPr/>
        </p:nvSpPr>
        <p:spPr>
          <a:xfrm>
            <a:off x="548640" y="4892040"/>
            <a:ext cx="2217420" cy="566928"/>
          </a:xfrm>
          <a:prstGeom prst="roundRect">
            <a:avLst>
              <a:gd name="adj" fmla="val 12903"/>
            </a:avLst>
          </a:prstGeom>
          <a:solidFill>
            <a:srgbClr val="F8F9FA"/>
          </a:solidFill>
          <a:ln/>
        </p:spPr>
      </p:sp>
      <p:sp>
        <p:nvSpPr>
          <p:cNvPr id="23" name="Text 18"/>
          <p:cNvSpPr txBox="1"/>
          <p:nvPr/>
        </p:nvSpPr>
        <p:spPr>
          <a:xfrm>
            <a:off x="685800" y="4892040"/>
            <a:ext cx="1234440" cy="566928"/>
          </a:xfrm>
          <a:prstGeom prst="rect">
            <a:avLst/>
          </a:prstGeom>
          <a:noFill/>
          <a:ln/>
        </p:spPr>
        <p:txBody>
          <a:bodyPr wrap="square" lIns="0" tIns="0" rIns="0" bIns="0" rtlCol="0" anchor="ctr"/>
          <a:lstStyle/>
          <a:p>
            <a:pPr indent="0" marL="0">
              <a:buNone/>
            </a:pPr>
            <a:r>
              <a:rPr lang="en-US" sz="1700" b="1" dirty="0">
                <a:solidFill>
                  <a:srgbClr val="1A73E8"/>
                </a:solidFill>
                <a:latin typeface="Arial" pitchFamily="34" charset="0"/>
                <a:ea typeface="Arial" pitchFamily="34" charset="-122"/>
                <a:cs typeface="Arial" pitchFamily="34" charset="-120"/>
              </a:rPr>
              <a:t>4,214</a:t>
            </a:r>
            <a:endParaRPr lang="en-US" sz="1700" dirty="0"/>
          </a:p>
        </p:txBody>
      </p:sp>
      <p:sp>
        <p:nvSpPr>
          <p:cNvPr id="24" name="Text 19"/>
          <p:cNvSpPr txBox="1"/>
          <p:nvPr/>
        </p:nvSpPr>
        <p:spPr>
          <a:xfrm>
            <a:off x="1874520" y="4892040"/>
            <a:ext cx="800100" cy="56692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critical facilities</a:t>
            </a:r>
            <a:endParaRPr lang="en-US" sz="1000" dirty="0"/>
          </a:p>
        </p:txBody>
      </p:sp>
      <p:sp>
        <p:nvSpPr>
          <p:cNvPr id="25" name="Shape 20"/>
          <p:cNvSpPr/>
          <p:nvPr/>
        </p:nvSpPr>
        <p:spPr>
          <a:xfrm>
            <a:off x="2903220" y="4892040"/>
            <a:ext cx="2217420" cy="566928"/>
          </a:xfrm>
          <a:prstGeom prst="roundRect">
            <a:avLst>
              <a:gd name="adj" fmla="val 12903"/>
            </a:avLst>
          </a:prstGeom>
          <a:solidFill>
            <a:srgbClr val="F8F9FA"/>
          </a:solidFill>
          <a:ln/>
        </p:spPr>
      </p:sp>
      <p:sp>
        <p:nvSpPr>
          <p:cNvPr id="26" name="Text 21"/>
          <p:cNvSpPr txBox="1"/>
          <p:nvPr/>
        </p:nvSpPr>
        <p:spPr>
          <a:xfrm>
            <a:off x="3040380" y="4892040"/>
            <a:ext cx="1234440" cy="566928"/>
          </a:xfrm>
          <a:prstGeom prst="rect">
            <a:avLst/>
          </a:prstGeom>
          <a:noFill/>
          <a:ln/>
        </p:spPr>
        <p:txBody>
          <a:bodyPr wrap="square" lIns="0" tIns="0" rIns="0" bIns="0" rtlCol="0" anchor="ctr"/>
          <a:lstStyle/>
          <a:p>
            <a:pPr indent="0" marL="0">
              <a:buNone/>
            </a:pPr>
            <a:r>
              <a:rPr lang="en-US" sz="1700" b="1" dirty="0">
                <a:solidFill>
                  <a:srgbClr val="EA4335"/>
                </a:solidFill>
                <a:latin typeface="Arial" pitchFamily="34" charset="0"/>
                <a:ea typeface="Arial" pitchFamily="34" charset="-122"/>
                <a:cs typeface="Arial" pitchFamily="34" charset="-120"/>
              </a:rPr>
              <a:t>33,930 km</a:t>
            </a:r>
            <a:endParaRPr lang="en-US" sz="1700" dirty="0"/>
          </a:p>
        </p:txBody>
      </p:sp>
      <p:sp>
        <p:nvSpPr>
          <p:cNvPr id="27" name="Text 22"/>
          <p:cNvSpPr txBox="1"/>
          <p:nvPr/>
        </p:nvSpPr>
        <p:spPr>
          <a:xfrm>
            <a:off x="4229100" y="4892040"/>
            <a:ext cx="800100" cy="56692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main roads</a:t>
            </a:r>
            <a:endParaRPr lang="en-US" sz="1000" dirty="0"/>
          </a:p>
        </p:txBody>
      </p:sp>
      <p:sp>
        <p:nvSpPr>
          <p:cNvPr id="28" name="Shape 23"/>
          <p:cNvSpPr/>
          <p:nvPr/>
        </p:nvSpPr>
        <p:spPr>
          <a:xfrm>
            <a:off x="548640" y="5559552"/>
            <a:ext cx="2217420" cy="566928"/>
          </a:xfrm>
          <a:prstGeom prst="roundRect">
            <a:avLst>
              <a:gd name="adj" fmla="val 12903"/>
            </a:avLst>
          </a:prstGeom>
          <a:solidFill>
            <a:srgbClr val="F8F9FA"/>
          </a:solidFill>
          <a:ln/>
        </p:spPr>
      </p:sp>
      <p:sp>
        <p:nvSpPr>
          <p:cNvPr id="29" name="Text 24"/>
          <p:cNvSpPr txBox="1"/>
          <p:nvPr/>
        </p:nvSpPr>
        <p:spPr>
          <a:xfrm>
            <a:off x="685800" y="5559552"/>
            <a:ext cx="1234440" cy="566928"/>
          </a:xfrm>
          <a:prstGeom prst="rect">
            <a:avLst/>
          </a:prstGeom>
          <a:noFill/>
          <a:ln/>
        </p:spPr>
        <p:txBody>
          <a:bodyPr wrap="square" lIns="0" tIns="0" rIns="0" bIns="0" rtlCol="0" anchor="ctr"/>
          <a:lstStyle/>
          <a:p>
            <a:pPr indent="0" marL="0">
              <a:buNone/>
            </a:pPr>
            <a:r>
              <a:rPr lang="en-US" sz="1700" b="1" dirty="0">
                <a:solidFill>
                  <a:srgbClr val="B06000"/>
                </a:solidFill>
                <a:latin typeface="Arial" pitchFamily="34" charset="0"/>
                <a:ea typeface="Arial" pitchFamily="34" charset="-122"/>
                <a:cs typeface="Arial" pitchFamily="34" charset="-120"/>
              </a:rPr>
              <a:t>10.5 M</a:t>
            </a:r>
            <a:endParaRPr lang="en-US" sz="1700" dirty="0"/>
          </a:p>
        </p:txBody>
      </p:sp>
      <p:sp>
        <p:nvSpPr>
          <p:cNvPr id="30" name="Text 25"/>
          <p:cNvSpPr txBox="1"/>
          <p:nvPr/>
        </p:nvSpPr>
        <p:spPr>
          <a:xfrm>
            <a:off x="1874520" y="5559552"/>
            <a:ext cx="800100" cy="56692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people in priority area</a:t>
            </a:r>
            <a:endParaRPr lang="en-US" sz="1000" dirty="0"/>
          </a:p>
        </p:txBody>
      </p:sp>
      <p:sp>
        <p:nvSpPr>
          <p:cNvPr id="31" name="Shape 26"/>
          <p:cNvSpPr/>
          <p:nvPr/>
        </p:nvSpPr>
        <p:spPr>
          <a:xfrm>
            <a:off x="2903220" y="5559552"/>
            <a:ext cx="2217420" cy="566928"/>
          </a:xfrm>
          <a:prstGeom prst="roundRect">
            <a:avLst>
              <a:gd name="adj" fmla="val 12903"/>
            </a:avLst>
          </a:prstGeom>
          <a:solidFill>
            <a:srgbClr val="F8F9FA"/>
          </a:solidFill>
          <a:ln/>
        </p:spPr>
      </p:sp>
      <p:sp>
        <p:nvSpPr>
          <p:cNvPr id="32" name="Text 27"/>
          <p:cNvSpPr txBox="1"/>
          <p:nvPr/>
        </p:nvSpPr>
        <p:spPr>
          <a:xfrm>
            <a:off x="3040380" y="5559552"/>
            <a:ext cx="1234440" cy="566928"/>
          </a:xfrm>
          <a:prstGeom prst="rect">
            <a:avLst/>
          </a:prstGeom>
          <a:noFill/>
          <a:ln/>
        </p:spPr>
        <p:txBody>
          <a:bodyPr wrap="square" lIns="0" tIns="0" rIns="0" bIns="0" rtlCol="0" anchor="ctr"/>
          <a:lstStyle/>
          <a:p>
            <a:pPr indent="0" marL="0">
              <a:buNone/>
            </a:pPr>
            <a:r>
              <a:rPr lang="en-US" sz="1700" b="1" dirty="0">
                <a:solidFill>
                  <a:srgbClr val="34A853"/>
                </a:solidFill>
                <a:latin typeface="Arial" pitchFamily="34" charset="0"/>
                <a:ea typeface="Arial" pitchFamily="34" charset="-122"/>
                <a:cs typeface="Arial" pitchFamily="34" charset="-120"/>
              </a:rPr>
              <a:t>7</a:t>
            </a:r>
            <a:endParaRPr lang="en-US" sz="1700" dirty="0"/>
          </a:p>
        </p:txBody>
      </p:sp>
      <p:sp>
        <p:nvSpPr>
          <p:cNvPr id="33" name="Text 28"/>
          <p:cNvSpPr txBox="1"/>
          <p:nvPr/>
        </p:nvSpPr>
        <p:spPr>
          <a:xfrm>
            <a:off x="4229100" y="5559552"/>
            <a:ext cx="800100" cy="56692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departments</a:t>
            </a:r>
            <a:endParaRPr lang="en-US" sz="1000" dirty="0"/>
          </a:p>
        </p:txBody>
      </p:sp>
      <p:sp>
        <p:nvSpPr>
          <p:cNvPr id="34" name="Shape 29"/>
          <p:cNvSpPr/>
          <p:nvPr/>
        </p:nvSpPr>
        <p:spPr>
          <a:xfrm>
            <a:off x="5449824" y="1792224"/>
            <a:ext cx="6229807" cy="3748675"/>
          </a:xfrm>
          <a:prstGeom prst="roundRect">
            <a:avLst>
              <a:gd name="adj" fmla="val 1464"/>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pic>
        <p:nvPicPr>
          <p:cNvPr id="35" name="Image 3" descr="/private/tmp/claude-503/-Users-CharanVelavan-Charan-Projects-SurgeSight/9ee263a0-0835-4556-8164-6a5a42928b6b/scratchpad/deck/img/map.jpg">    </p:cNvPr>
          <p:cNvPicPr>
            <a:picLocks noChangeAspect="1"/>
          </p:cNvPicPr>
          <p:nvPr/>
        </p:nvPicPr>
        <p:blipFill>
          <a:blip r:embed="rId4"/>
          <a:stretch>
            <a:fillRect/>
          </a:stretch>
        </p:blipFill>
        <p:spPr>
          <a:xfrm>
            <a:off x="5486400" y="1828800"/>
            <a:ext cx="6156655" cy="3675523"/>
          </a:xfrm>
          <a:prstGeom prst="rect">
            <a:avLst/>
          </a:prstGeom>
        </p:spPr>
      </p:pic>
      <p:sp>
        <p:nvSpPr>
          <p:cNvPr id="36" name="Text 30"/>
          <p:cNvSpPr txBox="1"/>
          <p:nvPr/>
        </p:nvSpPr>
        <p:spPr>
          <a:xfrm>
            <a:off x="5486400" y="5632339"/>
            <a:ext cx="6156655" cy="274320"/>
          </a:xfrm>
          <a:prstGeom prst="rect">
            <a:avLst/>
          </a:prstGeom>
          <a:noFill/>
          <a:ln/>
        </p:spPr>
        <p:txBody>
          <a:bodyPr wrap="square" lIns="0" tIns="0" rIns="0" bIns="0" rtlCol="0" anchor="t"/>
          <a:lstStyle/>
          <a:p>
            <a:pPr indent="0" marL="0">
              <a:buNone/>
            </a:pPr>
            <a:r>
              <a:rPr lang="en-US" sz="1050" dirty="0">
                <a:solidFill>
                  <a:srgbClr val="5F6368"/>
                </a:solidFill>
                <a:latin typeface="Arial" pitchFamily="34" charset="0"/>
                <a:ea typeface="Arial" pitchFamily="34" charset="-122"/>
                <a:cs typeface="Arial" pitchFamily="34" charset="-120"/>
              </a:rPr>
              <a:t>Our replay of Michaung on Google Maps at the 03 Dec 17:30 IST bulletin.</a:t>
            </a:r>
            <a:endParaRPr lang="en-US" sz="1050" dirty="0"/>
          </a:p>
        </p:txBody>
      </p:sp>
      <p:sp>
        <p:nvSpPr>
          <p:cNvPr id="37" name="Shape 31"/>
          <p:cNvSpPr/>
          <p:nvPr/>
        </p:nvSpPr>
        <p:spPr>
          <a:xfrm>
            <a:off x="548640" y="6492240"/>
            <a:ext cx="73152" cy="73152"/>
          </a:xfrm>
          <a:prstGeom prst="ellipse">
            <a:avLst/>
          </a:prstGeom>
          <a:solidFill>
            <a:srgbClr val="1A73E8"/>
          </a:solidFill>
          <a:ln/>
        </p:spPr>
      </p:sp>
      <p:sp>
        <p:nvSpPr>
          <p:cNvPr id="38" name="Shape 32"/>
          <p:cNvSpPr/>
          <p:nvPr/>
        </p:nvSpPr>
        <p:spPr>
          <a:xfrm>
            <a:off x="658368" y="6492240"/>
            <a:ext cx="73152" cy="73152"/>
          </a:xfrm>
          <a:prstGeom prst="ellipse">
            <a:avLst/>
          </a:prstGeom>
          <a:solidFill>
            <a:srgbClr val="EA4335"/>
          </a:solidFill>
          <a:ln/>
        </p:spPr>
      </p:sp>
      <p:sp>
        <p:nvSpPr>
          <p:cNvPr id="39" name="Shape 33"/>
          <p:cNvSpPr/>
          <p:nvPr/>
        </p:nvSpPr>
        <p:spPr>
          <a:xfrm>
            <a:off x="768096" y="6492240"/>
            <a:ext cx="73152" cy="73152"/>
          </a:xfrm>
          <a:prstGeom prst="ellipse">
            <a:avLst/>
          </a:prstGeom>
          <a:solidFill>
            <a:srgbClr val="FBBC04"/>
          </a:solidFill>
          <a:ln/>
        </p:spPr>
      </p:sp>
      <p:sp>
        <p:nvSpPr>
          <p:cNvPr id="40" name="Shape 34"/>
          <p:cNvSpPr/>
          <p:nvPr/>
        </p:nvSpPr>
        <p:spPr>
          <a:xfrm>
            <a:off x="877824" y="6492240"/>
            <a:ext cx="73152" cy="73152"/>
          </a:xfrm>
          <a:prstGeom prst="ellipse">
            <a:avLst/>
          </a:prstGeom>
          <a:solidFill>
            <a:srgbClr val="34A853"/>
          </a:solidFill>
          <a:ln/>
        </p:spPr>
      </p:sp>
      <p:sp>
        <p:nvSpPr>
          <p:cNvPr id="41" name="Text 35"/>
          <p:cNvSpPr txBox="1"/>
          <p:nvPr/>
        </p:nvSpPr>
        <p:spPr>
          <a:xfrm>
            <a:off x="1024128" y="6419088"/>
            <a:ext cx="4572000" cy="22860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Team Echo  ·  SurgeSight</a:t>
            </a:r>
            <a:endParaRPr lang="en-US" sz="950" dirty="0"/>
          </a:p>
        </p:txBody>
      </p:sp>
      <p:sp>
        <p:nvSpPr>
          <p:cNvPr id="42" name="Text 36"/>
          <p:cNvSpPr txBox="1"/>
          <p:nvPr/>
        </p:nvSpPr>
        <p:spPr>
          <a:xfrm>
            <a:off x="11094415" y="6419088"/>
            <a:ext cx="548640" cy="228600"/>
          </a:xfrm>
          <a:prstGeom prst="rect">
            <a:avLst/>
          </a:prstGeom>
          <a:noFill/>
          <a:ln/>
        </p:spPr>
        <p:txBody>
          <a:bodyPr wrap="square" lIns="0" tIns="0" rIns="0" bIns="0" rtlCol="0" anchor="ctr"/>
          <a:lstStyle/>
          <a:p>
            <a:pPr algn="r" indent="0" marL="0">
              <a:buNone/>
            </a:pPr>
            <a:r>
              <a:rPr lang="en-US" sz="950" dirty="0">
                <a:solidFill>
                  <a:srgbClr val="5F6368"/>
                </a:solidFill>
                <a:latin typeface="Arial" pitchFamily="34" charset="0"/>
                <a:ea typeface="Arial" pitchFamily="34" charset="-122"/>
                <a:cs typeface="Arial"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91440" cy="91440"/>
          </a:xfrm>
          <a:prstGeom prst="ellipse">
            <a:avLst/>
          </a:prstGeom>
          <a:solidFill>
            <a:srgbClr val="1A73E8"/>
          </a:solidFill>
          <a:ln/>
        </p:spPr>
      </p:sp>
      <p:sp>
        <p:nvSpPr>
          <p:cNvPr id="3" name="Shape 1"/>
          <p:cNvSpPr/>
          <p:nvPr/>
        </p:nvSpPr>
        <p:spPr>
          <a:xfrm>
            <a:off x="685800" y="475488"/>
            <a:ext cx="91440" cy="91440"/>
          </a:xfrm>
          <a:prstGeom prst="ellipse">
            <a:avLst/>
          </a:prstGeom>
          <a:solidFill>
            <a:srgbClr val="EA4335"/>
          </a:solidFill>
          <a:ln/>
        </p:spPr>
      </p:sp>
      <p:sp>
        <p:nvSpPr>
          <p:cNvPr id="4" name="Shape 2"/>
          <p:cNvSpPr/>
          <p:nvPr/>
        </p:nvSpPr>
        <p:spPr>
          <a:xfrm>
            <a:off x="822960" y="475488"/>
            <a:ext cx="91440" cy="91440"/>
          </a:xfrm>
          <a:prstGeom prst="ellipse">
            <a:avLst/>
          </a:prstGeom>
          <a:solidFill>
            <a:srgbClr val="FBBC04"/>
          </a:solidFill>
          <a:ln/>
        </p:spPr>
      </p:sp>
      <p:sp>
        <p:nvSpPr>
          <p:cNvPr id="5" name="Shape 3"/>
          <p:cNvSpPr/>
          <p:nvPr/>
        </p:nvSpPr>
        <p:spPr>
          <a:xfrm>
            <a:off x="960120" y="475488"/>
            <a:ext cx="91440" cy="91440"/>
          </a:xfrm>
          <a:prstGeom prst="ellipse">
            <a:avLst/>
          </a:prstGeom>
          <a:solidFill>
            <a:srgbClr val="34A853"/>
          </a:solidFill>
          <a:ln/>
        </p:spPr>
      </p:sp>
      <p:sp>
        <p:nvSpPr>
          <p:cNvPr id="6" name="Text 4"/>
          <p:cNvSpPr txBox="1"/>
          <p:nvPr/>
        </p:nvSpPr>
        <p:spPr>
          <a:xfrm>
            <a:off x="1115568" y="393192"/>
            <a:ext cx="8229600" cy="274320"/>
          </a:xfrm>
          <a:prstGeom prst="rect">
            <a:avLst/>
          </a:prstGeom>
          <a:noFill/>
          <a:ln/>
        </p:spPr>
        <p:txBody>
          <a:bodyPr wrap="square" lIns="0" tIns="0" rIns="0" bIns="0" rtlCol="0" anchor="ctr"/>
          <a:lstStyle/>
          <a:p>
            <a:pPr indent="0" marL="0">
              <a:buNone/>
            </a:pPr>
            <a:r>
              <a:rPr lang="en-US" sz="1100" b="1" spc="200" kern="0" dirty="0">
                <a:solidFill>
                  <a:srgbClr val="1A73E8"/>
                </a:solidFill>
                <a:latin typeface="Arial" pitchFamily="34" charset="0"/>
                <a:ea typeface="Arial" pitchFamily="34" charset="-122"/>
                <a:cs typeface="Arial" pitchFamily="34" charset="-120"/>
              </a:rPr>
              <a:t>FEATURE 1 · THE IMPACT MAP</a:t>
            </a:r>
            <a:endParaRPr lang="en-US" sz="1100" dirty="0"/>
          </a:p>
        </p:txBody>
      </p:sp>
      <p:sp>
        <p:nvSpPr>
          <p:cNvPr id="7" name="Text 5"/>
          <p:cNvSpPr txBox="1"/>
          <p:nvPr/>
        </p:nvSpPr>
        <p:spPr>
          <a:xfrm>
            <a:off x="548640" y="786384"/>
            <a:ext cx="11094415" cy="914400"/>
          </a:xfrm>
          <a:prstGeom prst="rect">
            <a:avLst/>
          </a:prstGeom>
          <a:noFill/>
          <a:ln/>
        </p:spPr>
        <p:txBody>
          <a:bodyPr wrap="square" lIns="0" tIns="0" rIns="0" bIns="0" rtlCol="0" anchor="t"/>
          <a:lstStyle/>
          <a:p>
            <a:pPr indent="0" marL="0">
              <a:buNone/>
            </a:pPr>
            <a:r>
              <a:rPr lang="en-US" sz="2700" b="1" dirty="0">
                <a:solidFill>
                  <a:srgbClr val="202124"/>
                </a:solidFill>
                <a:latin typeface="Arial" pitchFamily="34" charset="0"/>
                <a:ea typeface="Arial" pitchFamily="34" charset="-122"/>
                <a:cs typeface="Arial" pitchFamily="34" charset="-120"/>
              </a:rPr>
              <a:t>Every school, hospital and substation under the storm, on one map, coloured by risk.</a:t>
            </a:r>
            <a:endParaRPr lang="en-US" sz="2700" dirty="0"/>
          </a:p>
        </p:txBody>
      </p:sp>
      <p:sp>
        <p:nvSpPr>
          <p:cNvPr id="8" name="Shape 6"/>
          <p:cNvSpPr/>
          <p:nvPr/>
        </p:nvSpPr>
        <p:spPr>
          <a:xfrm>
            <a:off x="512064" y="1792224"/>
            <a:ext cx="6885432" cy="4249080"/>
          </a:xfrm>
          <a:prstGeom prst="roundRect">
            <a:avLst>
              <a:gd name="adj" fmla="val 1291"/>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pic>
        <p:nvPicPr>
          <p:cNvPr id="9" name="Image 0" descr="/private/tmp/claude-503/-Users-CharanVelavan-Charan-Projects-SurgeSight/9ee263a0-0835-4556-8164-6a5a42928b6b/scratchpad/deck/img/map_school.jpg">    </p:cNvPr>
          <p:cNvPicPr>
            <a:picLocks noChangeAspect="1"/>
          </p:cNvPicPr>
          <p:nvPr/>
        </p:nvPicPr>
        <p:blipFill>
          <a:blip r:embed="rId1"/>
          <a:stretch>
            <a:fillRect/>
          </a:stretch>
        </p:blipFill>
        <p:spPr>
          <a:xfrm>
            <a:off x="548640" y="1828800"/>
            <a:ext cx="6812280" cy="4175928"/>
          </a:xfrm>
          <a:prstGeom prst="rect">
            <a:avLst/>
          </a:prstGeom>
        </p:spPr>
      </p:pic>
      <p:sp>
        <p:nvSpPr>
          <p:cNvPr id="10" name="Shape 7"/>
          <p:cNvSpPr/>
          <p:nvPr/>
        </p:nvSpPr>
        <p:spPr>
          <a:xfrm>
            <a:off x="7726680" y="1828800"/>
            <a:ext cx="457200" cy="457200"/>
          </a:xfrm>
          <a:prstGeom prst="ellipse">
            <a:avLst/>
          </a:prstGeom>
          <a:solidFill>
            <a:srgbClr val="FCE8E6"/>
          </a:solidFill>
          <a:ln/>
        </p:spPr>
      </p:sp>
      <p:pic>
        <p:nvPicPr>
          <p:cNvPr id="11" name="Image 1" descr="preencoded.png">    </p:cNvPr>
          <p:cNvPicPr>
            <a:picLocks noChangeAspect="1"/>
          </p:cNvPicPr>
          <p:nvPr/>
        </p:nvPicPr>
        <p:blipFill>
          <a:blip r:embed="rId2"/>
          <a:stretch>
            <a:fillRect/>
          </a:stretch>
        </p:blipFill>
        <p:spPr>
          <a:xfrm>
            <a:off x="7827264" y="1929384"/>
            <a:ext cx="256032" cy="256032"/>
          </a:xfrm>
          <a:prstGeom prst="rect">
            <a:avLst/>
          </a:prstGeom>
        </p:spPr>
      </p:pic>
      <p:sp>
        <p:nvSpPr>
          <p:cNvPr id="12" name="Text 8"/>
          <p:cNvSpPr txBox="1"/>
          <p:nvPr/>
        </p:nvSpPr>
        <p:spPr>
          <a:xfrm>
            <a:off x="8321040" y="1828800"/>
            <a:ext cx="3322015" cy="457200"/>
          </a:xfrm>
          <a:prstGeom prst="rect">
            <a:avLst/>
          </a:prstGeom>
          <a:noFill/>
          <a:ln/>
        </p:spPr>
        <p:txBody>
          <a:bodyPr wrap="square" lIns="0" tIns="0" rIns="0" bIns="0" rtlCol="0" anchor="ctr"/>
          <a:lstStyle/>
          <a:p>
            <a:pPr indent="0" marL="0">
              <a:buNone/>
            </a:pPr>
            <a:r>
              <a:rPr lang="en-US" sz="1400" b="1" dirty="0">
                <a:solidFill>
                  <a:srgbClr val="202124"/>
                </a:solidFill>
                <a:latin typeface="Arial" pitchFamily="34" charset="0"/>
                <a:ea typeface="Arial" pitchFamily="34" charset="-122"/>
                <a:cs typeface="Arial" pitchFamily="34" charset="-120"/>
              </a:rPr>
              <a:t>4,214 facilities, 8 types</a:t>
            </a:r>
            <a:endParaRPr lang="en-US" sz="1400" dirty="0"/>
          </a:p>
        </p:txBody>
      </p:sp>
      <p:sp>
        <p:nvSpPr>
          <p:cNvPr id="13" name="Text 9"/>
          <p:cNvSpPr txBox="1"/>
          <p:nvPr/>
        </p:nvSpPr>
        <p:spPr>
          <a:xfrm>
            <a:off x="8321040" y="2286000"/>
            <a:ext cx="3322015" cy="566928"/>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Schools, hospitals, substations, shelters, police, fire, water, harbours, from Low to Critical</a:t>
            </a:r>
            <a:endParaRPr lang="en-US" sz="1100" dirty="0"/>
          </a:p>
        </p:txBody>
      </p:sp>
      <p:sp>
        <p:nvSpPr>
          <p:cNvPr id="14" name="Shape 10"/>
          <p:cNvSpPr/>
          <p:nvPr/>
        </p:nvSpPr>
        <p:spPr>
          <a:xfrm>
            <a:off x="7726680" y="2926080"/>
            <a:ext cx="457200" cy="457200"/>
          </a:xfrm>
          <a:prstGeom prst="ellipse">
            <a:avLst/>
          </a:prstGeom>
          <a:solidFill>
            <a:srgbClr val="FEF7E0"/>
          </a:solidFill>
          <a:ln/>
        </p:spPr>
      </p:sp>
      <p:pic>
        <p:nvPicPr>
          <p:cNvPr id="15" name="Image 2" descr="preencoded.png">    </p:cNvPr>
          <p:cNvPicPr>
            <a:picLocks noChangeAspect="1"/>
          </p:cNvPicPr>
          <p:nvPr/>
        </p:nvPicPr>
        <p:blipFill>
          <a:blip r:embed="rId3"/>
          <a:stretch>
            <a:fillRect/>
          </a:stretch>
        </p:blipFill>
        <p:spPr>
          <a:xfrm>
            <a:off x="7827264" y="3026664"/>
            <a:ext cx="256032" cy="256032"/>
          </a:xfrm>
          <a:prstGeom prst="rect">
            <a:avLst/>
          </a:prstGeom>
        </p:spPr>
      </p:pic>
      <p:sp>
        <p:nvSpPr>
          <p:cNvPr id="16" name="Text 11"/>
          <p:cNvSpPr txBox="1"/>
          <p:nvPr/>
        </p:nvSpPr>
        <p:spPr>
          <a:xfrm>
            <a:off x="8321040" y="2926080"/>
            <a:ext cx="3322015" cy="457200"/>
          </a:xfrm>
          <a:prstGeom prst="rect">
            <a:avLst/>
          </a:prstGeom>
          <a:noFill/>
          <a:ln/>
        </p:spPr>
        <p:txBody>
          <a:bodyPr wrap="square" lIns="0" tIns="0" rIns="0" bIns="0" rtlCol="0" anchor="ctr"/>
          <a:lstStyle/>
          <a:p>
            <a:pPr indent="0" marL="0">
              <a:buNone/>
            </a:pPr>
            <a:r>
              <a:rPr lang="en-US" sz="1400" b="1" dirty="0">
                <a:solidFill>
                  <a:srgbClr val="202124"/>
                </a:solidFill>
                <a:latin typeface="Arial" pitchFamily="34" charset="0"/>
                <a:ea typeface="Arial" pitchFamily="34" charset="-122"/>
                <a:cs typeface="Arial" pitchFamily="34" charset="-120"/>
              </a:rPr>
              <a:t>Alert zones</a:t>
            </a:r>
            <a:endParaRPr lang="en-US" sz="1400" dirty="0"/>
          </a:p>
        </p:txBody>
      </p:sp>
      <p:sp>
        <p:nvSpPr>
          <p:cNvPr id="17" name="Text 12"/>
          <p:cNvSpPr txBox="1"/>
          <p:nvPr/>
        </p:nvSpPr>
        <p:spPr>
          <a:xfrm>
            <a:off x="8321040" y="3383280"/>
            <a:ext cx="3322015" cy="566928"/>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Watch, warning and severe areas from wind and rain, moving with the storm</a:t>
            </a:r>
            <a:endParaRPr lang="en-US" sz="1100" dirty="0"/>
          </a:p>
        </p:txBody>
      </p:sp>
      <p:sp>
        <p:nvSpPr>
          <p:cNvPr id="18" name="Shape 13"/>
          <p:cNvSpPr/>
          <p:nvPr/>
        </p:nvSpPr>
        <p:spPr>
          <a:xfrm>
            <a:off x="7726680" y="4023360"/>
            <a:ext cx="457200" cy="457200"/>
          </a:xfrm>
          <a:prstGeom prst="ellipse">
            <a:avLst/>
          </a:prstGeom>
          <a:solidFill>
            <a:srgbClr val="E8F0FE"/>
          </a:solidFill>
          <a:ln/>
        </p:spPr>
      </p:sp>
      <p:pic>
        <p:nvPicPr>
          <p:cNvPr id="19" name="Image 3" descr="preencoded.png">    </p:cNvPr>
          <p:cNvPicPr>
            <a:picLocks noChangeAspect="1"/>
          </p:cNvPicPr>
          <p:nvPr/>
        </p:nvPicPr>
        <p:blipFill>
          <a:blip r:embed="rId4"/>
          <a:stretch>
            <a:fillRect/>
          </a:stretch>
        </p:blipFill>
        <p:spPr>
          <a:xfrm>
            <a:off x="7827264" y="4123944"/>
            <a:ext cx="256032" cy="256032"/>
          </a:xfrm>
          <a:prstGeom prst="rect">
            <a:avLst/>
          </a:prstGeom>
        </p:spPr>
      </p:pic>
      <p:sp>
        <p:nvSpPr>
          <p:cNvPr id="20" name="Text 14"/>
          <p:cNvSpPr txBox="1"/>
          <p:nvPr/>
        </p:nvSpPr>
        <p:spPr>
          <a:xfrm>
            <a:off x="8321040" y="4023360"/>
            <a:ext cx="3322015" cy="457200"/>
          </a:xfrm>
          <a:prstGeom prst="rect">
            <a:avLst/>
          </a:prstGeom>
          <a:noFill/>
          <a:ln/>
        </p:spPr>
        <p:txBody>
          <a:bodyPr wrap="square" lIns="0" tIns="0" rIns="0" bIns="0" rtlCol="0" anchor="ctr"/>
          <a:lstStyle/>
          <a:p>
            <a:pPr indent="0" marL="0">
              <a:buNone/>
            </a:pPr>
            <a:r>
              <a:rPr lang="en-US" sz="1400" b="1" dirty="0">
                <a:solidFill>
                  <a:srgbClr val="202124"/>
                </a:solidFill>
                <a:latin typeface="Arial" pitchFamily="34" charset="0"/>
                <a:ea typeface="Arial" pitchFamily="34" charset="-122"/>
                <a:cs typeface="Arial" pitchFamily="34" charset="-120"/>
              </a:rPr>
              <a:t>Track and forecast</a:t>
            </a:r>
            <a:endParaRPr lang="en-US" sz="1400" dirty="0"/>
          </a:p>
        </p:txBody>
      </p:sp>
      <p:sp>
        <p:nvSpPr>
          <p:cNvPr id="21" name="Text 15"/>
          <p:cNvSpPr txBox="1"/>
          <p:nvPr/>
        </p:nvSpPr>
        <p:spPr>
          <a:xfrm>
            <a:off x="8321040" y="4480560"/>
            <a:ext cx="3322015" cy="566928"/>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Observed path, our experimental forecast and its uncertainty</a:t>
            </a:r>
            <a:endParaRPr lang="en-US" sz="1100" dirty="0"/>
          </a:p>
        </p:txBody>
      </p:sp>
      <p:sp>
        <p:nvSpPr>
          <p:cNvPr id="22" name="Shape 16"/>
          <p:cNvSpPr/>
          <p:nvPr/>
        </p:nvSpPr>
        <p:spPr>
          <a:xfrm>
            <a:off x="7726680" y="5120640"/>
            <a:ext cx="457200" cy="457200"/>
          </a:xfrm>
          <a:prstGeom prst="ellipse">
            <a:avLst/>
          </a:prstGeom>
          <a:solidFill>
            <a:srgbClr val="E6F4EA"/>
          </a:solidFill>
          <a:ln/>
        </p:spPr>
      </p:sp>
      <p:pic>
        <p:nvPicPr>
          <p:cNvPr id="23" name="Image 4" descr="preencoded.png">    </p:cNvPr>
          <p:cNvPicPr>
            <a:picLocks noChangeAspect="1"/>
          </p:cNvPicPr>
          <p:nvPr/>
        </p:nvPicPr>
        <p:blipFill>
          <a:blip r:embed="rId5"/>
          <a:stretch>
            <a:fillRect/>
          </a:stretch>
        </p:blipFill>
        <p:spPr>
          <a:xfrm>
            <a:off x="7827264" y="5221224"/>
            <a:ext cx="256032" cy="256032"/>
          </a:xfrm>
          <a:prstGeom prst="rect">
            <a:avLst/>
          </a:prstGeom>
        </p:spPr>
      </p:pic>
      <p:sp>
        <p:nvSpPr>
          <p:cNvPr id="24" name="Text 17"/>
          <p:cNvSpPr txBox="1"/>
          <p:nvPr/>
        </p:nvSpPr>
        <p:spPr>
          <a:xfrm>
            <a:off x="8321040" y="5120640"/>
            <a:ext cx="3322015" cy="457200"/>
          </a:xfrm>
          <a:prstGeom prst="rect">
            <a:avLst/>
          </a:prstGeom>
          <a:noFill/>
          <a:ln/>
        </p:spPr>
        <p:txBody>
          <a:bodyPr wrap="square" lIns="0" tIns="0" rIns="0" bIns="0" rtlCol="0" anchor="ctr"/>
          <a:lstStyle/>
          <a:p>
            <a:pPr indent="0" marL="0">
              <a:buNone/>
            </a:pPr>
            <a:r>
              <a:rPr lang="en-US" sz="1400" b="1" dirty="0">
                <a:solidFill>
                  <a:srgbClr val="202124"/>
                </a:solidFill>
                <a:latin typeface="Arial" pitchFamily="34" charset="0"/>
                <a:ea typeface="Arial" pitchFamily="34" charset="-122"/>
                <a:cs typeface="Arial" pitchFamily="34" charset="-120"/>
              </a:rPr>
              <a:t>Roads to check</a:t>
            </a:r>
            <a:endParaRPr lang="en-US" sz="1400" dirty="0"/>
          </a:p>
        </p:txBody>
      </p:sp>
      <p:sp>
        <p:nvSpPr>
          <p:cNvPr id="25" name="Text 18"/>
          <p:cNvSpPr txBox="1"/>
          <p:nvPr/>
        </p:nvSpPr>
        <p:spPr>
          <a:xfrm>
            <a:off x="8321040" y="5577840"/>
            <a:ext cx="3322015" cy="566928"/>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33,930 km of main roads by exposure; hospitals whose access is cut off</a:t>
            </a:r>
            <a:endParaRPr lang="en-US" sz="1100" dirty="0"/>
          </a:p>
        </p:txBody>
      </p:sp>
      <p:sp>
        <p:nvSpPr>
          <p:cNvPr id="26" name="Text 19"/>
          <p:cNvSpPr txBox="1"/>
          <p:nvPr/>
        </p:nvSpPr>
        <p:spPr>
          <a:xfrm>
            <a:off x="548640" y="6096168"/>
            <a:ext cx="6812280" cy="256032"/>
          </a:xfrm>
          <a:prstGeom prst="rect">
            <a:avLst/>
          </a:prstGeom>
          <a:noFill/>
          <a:ln/>
        </p:spPr>
        <p:txBody>
          <a:bodyPr wrap="square" lIns="0" tIns="0" rIns="0" bIns="0" rtlCol="0" anchor="t"/>
          <a:lstStyle/>
          <a:p>
            <a:pPr indent="0" marL="0">
              <a:buNone/>
            </a:pPr>
            <a:r>
              <a:rPr lang="en-US" sz="1050" dirty="0">
                <a:solidFill>
                  <a:srgbClr val="5F6368"/>
                </a:solidFill>
                <a:latin typeface="Arial" pitchFamily="34" charset="0"/>
                <a:ea typeface="Arial" pitchFamily="34" charset="-122"/>
                <a:cs typeface="Arial" pitchFamily="34" charset="-120"/>
              </a:rPr>
              <a:t>Tap any facility (here KGVB School, Kothapatnam) to see why it was alerted.</a:t>
            </a:r>
            <a:endParaRPr lang="en-US" sz="1050" dirty="0"/>
          </a:p>
        </p:txBody>
      </p:sp>
      <p:sp>
        <p:nvSpPr>
          <p:cNvPr id="27" name="Shape 20"/>
          <p:cNvSpPr/>
          <p:nvPr/>
        </p:nvSpPr>
        <p:spPr>
          <a:xfrm>
            <a:off x="548640" y="6492240"/>
            <a:ext cx="73152" cy="73152"/>
          </a:xfrm>
          <a:prstGeom prst="ellipse">
            <a:avLst/>
          </a:prstGeom>
          <a:solidFill>
            <a:srgbClr val="1A73E8"/>
          </a:solidFill>
          <a:ln/>
        </p:spPr>
      </p:sp>
      <p:sp>
        <p:nvSpPr>
          <p:cNvPr id="28" name="Shape 21"/>
          <p:cNvSpPr/>
          <p:nvPr/>
        </p:nvSpPr>
        <p:spPr>
          <a:xfrm>
            <a:off x="658368" y="6492240"/>
            <a:ext cx="73152" cy="73152"/>
          </a:xfrm>
          <a:prstGeom prst="ellipse">
            <a:avLst/>
          </a:prstGeom>
          <a:solidFill>
            <a:srgbClr val="EA4335"/>
          </a:solidFill>
          <a:ln/>
        </p:spPr>
      </p:sp>
      <p:sp>
        <p:nvSpPr>
          <p:cNvPr id="29" name="Shape 22"/>
          <p:cNvSpPr/>
          <p:nvPr/>
        </p:nvSpPr>
        <p:spPr>
          <a:xfrm>
            <a:off x="768096" y="6492240"/>
            <a:ext cx="73152" cy="73152"/>
          </a:xfrm>
          <a:prstGeom prst="ellipse">
            <a:avLst/>
          </a:prstGeom>
          <a:solidFill>
            <a:srgbClr val="FBBC04"/>
          </a:solidFill>
          <a:ln/>
        </p:spPr>
      </p:sp>
      <p:sp>
        <p:nvSpPr>
          <p:cNvPr id="30" name="Shape 23"/>
          <p:cNvSpPr/>
          <p:nvPr/>
        </p:nvSpPr>
        <p:spPr>
          <a:xfrm>
            <a:off x="877824" y="6492240"/>
            <a:ext cx="73152" cy="73152"/>
          </a:xfrm>
          <a:prstGeom prst="ellipse">
            <a:avLst/>
          </a:prstGeom>
          <a:solidFill>
            <a:srgbClr val="34A853"/>
          </a:solidFill>
          <a:ln/>
        </p:spPr>
      </p:sp>
      <p:sp>
        <p:nvSpPr>
          <p:cNvPr id="31" name="Text 24"/>
          <p:cNvSpPr txBox="1"/>
          <p:nvPr/>
        </p:nvSpPr>
        <p:spPr>
          <a:xfrm>
            <a:off x="1024128" y="6419088"/>
            <a:ext cx="4572000" cy="22860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Team Echo  ·  SurgeSight</a:t>
            </a:r>
            <a:endParaRPr lang="en-US" sz="950" dirty="0"/>
          </a:p>
        </p:txBody>
      </p:sp>
      <p:sp>
        <p:nvSpPr>
          <p:cNvPr id="32" name="Text 25"/>
          <p:cNvSpPr txBox="1"/>
          <p:nvPr/>
        </p:nvSpPr>
        <p:spPr>
          <a:xfrm>
            <a:off x="11094415" y="6419088"/>
            <a:ext cx="548640" cy="228600"/>
          </a:xfrm>
          <a:prstGeom prst="rect">
            <a:avLst/>
          </a:prstGeom>
          <a:noFill/>
          <a:ln/>
        </p:spPr>
        <p:txBody>
          <a:bodyPr wrap="square" lIns="0" tIns="0" rIns="0" bIns="0" rtlCol="0" anchor="ctr"/>
          <a:lstStyle/>
          <a:p>
            <a:pPr algn="r" indent="0" marL="0">
              <a:buNone/>
            </a:pPr>
            <a:r>
              <a:rPr lang="en-US" sz="950" dirty="0">
                <a:solidFill>
                  <a:srgbClr val="5F6368"/>
                </a:solidFill>
                <a:latin typeface="Arial" pitchFamily="34" charset="0"/>
                <a:ea typeface="Arial" pitchFamily="34" charset="-122"/>
                <a:cs typeface="Arial"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91440" cy="91440"/>
          </a:xfrm>
          <a:prstGeom prst="ellipse">
            <a:avLst/>
          </a:prstGeom>
          <a:solidFill>
            <a:srgbClr val="1A73E8"/>
          </a:solidFill>
          <a:ln/>
        </p:spPr>
      </p:sp>
      <p:sp>
        <p:nvSpPr>
          <p:cNvPr id="3" name="Shape 1"/>
          <p:cNvSpPr/>
          <p:nvPr/>
        </p:nvSpPr>
        <p:spPr>
          <a:xfrm>
            <a:off x="685800" y="475488"/>
            <a:ext cx="91440" cy="91440"/>
          </a:xfrm>
          <a:prstGeom prst="ellipse">
            <a:avLst/>
          </a:prstGeom>
          <a:solidFill>
            <a:srgbClr val="EA4335"/>
          </a:solidFill>
          <a:ln/>
        </p:spPr>
      </p:sp>
      <p:sp>
        <p:nvSpPr>
          <p:cNvPr id="4" name="Shape 2"/>
          <p:cNvSpPr/>
          <p:nvPr/>
        </p:nvSpPr>
        <p:spPr>
          <a:xfrm>
            <a:off x="822960" y="475488"/>
            <a:ext cx="91440" cy="91440"/>
          </a:xfrm>
          <a:prstGeom prst="ellipse">
            <a:avLst/>
          </a:prstGeom>
          <a:solidFill>
            <a:srgbClr val="FBBC04"/>
          </a:solidFill>
          <a:ln/>
        </p:spPr>
      </p:sp>
      <p:sp>
        <p:nvSpPr>
          <p:cNvPr id="5" name="Shape 3"/>
          <p:cNvSpPr/>
          <p:nvPr/>
        </p:nvSpPr>
        <p:spPr>
          <a:xfrm>
            <a:off x="960120" y="475488"/>
            <a:ext cx="91440" cy="91440"/>
          </a:xfrm>
          <a:prstGeom prst="ellipse">
            <a:avLst/>
          </a:prstGeom>
          <a:solidFill>
            <a:srgbClr val="34A853"/>
          </a:solidFill>
          <a:ln/>
        </p:spPr>
      </p:sp>
      <p:sp>
        <p:nvSpPr>
          <p:cNvPr id="6" name="Text 4"/>
          <p:cNvSpPr txBox="1"/>
          <p:nvPr/>
        </p:nvSpPr>
        <p:spPr>
          <a:xfrm>
            <a:off x="1115568" y="393192"/>
            <a:ext cx="8229600" cy="274320"/>
          </a:xfrm>
          <a:prstGeom prst="rect">
            <a:avLst/>
          </a:prstGeom>
          <a:noFill/>
          <a:ln/>
        </p:spPr>
        <p:txBody>
          <a:bodyPr wrap="square" lIns="0" tIns="0" rIns="0" bIns="0" rtlCol="0" anchor="ctr"/>
          <a:lstStyle/>
          <a:p>
            <a:pPr indent="0" marL="0">
              <a:buNone/>
            </a:pPr>
            <a:r>
              <a:rPr lang="en-US" sz="1100" b="1" spc="200" kern="0" dirty="0">
                <a:solidFill>
                  <a:srgbClr val="1A73E8"/>
                </a:solidFill>
                <a:latin typeface="Arial" pitchFamily="34" charset="0"/>
                <a:ea typeface="Arial" pitchFamily="34" charset="-122"/>
                <a:cs typeface="Arial" pitchFamily="34" charset="-120"/>
              </a:rPr>
              <a:t>FEATURE 2 · WHY WAS IT ALERTED?</a:t>
            </a:r>
            <a:endParaRPr lang="en-US" sz="1100" dirty="0"/>
          </a:p>
        </p:txBody>
      </p:sp>
      <p:sp>
        <p:nvSpPr>
          <p:cNvPr id="7" name="Text 5"/>
          <p:cNvSpPr txBox="1"/>
          <p:nvPr/>
        </p:nvSpPr>
        <p:spPr>
          <a:xfrm>
            <a:off x="548640" y="786384"/>
            <a:ext cx="11094415" cy="914400"/>
          </a:xfrm>
          <a:prstGeom prst="rect">
            <a:avLst/>
          </a:prstGeom>
          <a:noFill/>
          <a:ln/>
        </p:spPr>
        <p:txBody>
          <a:bodyPr wrap="square" lIns="0" tIns="0" rIns="0" bIns="0" rtlCol="0" anchor="t"/>
          <a:lstStyle/>
          <a:p>
            <a:pPr indent="0" marL="0">
              <a:buNone/>
            </a:pPr>
            <a:r>
              <a:rPr lang="en-US" sz="2700" b="1" dirty="0">
                <a:solidFill>
                  <a:srgbClr val="202124"/>
                </a:solidFill>
                <a:latin typeface="Arial" pitchFamily="34" charset="0"/>
                <a:ea typeface="Arial" pitchFamily="34" charset="-122"/>
                <a:cs typeface="Arial" pitchFamily="34" charset="-120"/>
              </a:rPr>
              <a:t>Every alert comes with its reason: the numbers first, then Gemini’s words.</a:t>
            </a:r>
            <a:endParaRPr lang="en-US" sz="2700" dirty="0"/>
          </a:p>
        </p:txBody>
      </p:sp>
      <p:sp>
        <p:nvSpPr>
          <p:cNvPr id="8" name="Shape 6"/>
          <p:cNvSpPr/>
          <p:nvPr/>
        </p:nvSpPr>
        <p:spPr>
          <a:xfrm>
            <a:off x="512064" y="1792224"/>
            <a:ext cx="2774149" cy="4416552"/>
          </a:xfrm>
          <a:prstGeom prst="roundRect">
            <a:avLst>
              <a:gd name="adj" fmla="val 1978"/>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pic>
        <p:nvPicPr>
          <p:cNvPr id="9" name="Image 0" descr="/private/tmp/claude-503/-Users-CharanVelavan-Charan-Projects-SurgeSight/9ee263a0-0835-4556-8164-6a5a42928b6b/scratchpad/deck/img/why_a.jpg">    </p:cNvPr>
          <p:cNvPicPr>
            <a:picLocks noChangeAspect="1"/>
          </p:cNvPicPr>
          <p:nvPr/>
        </p:nvPicPr>
        <p:blipFill>
          <a:blip r:embed="rId1"/>
          <a:stretch>
            <a:fillRect/>
          </a:stretch>
        </p:blipFill>
        <p:spPr>
          <a:xfrm>
            <a:off x="548640" y="1828800"/>
            <a:ext cx="2700997" cy="4343400"/>
          </a:xfrm>
          <a:prstGeom prst="rect">
            <a:avLst/>
          </a:prstGeom>
        </p:spPr>
      </p:pic>
      <p:sp>
        <p:nvSpPr>
          <p:cNvPr id="10" name="Shape 7"/>
          <p:cNvSpPr/>
          <p:nvPr/>
        </p:nvSpPr>
        <p:spPr>
          <a:xfrm>
            <a:off x="3533101" y="1792224"/>
            <a:ext cx="3319272" cy="2807839"/>
          </a:xfrm>
          <a:prstGeom prst="roundRect">
            <a:avLst>
              <a:gd name="adj" fmla="val 1954"/>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pic>
        <p:nvPicPr>
          <p:cNvPr id="11" name="Image 1" descr="/private/tmp/claude-503/-Users-CharanVelavan-Charan-Projects-SurgeSight/9ee263a0-0835-4556-8164-6a5a42928b6b/scratchpad/deck/img/why_b.jpg">    </p:cNvPr>
          <p:cNvPicPr>
            <a:picLocks noChangeAspect="1"/>
          </p:cNvPicPr>
          <p:nvPr/>
        </p:nvPicPr>
        <p:blipFill>
          <a:blip r:embed="rId2"/>
          <a:stretch>
            <a:fillRect/>
          </a:stretch>
        </p:blipFill>
        <p:spPr>
          <a:xfrm>
            <a:off x="3569677" y="1828800"/>
            <a:ext cx="3246120" cy="2734687"/>
          </a:xfrm>
          <a:prstGeom prst="rect">
            <a:avLst/>
          </a:prstGeom>
        </p:spPr>
      </p:pic>
      <p:sp>
        <p:nvSpPr>
          <p:cNvPr id="12" name="Shape 8"/>
          <p:cNvSpPr/>
          <p:nvPr/>
        </p:nvSpPr>
        <p:spPr>
          <a:xfrm>
            <a:off x="411480" y="1691640"/>
            <a:ext cx="384048" cy="384048"/>
          </a:xfrm>
          <a:prstGeom prst="ellipse">
            <a:avLst/>
          </a:prstGeom>
          <a:solidFill>
            <a:srgbClr val="1A73E8"/>
          </a:solidFill>
          <a:ln/>
        </p:spPr>
      </p:sp>
      <p:sp>
        <p:nvSpPr>
          <p:cNvPr id="13" name="Text 9"/>
          <p:cNvSpPr txBox="1"/>
          <p:nvPr/>
        </p:nvSpPr>
        <p:spPr>
          <a:xfrm>
            <a:off x="41148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4" name="Shape 10"/>
          <p:cNvSpPr/>
          <p:nvPr/>
        </p:nvSpPr>
        <p:spPr>
          <a:xfrm>
            <a:off x="3432517" y="1691640"/>
            <a:ext cx="384048" cy="384048"/>
          </a:xfrm>
          <a:prstGeom prst="ellipse">
            <a:avLst/>
          </a:prstGeom>
          <a:solidFill>
            <a:srgbClr val="34A853"/>
          </a:solidFill>
          <a:ln/>
        </p:spPr>
      </p:sp>
      <p:sp>
        <p:nvSpPr>
          <p:cNvPr id="15" name="Text 11"/>
          <p:cNvSpPr txBox="1"/>
          <p:nvPr/>
        </p:nvSpPr>
        <p:spPr>
          <a:xfrm>
            <a:off x="3432517"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Shape 12"/>
          <p:cNvSpPr/>
          <p:nvPr/>
        </p:nvSpPr>
        <p:spPr>
          <a:xfrm>
            <a:off x="3432517" y="2739795"/>
            <a:ext cx="384048" cy="384048"/>
          </a:xfrm>
          <a:prstGeom prst="ellipse">
            <a:avLst/>
          </a:prstGeom>
          <a:solidFill>
            <a:srgbClr val="EA4335"/>
          </a:solidFill>
          <a:ln/>
        </p:spPr>
      </p:sp>
      <p:sp>
        <p:nvSpPr>
          <p:cNvPr id="17" name="Text 13"/>
          <p:cNvSpPr txBox="1"/>
          <p:nvPr/>
        </p:nvSpPr>
        <p:spPr>
          <a:xfrm>
            <a:off x="3432517" y="273979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Shape 14"/>
          <p:cNvSpPr/>
          <p:nvPr/>
        </p:nvSpPr>
        <p:spPr>
          <a:xfrm>
            <a:off x="7227277" y="1828800"/>
            <a:ext cx="384048" cy="384048"/>
          </a:xfrm>
          <a:prstGeom prst="ellipse">
            <a:avLst/>
          </a:prstGeom>
          <a:solidFill>
            <a:srgbClr val="1A73E8"/>
          </a:solidFill>
          <a:ln/>
        </p:spPr>
      </p:sp>
      <p:sp>
        <p:nvSpPr>
          <p:cNvPr id="19" name="Text 15"/>
          <p:cNvSpPr txBox="1"/>
          <p:nvPr/>
        </p:nvSpPr>
        <p:spPr>
          <a:xfrm>
            <a:off x="7227277" y="1828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0" name="Text 16"/>
          <p:cNvSpPr txBox="1"/>
          <p:nvPr/>
        </p:nvSpPr>
        <p:spPr>
          <a:xfrm>
            <a:off x="7757629" y="1828800"/>
            <a:ext cx="3885426" cy="384048"/>
          </a:xfrm>
          <a:prstGeom prst="rect">
            <a:avLst/>
          </a:prstGeom>
          <a:noFill/>
          <a:ln/>
        </p:spPr>
        <p:txBody>
          <a:bodyPr wrap="square" lIns="0" tIns="0" rIns="0" bIns="0" rtlCol="0" anchor="ctr"/>
          <a:lstStyle/>
          <a:p>
            <a:pPr indent="0" marL="0">
              <a:buNone/>
            </a:pPr>
            <a:r>
              <a:rPr lang="en-US" sz="1500" b="1" dirty="0">
                <a:solidFill>
                  <a:srgbClr val="202124"/>
                </a:solidFill>
                <a:latin typeface="Arial" pitchFamily="34" charset="0"/>
                <a:ea typeface="Arial" pitchFamily="34" charset="-122"/>
                <a:cs typeface="Arial" pitchFamily="34" charset="-120"/>
              </a:rPr>
              <a:t>The numbers</a:t>
            </a:r>
            <a:endParaRPr lang="en-US" sz="1500" dirty="0"/>
          </a:p>
        </p:txBody>
      </p:sp>
      <p:sp>
        <p:nvSpPr>
          <p:cNvPr id="21" name="Text 17"/>
          <p:cNvSpPr txBox="1"/>
          <p:nvPr/>
        </p:nvSpPr>
        <p:spPr>
          <a:xfrm>
            <a:off x="7757629" y="2267712"/>
            <a:ext cx="3885426" cy="822960"/>
          </a:xfrm>
          <a:prstGeom prst="rect">
            <a:avLst/>
          </a:prstGeom>
          <a:noFill/>
          <a:ln/>
        </p:spPr>
        <p:txBody>
          <a:bodyPr wrap="square" lIns="0" tIns="0" rIns="0" bIns="0" rtlCol="0" anchor="t"/>
          <a:lstStyle/>
          <a:p>
            <a:pPr indent="0" marL="0">
              <a:buNone/>
            </a:pPr>
            <a:r>
              <a:rPr lang="en-US" sz="1200" dirty="0">
                <a:solidFill>
                  <a:srgbClr val="5F6368"/>
                </a:solidFill>
                <a:latin typeface="Arial" pitchFamily="34" charset="0"/>
                <a:ea typeface="Arial" pitchFamily="34" charset="-122"/>
                <a:cs typeface="Arial" pitchFamily="34" charset="-120"/>
              </a:rPr>
              <a:t>Our models and Earth Engine: 3 m above sea level, 272 mm of forecast rain, 94 km/h peak wind, 14 km from the track.</a:t>
            </a:r>
            <a:endParaRPr lang="en-US" sz="1200" dirty="0"/>
          </a:p>
        </p:txBody>
      </p:sp>
      <p:sp>
        <p:nvSpPr>
          <p:cNvPr id="22" name="Shape 18"/>
          <p:cNvSpPr/>
          <p:nvPr/>
        </p:nvSpPr>
        <p:spPr>
          <a:xfrm>
            <a:off x="7227277" y="3200400"/>
            <a:ext cx="384048" cy="384048"/>
          </a:xfrm>
          <a:prstGeom prst="ellipse">
            <a:avLst/>
          </a:prstGeom>
          <a:solidFill>
            <a:srgbClr val="34A853"/>
          </a:solidFill>
          <a:ln/>
        </p:spPr>
      </p:sp>
      <p:sp>
        <p:nvSpPr>
          <p:cNvPr id="23" name="Text 19"/>
          <p:cNvSpPr txBox="1"/>
          <p:nvPr/>
        </p:nvSpPr>
        <p:spPr>
          <a:xfrm>
            <a:off x="7227277"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4" name="Text 20"/>
          <p:cNvSpPr txBox="1"/>
          <p:nvPr/>
        </p:nvSpPr>
        <p:spPr>
          <a:xfrm>
            <a:off x="7757629" y="3200400"/>
            <a:ext cx="3885426" cy="384048"/>
          </a:xfrm>
          <a:prstGeom prst="rect">
            <a:avLst/>
          </a:prstGeom>
          <a:noFill/>
          <a:ln/>
        </p:spPr>
        <p:txBody>
          <a:bodyPr wrap="square" lIns="0" tIns="0" rIns="0" bIns="0" rtlCol="0" anchor="ctr"/>
          <a:lstStyle/>
          <a:p>
            <a:pPr indent="0" marL="0">
              <a:buNone/>
            </a:pPr>
            <a:r>
              <a:rPr lang="en-US" sz="1500" b="1" dirty="0">
                <a:solidFill>
                  <a:srgbClr val="202124"/>
                </a:solidFill>
                <a:latin typeface="Arial" pitchFamily="34" charset="0"/>
                <a:ea typeface="Arial" pitchFamily="34" charset="-122"/>
                <a:cs typeface="Arial" pitchFamily="34" charset="-120"/>
              </a:rPr>
              <a:t>What drives the score</a:t>
            </a:r>
            <a:endParaRPr lang="en-US" sz="1500" dirty="0"/>
          </a:p>
        </p:txBody>
      </p:sp>
      <p:sp>
        <p:nvSpPr>
          <p:cNvPr id="25" name="Text 21"/>
          <p:cNvSpPr txBox="1"/>
          <p:nvPr/>
        </p:nvSpPr>
        <p:spPr>
          <a:xfrm>
            <a:off x="7757629" y="3639312"/>
            <a:ext cx="3885426" cy="822960"/>
          </a:xfrm>
          <a:prstGeom prst="rect">
            <a:avLst/>
          </a:prstGeom>
          <a:noFill/>
          <a:ln/>
        </p:spPr>
        <p:txBody>
          <a:bodyPr wrap="square" lIns="0" tIns="0" rIns="0" bIns="0" rtlCol="0" anchor="t"/>
          <a:lstStyle/>
          <a:p>
            <a:pPr indent="0" marL="0">
              <a:buNone/>
            </a:pPr>
            <a:r>
              <a:rPr lang="en-US" sz="1200" dirty="0">
                <a:solidFill>
                  <a:srgbClr val="5F6368"/>
                </a:solidFill>
                <a:latin typeface="Arial" pitchFamily="34" charset="0"/>
                <a:ea typeface="Arial" pitchFamily="34" charset="-122"/>
                <a:cs typeface="Arial" pitchFamily="34" charset="-120"/>
              </a:rPr>
              <a:t>Wind 0.63 and rain flooding 0.62 make this school Critical, in the top priority tier.</a:t>
            </a:r>
            <a:endParaRPr lang="en-US" sz="1200" dirty="0"/>
          </a:p>
        </p:txBody>
      </p:sp>
      <p:sp>
        <p:nvSpPr>
          <p:cNvPr id="26" name="Shape 22"/>
          <p:cNvSpPr/>
          <p:nvPr/>
        </p:nvSpPr>
        <p:spPr>
          <a:xfrm>
            <a:off x="7227277" y="4572000"/>
            <a:ext cx="384048" cy="384048"/>
          </a:xfrm>
          <a:prstGeom prst="ellipse">
            <a:avLst/>
          </a:prstGeom>
          <a:solidFill>
            <a:srgbClr val="EA4335"/>
          </a:solidFill>
          <a:ln/>
        </p:spPr>
      </p:sp>
      <p:sp>
        <p:nvSpPr>
          <p:cNvPr id="27" name="Text 23"/>
          <p:cNvSpPr txBox="1"/>
          <p:nvPr/>
        </p:nvSpPr>
        <p:spPr>
          <a:xfrm>
            <a:off x="7227277" y="4572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8" name="Text 24"/>
          <p:cNvSpPr txBox="1"/>
          <p:nvPr/>
        </p:nvSpPr>
        <p:spPr>
          <a:xfrm>
            <a:off x="7757629" y="4572000"/>
            <a:ext cx="3885426" cy="384048"/>
          </a:xfrm>
          <a:prstGeom prst="rect">
            <a:avLst/>
          </a:prstGeom>
          <a:noFill/>
          <a:ln/>
        </p:spPr>
        <p:txBody>
          <a:bodyPr wrap="square" lIns="0" tIns="0" rIns="0" bIns="0" rtlCol="0" anchor="ctr"/>
          <a:lstStyle/>
          <a:p>
            <a:pPr indent="0" marL="0">
              <a:buNone/>
            </a:pPr>
            <a:r>
              <a:rPr lang="en-US" sz="1500" b="1" dirty="0">
                <a:solidFill>
                  <a:srgbClr val="202124"/>
                </a:solidFill>
                <a:latin typeface="Arial" pitchFamily="34" charset="0"/>
                <a:ea typeface="Arial" pitchFamily="34" charset="-122"/>
                <a:cs typeface="Arial" pitchFamily="34" charset="-120"/>
              </a:rPr>
              <a:t>In words, by Gemini</a:t>
            </a:r>
            <a:endParaRPr lang="en-US" sz="1500" dirty="0"/>
          </a:p>
        </p:txBody>
      </p:sp>
      <p:sp>
        <p:nvSpPr>
          <p:cNvPr id="29" name="Text 25"/>
          <p:cNvSpPr txBox="1"/>
          <p:nvPr/>
        </p:nvSpPr>
        <p:spPr>
          <a:xfrm>
            <a:off x="7757629" y="5010912"/>
            <a:ext cx="3885426" cy="822960"/>
          </a:xfrm>
          <a:prstGeom prst="rect">
            <a:avLst/>
          </a:prstGeom>
          <a:noFill/>
          <a:ln/>
        </p:spPr>
        <p:txBody>
          <a:bodyPr wrap="square" lIns="0" tIns="0" rIns="0" bIns="0" rtlCol="0" anchor="t"/>
          <a:lstStyle/>
          <a:p>
            <a:pPr indent="0" marL="0">
              <a:buNone/>
            </a:pPr>
            <a:r>
              <a:rPr lang="en-US" sz="1200" dirty="0">
                <a:solidFill>
                  <a:srgbClr val="5F6368"/>
                </a:solidFill>
                <a:latin typeface="Arial" pitchFamily="34" charset="0"/>
                <a:ea typeface="Arial" pitchFamily="34" charset="-122"/>
                <a:cs typeface="Arial" pitchFamily="34" charset="-120"/>
              </a:rPr>
              <a:t>A plain-language reason for the officer. Every number Gemini writes is checked against the table; any it cannot back up is removed.</a:t>
            </a:r>
            <a:endParaRPr lang="en-US" sz="1200" dirty="0"/>
          </a:p>
        </p:txBody>
      </p:sp>
      <p:sp>
        <p:nvSpPr>
          <p:cNvPr id="30" name="Shape 26"/>
          <p:cNvSpPr/>
          <p:nvPr/>
        </p:nvSpPr>
        <p:spPr>
          <a:xfrm>
            <a:off x="3569677" y="4837807"/>
            <a:ext cx="3246120" cy="1334393"/>
          </a:xfrm>
          <a:prstGeom prst="roundRect">
            <a:avLst>
              <a:gd name="adj" fmla="val 8223"/>
            </a:avLst>
          </a:prstGeom>
          <a:solidFill>
            <a:srgbClr val="F8F9FA"/>
          </a:solidFill>
          <a:ln/>
        </p:spPr>
      </p:sp>
      <p:pic>
        <p:nvPicPr>
          <p:cNvPr id="31" name="Image 2" descr="preencoded.png">    </p:cNvPr>
          <p:cNvPicPr>
            <a:picLocks noChangeAspect="1"/>
          </p:cNvPicPr>
          <p:nvPr/>
        </p:nvPicPr>
        <p:blipFill>
          <a:blip r:embed="rId3"/>
          <a:stretch>
            <a:fillRect/>
          </a:stretch>
        </p:blipFill>
        <p:spPr>
          <a:xfrm>
            <a:off x="3752557" y="5020687"/>
            <a:ext cx="310896" cy="310896"/>
          </a:xfrm>
          <a:prstGeom prst="rect">
            <a:avLst/>
          </a:prstGeom>
        </p:spPr>
      </p:pic>
      <p:sp>
        <p:nvSpPr>
          <p:cNvPr id="32" name="Text 27"/>
          <p:cNvSpPr txBox="1"/>
          <p:nvPr/>
        </p:nvSpPr>
        <p:spPr>
          <a:xfrm>
            <a:off x="4154893" y="5020687"/>
            <a:ext cx="2514600" cy="310896"/>
          </a:xfrm>
          <a:prstGeom prst="rect">
            <a:avLst/>
          </a:prstGeom>
          <a:noFill/>
          <a:ln/>
        </p:spPr>
        <p:txBody>
          <a:bodyPr wrap="square" lIns="0" tIns="0" rIns="0" bIns="0" rtlCol="0" anchor="ctr"/>
          <a:lstStyle/>
          <a:p>
            <a:pPr indent="0" marL="0">
              <a:buNone/>
            </a:pPr>
            <a:r>
              <a:rPr lang="en-US" sz="1300" b="1" dirty="0">
                <a:solidFill>
                  <a:srgbClr val="202124"/>
                </a:solidFill>
                <a:latin typeface="Arial" pitchFamily="34" charset="0"/>
                <a:ea typeface="Arial" pitchFamily="34" charset="-122"/>
                <a:cs typeface="Arial" pitchFamily="34" charset="-120"/>
              </a:rPr>
              <a:t>Road access too</a:t>
            </a:r>
            <a:endParaRPr lang="en-US" sz="1300" dirty="0"/>
          </a:p>
        </p:txBody>
      </p:sp>
      <p:sp>
        <p:nvSpPr>
          <p:cNvPr id="33" name="Text 28"/>
          <p:cNvSpPr txBox="1"/>
          <p:nvPr/>
        </p:nvSpPr>
        <p:spPr>
          <a:xfrm>
            <a:off x="3752557" y="5432167"/>
            <a:ext cx="2880360" cy="822960"/>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Access at risk: the nearest hospital is 4.5 km away, and the main roads to it are exposed.</a:t>
            </a:r>
            <a:endParaRPr lang="en-US" sz="1100" dirty="0"/>
          </a:p>
        </p:txBody>
      </p:sp>
      <p:sp>
        <p:nvSpPr>
          <p:cNvPr id="34" name="Shape 29"/>
          <p:cNvSpPr/>
          <p:nvPr/>
        </p:nvSpPr>
        <p:spPr>
          <a:xfrm>
            <a:off x="548640" y="6492240"/>
            <a:ext cx="73152" cy="73152"/>
          </a:xfrm>
          <a:prstGeom prst="ellipse">
            <a:avLst/>
          </a:prstGeom>
          <a:solidFill>
            <a:srgbClr val="1A73E8"/>
          </a:solidFill>
          <a:ln/>
        </p:spPr>
      </p:sp>
      <p:sp>
        <p:nvSpPr>
          <p:cNvPr id="35" name="Shape 30"/>
          <p:cNvSpPr/>
          <p:nvPr/>
        </p:nvSpPr>
        <p:spPr>
          <a:xfrm>
            <a:off x="658368" y="6492240"/>
            <a:ext cx="73152" cy="73152"/>
          </a:xfrm>
          <a:prstGeom prst="ellipse">
            <a:avLst/>
          </a:prstGeom>
          <a:solidFill>
            <a:srgbClr val="EA4335"/>
          </a:solidFill>
          <a:ln/>
        </p:spPr>
      </p:sp>
      <p:sp>
        <p:nvSpPr>
          <p:cNvPr id="36" name="Shape 31"/>
          <p:cNvSpPr/>
          <p:nvPr/>
        </p:nvSpPr>
        <p:spPr>
          <a:xfrm>
            <a:off x="768096" y="6492240"/>
            <a:ext cx="73152" cy="73152"/>
          </a:xfrm>
          <a:prstGeom prst="ellipse">
            <a:avLst/>
          </a:prstGeom>
          <a:solidFill>
            <a:srgbClr val="FBBC04"/>
          </a:solidFill>
          <a:ln/>
        </p:spPr>
      </p:sp>
      <p:sp>
        <p:nvSpPr>
          <p:cNvPr id="37" name="Shape 32"/>
          <p:cNvSpPr/>
          <p:nvPr/>
        </p:nvSpPr>
        <p:spPr>
          <a:xfrm>
            <a:off x="877824" y="6492240"/>
            <a:ext cx="73152" cy="73152"/>
          </a:xfrm>
          <a:prstGeom prst="ellipse">
            <a:avLst/>
          </a:prstGeom>
          <a:solidFill>
            <a:srgbClr val="34A853"/>
          </a:solidFill>
          <a:ln/>
        </p:spPr>
      </p:sp>
      <p:sp>
        <p:nvSpPr>
          <p:cNvPr id="38" name="Text 33"/>
          <p:cNvSpPr txBox="1"/>
          <p:nvPr/>
        </p:nvSpPr>
        <p:spPr>
          <a:xfrm>
            <a:off x="1024128" y="6419088"/>
            <a:ext cx="4572000" cy="22860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Team Echo  ·  SurgeSight</a:t>
            </a:r>
            <a:endParaRPr lang="en-US" sz="950" dirty="0"/>
          </a:p>
        </p:txBody>
      </p:sp>
      <p:sp>
        <p:nvSpPr>
          <p:cNvPr id="39" name="Text 34"/>
          <p:cNvSpPr txBox="1"/>
          <p:nvPr/>
        </p:nvSpPr>
        <p:spPr>
          <a:xfrm>
            <a:off x="11094415" y="6419088"/>
            <a:ext cx="548640" cy="228600"/>
          </a:xfrm>
          <a:prstGeom prst="rect">
            <a:avLst/>
          </a:prstGeom>
          <a:noFill/>
          <a:ln/>
        </p:spPr>
        <p:txBody>
          <a:bodyPr wrap="square" lIns="0" tIns="0" rIns="0" bIns="0" rtlCol="0" anchor="ctr"/>
          <a:lstStyle/>
          <a:p>
            <a:pPr algn="r" indent="0" marL="0">
              <a:buNone/>
            </a:pPr>
            <a:r>
              <a:rPr lang="en-US" sz="950" dirty="0">
                <a:solidFill>
                  <a:srgbClr val="5F6368"/>
                </a:solidFill>
                <a:latin typeface="Arial" pitchFamily="34" charset="0"/>
                <a:ea typeface="Arial" pitchFamily="34" charset="-122"/>
                <a:cs typeface="Arial"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91440" cy="91440"/>
          </a:xfrm>
          <a:prstGeom prst="ellipse">
            <a:avLst/>
          </a:prstGeom>
          <a:solidFill>
            <a:srgbClr val="1A73E8"/>
          </a:solidFill>
          <a:ln/>
        </p:spPr>
      </p:sp>
      <p:sp>
        <p:nvSpPr>
          <p:cNvPr id="3" name="Shape 1"/>
          <p:cNvSpPr/>
          <p:nvPr/>
        </p:nvSpPr>
        <p:spPr>
          <a:xfrm>
            <a:off x="685800" y="475488"/>
            <a:ext cx="91440" cy="91440"/>
          </a:xfrm>
          <a:prstGeom prst="ellipse">
            <a:avLst/>
          </a:prstGeom>
          <a:solidFill>
            <a:srgbClr val="EA4335"/>
          </a:solidFill>
          <a:ln/>
        </p:spPr>
      </p:sp>
      <p:sp>
        <p:nvSpPr>
          <p:cNvPr id="4" name="Shape 2"/>
          <p:cNvSpPr/>
          <p:nvPr/>
        </p:nvSpPr>
        <p:spPr>
          <a:xfrm>
            <a:off x="822960" y="475488"/>
            <a:ext cx="91440" cy="91440"/>
          </a:xfrm>
          <a:prstGeom prst="ellipse">
            <a:avLst/>
          </a:prstGeom>
          <a:solidFill>
            <a:srgbClr val="FBBC04"/>
          </a:solidFill>
          <a:ln/>
        </p:spPr>
      </p:sp>
      <p:sp>
        <p:nvSpPr>
          <p:cNvPr id="5" name="Shape 3"/>
          <p:cNvSpPr/>
          <p:nvPr/>
        </p:nvSpPr>
        <p:spPr>
          <a:xfrm>
            <a:off x="960120" y="475488"/>
            <a:ext cx="91440" cy="91440"/>
          </a:xfrm>
          <a:prstGeom prst="ellipse">
            <a:avLst/>
          </a:prstGeom>
          <a:solidFill>
            <a:srgbClr val="34A853"/>
          </a:solidFill>
          <a:ln/>
        </p:spPr>
      </p:sp>
      <p:sp>
        <p:nvSpPr>
          <p:cNvPr id="6" name="Text 4"/>
          <p:cNvSpPr txBox="1"/>
          <p:nvPr/>
        </p:nvSpPr>
        <p:spPr>
          <a:xfrm>
            <a:off x="1115568" y="393192"/>
            <a:ext cx="8229600" cy="274320"/>
          </a:xfrm>
          <a:prstGeom prst="rect">
            <a:avLst/>
          </a:prstGeom>
          <a:noFill/>
          <a:ln/>
        </p:spPr>
        <p:txBody>
          <a:bodyPr wrap="square" lIns="0" tIns="0" rIns="0" bIns="0" rtlCol="0" anchor="ctr"/>
          <a:lstStyle/>
          <a:p>
            <a:pPr indent="0" marL="0">
              <a:buNone/>
            </a:pPr>
            <a:r>
              <a:rPr lang="en-US" sz="1100" b="1" spc="200" kern="0" dirty="0">
                <a:solidFill>
                  <a:srgbClr val="1A73E8"/>
                </a:solidFill>
                <a:latin typeface="Arial" pitchFamily="34" charset="0"/>
                <a:ea typeface="Arial" pitchFamily="34" charset="-122"/>
                <a:cs typeface="Arial" pitchFamily="34" charset="-120"/>
              </a:rPr>
              <a:t>FEATURE 3 · GEMINI AT WORK</a:t>
            </a:r>
            <a:endParaRPr lang="en-US" sz="1100" dirty="0"/>
          </a:p>
        </p:txBody>
      </p:sp>
      <p:sp>
        <p:nvSpPr>
          <p:cNvPr id="7" name="Text 5"/>
          <p:cNvSpPr txBox="1"/>
          <p:nvPr/>
        </p:nvSpPr>
        <p:spPr>
          <a:xfrm>
            <a:off x="548640" y="786384"/>
            <a:ext cx="11094415" cy="914400"/>
          </a:xfrm>
          <a:prstGeom prst="rect">
            <a:avLst/>
          </a:prstGeom>
          <a:noFill/>
          <a:ln/>
        </p:spPr>
        <p:txBody>
          <a:bodyPr wrap="square" lIns="0" tIns="0" rIns="0" bIns="0" rtlCol="0" anchor="t"/>
          <a:lstStyle/>
          <a:p>
            <a:pPr indent="0" marL="0">
              <a:buNone/>
            </a:pPr>
            <a:r>
              <a:rPr lang="en-US" sz="2700" b="1" dirty="0">
                <a:solidFill>
                  <a:srgbClr val="202124"/>
                </a:solidFill>
                <a:latin typeface="Arial" pitchFamily="34" charset="0"/>
                <a:ea typeface="Arial" pitchFamily="34" charset="-122"/>
                <a:cs typeface="Arial" pitchFamily="34" charset="-120"/>
              </a:rPr>
              <a:t>What Gemini does in SurgeSight.</a:t>
            </a:r>
            <a:endParaRPr lang="en-US" sz="2700" dirty="0"/>
          </a:p>
        </p:txBody>
      </p:sp>
      <p:sp>
        <p:nvSpPr>
          <p:cNvPr id="8" name="Shape 6"/>
          <p:cNvSpPr/>
          <p:nvPr/>
        </p:nvSpPr>
        <p:spPr>
          <a:xfrm>
            <a:off x="548640" y="1783080"/>
            <a:ext cx="3545738" cy="1691640"/>
          </a:xfrm>
          <a:prstGeom prst="roundRect">
            <a:avLst>
              <a:gd name="adj" fmla="val 6486"/>
            </a:avLst>
          </a:prstGeom>
          <a:solidFill>
            <a:srgbClr val="F8F9FA"/>
          </a:solidFill>
          <a:ln/>
        </p:spPr>
      </p:sp>
      <p:sp>
        <p:nvSpPr>
          <p:cNvPr id="9" name="Shape 7"/>
          <p:cNvSpPr/>
          <p:nvPr/>
        </p:nvSpPr>
        <p:spPr>
          <a:xfrm>
            <a:off x="804672" y="2039112"/>
            <a:ext cx="603504" cy="603504"/>
          </a:xfrm>
          <a:prstGeom prst="ellipse">
            <a:avLst/>
          </a:prstGeom>
          <a:solidFill>
            <a:srgbClr val="E8F0FE"/>
          </a:solidFill>
          <a:ln/>
        </p:spPr>
      </p:sp>
      <p:pic>
        <p:nvPicPr>
          <p:cNvPr id="10" name="Image 0" descr="preencoded.png">    </p:cNvPr>
          <p:cNvPicPr>
            <a:picLocks noChangeAspect="1"/>
          </p:cNvPicPr>
          <p:nvPr/>
        </p:nvPicPr>
        <p:blipFill>
          <a:blip r:embed="rId1"/>
          <a:stretch>
            <a:fillRect/>
          </a:stretch>
        </p:blipFill>
        <p:spPr>
          <a:xfrm>
            <a:off x="937443" y="2171883"/>
            <a:ext cx="337962" cy="337962"/>
          </a:xfrm>
          <a:prstGeom prst="rect">
            <a:avLst/>
          </a:prstGeom>
        </p:spPr>
      </p:pic>
      <p:sp>
        <p:nvSpPr>
          <p:cNvPr id="11" name="Text 8"/>
          <p:cNvSpPr txBox="1"/>
          <p:nvPr/>
        </p:nvSpPr>
        <p:spPr>
          <a:xfrm>
            <a:off x="1572768" y="2039112"/>
            <a:ext cx="2357018" cy="603504"/>
          </a:xfrm>
          <a:prstGeom prst="rect">
            <a:avLst/>
          </a:prstGeom>
          <a:noFill/>
          <a:ln/>
        </p:spPr>
        <p:txBody>
          <a:bodyPr wrap="square" lIns="0" tIns="0" rIns="0" bIns="0" rtlCol="0" anchor="ctr"/>
          <a:lstStyle/>
          <a:p>
            <a:pPr indent="0" marL="0">
              <a:buNone/>
            </a:pPr>
            <a:r>
              <a:rPr lang="en-US" sz="1700" b="1" dirty="0">
                <a:solidFill>
                  <a:srgbClr val="202124"/>
                </a:solidFill>
                <a:latin typeface="Arial" pitchFamily="34" charset="0"/>
                <a:ea typeface="Arial" pitchFamily="34" charset="-122"/>
                <a:cs typeface="Arial" pitchFamily="34" charset="-120"/>
              </a:rPr>
              <a:t>Reads</a:t>
            </a:r>
            <a:endParaRPr lang="en-US" sz="1700" dirty="0"/>
          </a:p>
        </p:txBody>
      </p:sp>
      <p:sp>
        <p:nvSpPr>
          <p:cNvPr id="12" name="Text 9"/>
          <p:cNvSpPr txBox="1"/>
          <p:nvPr/>
        </p:nvSpPr>
        <p:spPr>
          <a:xfrm>
            <a:off x="804672" y="2770632"/>
            <a:ext cx="3033674" cy="640080"/>
          </a:xfrm>
          <a:prstGeom prst="rect">
            <a:avLst/>
          </a:prstGeom>
          <a:noFill/>
          <a:ln/>
        </p:spPr>
        <p:txBody>
          <a:bodyPr wrap="square" lIns="0" tIns="0" rIns="0" bIns="0" rtlCol="0" anchor="t"/>
          <a:lstStyle/>
          <a:p>
            <a:pPr indent="0" marL="0">
              <a:buNone/>
            </a:pPr>
            <a:r>
              <a:rPr lang="en-US" sz="1250" dirty="0">
                <a:solidFill>
                  <a:srgbClr val="5F6368"/>
                </a:solidFill>
                <a:latin typeface="Arial" pitchFamily="34" charset="0"/>
                <a:ea typeface="Arial" pitchFamily="34" charset="-122"/>
                <a:cs typeface="Arial" pitchFamily="34" charset="-120"/>
              </a:rPr>
              <a:t>Turns an IMD bulletin (text, PDF or photo) into a storm track.</a:t>
            </a:r>
            <a:endParaRPr lang="en-US" sz="1250" dirty="0"/>
          </a:p>
        </p:txBody>
      </p:sp>
      <p:sp>
        <p:nvSpPr>
          <p:cNvPr id="13" name="Shape 10"/>
          <p:cNvSpPr/>
          <p:nvPr/>
        </p:nvSpPr>
        <p:spPr>
          <a:xfrm>
            <a:off x="4322978" y="1783080"/>
            <a:ext cx="3545738" cy="1691640"/>
          </a:xfrm>
          <a:prstGeom prst="roundRect">
            <a:avLst>
              <a:gd name="adj" fmla="val 6486"/>
            </a:avLst>
          </a:prstGeom>
          <a:solidFill>
            <a:srgbClr val="F8F9FA"/>
          </a:solidFill>
          <a:ln/>
        </p:spPr>
      </p:sp>
      <p:sp>
        <p:nvSpPr>
          <p:cNvPr id="14" name="Shape 11"/>
          <p:cNvSpPr/>
          <p:nvPr/>
        </p:nvSpPr>
        <p:spPr>
          <a:xfrm>
            <a:off x="4579010" y="2039112"/>
            <a:ext cx="603504" cy="603504"/>
          </a:xfrm>
          <a:prstGeom prst="ellipse">
            <a:avLst/>
          </a:prstGeom>
          <a:solidFill>
            <a:srgbClr val="FCE8E6"/>
          </a:solidFill>
          <a:ln/>
        </p:spPr>
      </p:sp>
      <p:pic>
        <p:nvPicPr>
          <p:cNvPr id="15" name="Image 1" descr="preencoded.png">    </p:cNvPr>
          <p:cNvPicPr>
            <a:picLocks noChangeAspect="1"/>
          </p:cNvPicPr>
          <p:nvPr/>
        </p:nvPicPr>
        <p:blipFill>
          <a:blip r:embed="rId2"/>
          <a:stretch>
            <a:fillRect/>
          </a:stretch>
        </p:blipFill>
        <p:spPr>
          <a:xfrm>
            <a:off x="4711781" y="2171883"/>
            <a:ext cx="337962" cy="337962"/>
          </a:xfrm>
          <a:prstGeom prst="rect">
            <a:avLst/>
          </a:prstGeom>
        </p:spPr>
      </p:pic>
      <p:sp>
        <p:nvSpPr>
          <p:cNvPr id="16" name="Text 12"/>
          <p:cNvSpPr txBox="1"/>
          <p:nvPr/>
        </p:nvSpPr>
        <p:spPr>
          <a:xfrm>
            <a:off x="5347106" y="2039112"/>
            <a:ext cx="2357018" cy="603504"/>
          </a:xfrm>
          <a:prstGeom prst="rect">
            <a:avLst/>
          </a:prstGeom>
          <a:noFill/>
          <a:ln/>
        </p:spPr>
        <p:txBody>
          <a:bodyPr wrap="square" lIns="0" tIns="0" rIns="0" bIns="0" rtlCol="0" anchor="ctr"/>
          <a:lstStyle/>
          <a:p>
            <a:pPr indent="0" marL="0">
              <a:buNone/>
            </a:pPr>
            <a:r>
              <a:rPr lang="en-US" sz="1700" b="1" dirty="0">
                <a:solidFill>
                  <a:srgbClr val="202124"/>
                </a:solidFill>
                <a:latin typeface="Arial" pitchFamily="34" charset="0"/>
                <a:ea typeface="Arial" pitchFamily="34" charset="-122"/>
                <a:cs typeface="Arial" pitchFamily="34" charset="-120"/>
              </a:rPr>
              <a:t>Explains</a:t>
            </a:r>
            <a:endParaRPr lang="en-US" sz="1700" dirty="0"/>
          </a:p>
        </p:txBody>
      </p:sp>
      <p:sp>
        <p:nvSpPr>
          <p:cNvPr id="17" name="Text 13"/>
          <p:cNvSpPr txBox="1"/>
          <p:nvPr/>
        </p:nvSpPr>
        <p:spPr>
          <a:xfrm>
            <a:off x="4579010" y="2770632"/>
            <a:ext cx="3033674" cy="640080"/>
          </a:xfrm>
          <a:prstGeom prst="rect">
            <a:avLst/>
          </a:prstGeom>
          <a:noFill/>
          <a:ln/>
        </p:spPr>
        <p:txBody>
          <a:bodyPr wrap="square" lIns="0" tIns="0" rIns="0" bIns="0" rtlCol="0" anchor="t"/>
          <a:lstStyle/>
          <a:p>
            <a:pPr indent="0" marL="0">
              <a:buNone/>
            </a:pPr>
            <a:r>
              <a:rPr lang="en-US" sz="1250" dirty="0">
                <a:solidFill>
                  <a:srgbClr val="5F6368"/>
                </a:solidFill>
                <a:latin typeface="Arial" pitchFamily="34" charset="0"/>
                <a:ea typeface="Arial" pitchFamily="34" charset="-122"/>
                <a:cs typeface="Arial" pitchFamily="34" charset="-120"/>
              </a:rPr>
              <a:t>Tells officers why each school or hospital was alerted, and what changes in a what-if.</a:t>
            </a:r>
            <a:endParaRPr lang="en-US" sz="1250" dirty="0"/>
          </a:p>
        </p:txBody>
      </p:sp>
      <p:sp>
        <p:nvSpPr>
          <p:cNvPr id="18" name="Shape 14"/>
          <p:cNvSpPr/>
          <p:nvPr/>
        </p:nvSpPr>
        <p:spPr>
          <a:xfrm>
            <a:off x="8097317" y="1783080"/>
            <a:ext cx="3545738" cy="1691640"/>
          </a:xfrm>
          <a:prstGeom prst="roundRect">
            <a:avLst>
              <a:gd name="adj" fmla="val 6486"/>
            </a:avLst>
          </a:prstGeom>
          <a:solidFill>
            <a:srgbClr val="F8F9FA"/>
          </a:solidFill>
          <a:ln/>
        </p:spPr>
      </p:sp>
      <p:sp>
        <p:nvSpPr>
          <p:cNvPr id="19" name="Shape 15"/>
          <p:cNvSpPr/>
          <p:nvPr/>
        </p:nvSpPr>
        <p:spPr>
          <a:xfrm>
            <a:off x="8353349" y="2039112"/>
            <a:ext cx="603504" cy="603504"/>
          </a:xfrm>
          <a:prstGeom prst="ellipse">
            <a:avLst/>
          </a:prstGeom>
          <a:solidFill>
            <a:srgbClr val="FEF7E0"/>
          </a:solidFill>
          <a:ln/>
        </p:spPr>
      </p:sp>
      <p:pic>
        <p:nvPicPr>
          <p:cNvPr id="20" name="Image 2" descr="preencoded.png">    </p:cNvPr>
          <p:cNvPicPr>
            <a:picLocks noChangeAspect="1"/>
          </p:cNvPicPr>
          <p:nvPr/>
        </p:nvPicPr>
        <p:blipFill>
          <a:blip r:embed="rId3"/>
          <a:stretch>
            <a:fillRect/>
          </a:stretch>
        </p:blipFill>
        <p:spPr>
          <a:xfrm>
            <a:off x="8486120" y="2171883"/>
            <a:ext cx="337962" cy="337962"/>
          </a:xfrm>
          <a:prstGeom prst="rect">
            <a:avLst/>
          </a:prstGeom>
        </p:spPr>
      </p:pic>
      <p:sp>
        <p:nvSpPr>
          <p:cNvPr id="21" name="Text 16"/>
          <p:cNvSpPr txBox="1"/>
          <p:nvPr/>
        </p:nvSpPr>
        <p:spPr>
          <a:xfrm>
            <a:off x="9121445" y="2039112"/>
            <a:ext cx="2357018" cy="603504"/>
          </a:xfrm>
          <a:prstGeom prst="rect">
            <a:avLst/>
          </a:prstGeom>
          <a:noFill/>
          <a:ln/>
        </p:spPr>
        <p:txBody>
          <a:bodyPr wrap="square" lIns="0" tIns="0" rIns="0" bIns="0" rtlCol="0" anchor="ctr"/>
          <a:lstStyle/>
          <a:p>
            <a:pPr indent="0" marL="0">
              <a:buNone/>
            </a:pPr>
            <a:r>
              <a:rPr lang="en-US" sz="1700" b="1" dirty="0">
                <a:solidFill>
                  <a:srgbClr val="202124"/>
                </a:solidFill>
                <a:latin typeface="Arial" pitchFamily="34" charset="0"/>
                <a:ea typeface="Arial" pitchFamily="34" charset="-122"/>
                <a:cs typeface="Arial" pitchFamily="34" charset="-120"/>
              </a:rPr>
              <a:t>Advises</a:t>
            </a:r>
            <a:endParaRPr lang="en-US" sz="1700" dirty="0"/>
          </a:p>
        </p:txBody>
      </p:sp>
      <p:sp>
        <p:nvSpPr>
          <p:cNvPr id="22" name="Text 17"/>
          <p:cNvSpPr txBox="1"/>
          <p:nvPr/>
        </p:nvSpPr>
        <p:spPr>
          <a:xfrm>
            <a:off x="8353349" y="2770632"/>
            <a:ext cx="3033674" cy="640080"/>
          </a:xfrm>
          <a:prstGeom prst="rect">
            <a:avLst/>
          </a:prstGeom>
          <a:noFill/>
          <a:ln/>
        </p:spPr>
        <p:txBody>
          <a:bodyPr wrap="square" lIns="0" tIns="0" rIns="0" bIns="0" rtlCol="0" anchor="t"/>
          <a:lstStyle/>
          <a:p>
            <a:pPr indent="0" marL="0">
              <a:buNone/>
            </a:pPr>
            <a:r>
              <a:rPr lang="en-US" sz="1250" dirty="0">
                <a:solidFill>
                  <a:srgbClr val="5F6368"/>
                </a:solidFill>
                <a:latin typeface="Arial" pitchFamily="34" charset="0"/>
                <a:ea typeface="Arial" pitchFamily="34" charset="-122"/>
                <a:cs typeface="Arial" pitchFamily="34" charset="-120"/>
              </a:rPr>
              <a:t>Writes an action plan for each of 7 departments, from the ranked facilities and roads.</a:t>
            </a:r>
            <a:endParaRPr lang="en-US" sz="1250" dirty="0"/>
          </a:p>
        </p:txBody>
      </p:sp>
      <p:sp>
        <p:nvSpPr>
          <p:cNvPr id="23" name="Shape 18"/>
          <p:cNvSpPr/>
          <p:nvPr/>
        </p:nvSpPr>
        <p:spPr>
          <a:xfrm>
            <a:off x="548640" y="3675888"/>
            <a:ext cx="3545738" cy="1691640"/>
          </a:xfrm>
          <a:prstGeom prst="roundRect">
            <a:avLst>
              <a:gd name="adj" fmla="val 6486"/>
            </a:avLst>
          </a:prstGeom>
          <a:solidFill>
            <a:srgbClr val="F8F9FA"/>
          </a:solidFill>
          <a:ln/>
        </p:spPr>
      </p:sp>
      <p:sp>
        <p:nvSpPr>
          <p:cNvPr id="24" name="Shape 19"/>
          <p:cNvSpPr/>
          <p:nvPr/>
        </p:nvSpPr>
        <p:spPr>
          <a:xfrm>
            <a:off x="804672" y="3931920"/>
            <a:ext cx="603504" cy="603504"/>
          </a:xfrm>
          <a:prstGeom prst="ellipse">
            <a:avLst/>
          </a:prstGeom>
          <a:solidFill>
            <a:srgbClr val="E6F4EA"/>
          </a:solidFill>
          <a:ln/>
        </p:spPr>
      </p:sp>
      <p:pic>
        <p:nvPicPr>
          <p:cNvPr id="25" name="Image 3" descr="preencoded.png">    </p:cNvPr>
          <p:cNvPicPr>
            <a:picLocks noChangeAspect="1"/>
          </p:cNvPicPr>
          <p:nvPr/>
        </p:nvPicPr>
        <p:blipFill>
          <a:blip r:embed="rId4"/>
          <a:stretch>
            <a:fillRect/>
          </a:stretch>
        </p:blipFill>
        <p:spPr>
          <a:xfrm>
            <a:off x="937443" y="4064691"/>
            <a:ext cx="337962" cy="337962"/>
          </a:xfrm>
          <a:prstGeom prst="rect">
            <a:avLst/>
          </a:prstGeom>
        </p:spPr>
      </p:pic>
      <p:sp>
        <p:nvSpPr>
          <p:cNvPr id="26" name="Text 20"/>
          <p:cNvSpPr txBox="1"/>
          <p:nvPr/>
        </p:nvSpPr>
        <p:spPr>
          <a:xfrm>
            <a:off x="1572768" y="3931920"/>
            <a:ext cx="2357018" cy="603504"/>
          </a:xfrm>
          <a:prstGeom prst="rect">
            <a:avLst/>
          </a:prstGeom>
          <a:noFill/>
          <a:ln/>
        </p:spPr>
        <p:txBody>
          <a:bodyPr wrap="square" lIns="0" tIns="0" rIns="0" bIns="0" rtlCol="0" anchor="ctr"/>
          <a:lstStyle/>
          <a:p>
            <a:pPr indent="0" marL="0">
              <a:buNone/>
            </a:pPr>
            <a:r>
              <a:rPr lang="en-US" sz="1700" b="1" dirty="0">
                <a:solidFill>
                  <a:srgbClr val="202124"/>
                </a:solidFill>
                <a:latin typeface="Arial" pitchFamily="34" charset="0"/>
                <a:ea typeface="Arial" pitchFamily="34" charset="-122"/>
                <a:cs typeface="Arial" pitchFamily="34" charset="-120"/>
              </a:rPr>
              <a:t>Speaks six languages</a:t>
            </a:r>
            <a:endParaRPr lang="en-US" sz="1700" dirty="0"/>
          </a:p>
        </p:txBody>
      </p:sp>
      <p:sp>
        <p:nvSpPr>
          <p:cNvPr id="27" name="Text 21"/>
          <p:cNvSpPr txBox="1"/>
          <p:nvPr/>
        </p:nvSpPr>
        <p:spPr>
          <a:xfrm>
            <a:off x="804672" y="4663440"/>
            <a:ext cx="3033674" cy="640080"/>
          </a:xfrm>
          <a:prstGeom prst="rect">
            <a:avLst/>
          </a:prstGeom>
          <a:noFill/>
          <a:ln/>
        </p:spPr>
        <p:txBody>
          <a:bodyPr wrap="square" lIns="0" tIns="0" rIns="0" bIns="0" rtlCol="0" anchor="t"/>
          <a:lstStyle/>
          <a:p>
            <a:pPr indent="0" marL="0">
              <a:buNone/>
            </a:pPr>
            <a:r>
              <a:rPr lang="en-US" sz="1250" dirty="0">
                <a:solidFill>
                  <a:srgbClr val="5F6368"/>
                </a:solidFill>
                <a:latin typeface="Arial" pitchFamily="34" charset="0"/>
                <a:ea typeface="Arial" pitchFamily="34" charset="-122"/>
                <a:cs typeface="Arial" pitchFamily="34" charset="-120"/>
              </a:rPr>
              <a:t>English, Hindi, Tamil, Telugu, Bengali and Odia, with audio from Cloud Text-to-Speech.</a:t>
            </a:r>
            <a:endParaRPr lang="en-US" sz="1250" dirty="0"/>
          </a:p>
        </p:txBody>
      </p:sp>
      <p:sp>
        <p:nvSpPr>
          <p:cNvPr id="28" name="Shape 22"/>
          <p:cNvSpPr/>
          <p:nvPr/>
        </p:nvSpPr>
        <p:spPr>
          <a:xfrm>
            <a:off x="4322978" y="3675888"/>
            <a:ext cx="3545738" cy="1691640"/>
          </a:xfrm>
          <a:prstGeom prst="roundRect">
            <a:avLst>
              <a:gd name="adj" fmla="val 6486"/>
            </a:avLst>
          </a:prstGeom>
          <a:solidFill>
            <a:srgbClr val="F8F9FA"/>
          </a:solidFill>
          <a:ln/>
        </p:spPr>
      </p:sp>
      <p:sp>
        <p:nvSpPr>
          <p:cNvPr id="29" name="Shape 23"/>
          <p:cNvSpPr/>
          <p:nvPr/>
        </p:nvSpPr>
        <p:spPr>
          <a:xfrm>
            <a:off x="4579010" y="3931920"/>
            <a:ext cx="603504" cy="603504"/>
          </a:xfrm>
          <a:prstGeom prst="ellipse">
            <a:avLst/>
          </a:prstGeom>
          <a:solidFill>
            <a:srgbClr val="E8F0FE"/>
          </a:solidFill>
          <a:ln/>
        </p:spPr>
      </p:sp>
      <p:pic>
        <p:nvPicPr>
          <p:cNvPr id="30" name="Image 4" descr="preencoded.png">    </p:cNvPr>
          <p:cNvPicPr>
            <a:picLocks noChangeAspect="1"/>
          </p:cNvPicPr>
          <p:nvPr/>
        </p:nvPicPr>
        <p:blipFill>
          <a:blip r:embed="rId5"/>
          <a:stretch>
            <a:fillRect/>
          </a:stretch>
        </p:blipFill>
        <p:spPr>
          <a:xfrm>
            <a:off x="4711781" y="4064691"/>
            <a:ext cx="337962" cy="337962"/>
          </a:xfrm>
          <a:prstGeom prst="rect">
            <a:avLst/>
          </a:prstGeom>
        </p:spPr>
      </p:pic>
      <p:sp>
        <p:nvSpPr>
          <p:cNvPr id="31" name="Text 24"/>
          <p:cNvSpPr txBox="1"/>
          <p:nvPr/>
        </p:nvSpPr>
        <p:spPr>
          <a:xfrm>
            <a:off x="5347106" y="3931920"/>
            <a:ext cx="2357018" cy="603504"/>
          </a:xfrm>
          <a:prstGeom prst="rect">
            <a:avLst/>
          </a:prstGeom>
          <a:noFill/>
          <a:ln/>
        </p:spPr>
        <p:txBody>
          <a:bodyPr wrap="square" lIns="0" tIns="0" rIns="0" bIns="0" rtlCol="0" anchor="ctr"/>
          <a:lstStyle/>
          <a:p>
            <a:pPr indent="0" marL="0">
              <a:buNone/>
            </a:pPr>
            <a:r>
              <a:rPr lang="en-US" sz="1700" b="1" dirty="0">
                <a:solidFill>
                  <a:srgbClr val="202124"/>
                </a:solidFill>
                <a:latin typeface="Arial" pitchFamily="34" charset="0"/>
                <a:ea typeface="Arial" pitchFamily="34" charset="-122"/>
                <a:cs typeface="Arial" pitchFamily="34" charset="-120"/>
              </a:rPr>
              <a:t>Reasons with tools</a:t>
            </a:r>
            <a:endParaRPr lang="en-US" sz="1700" dirty="0"/>
          </a:p>
        </p:txBody>
      </p:sp>
      <p:sp>
        <p:nvSpPr>
          <p:cNvPr id="32" name="Text 25"/>
          <p:cNvSpPr txBox="1"/>
          <p:nvPr/>
        </p:nvSpPr>
        <p:spPr>
          <a:xfrm>
            <a:off x="4579010" y="4663440"/>
            <a:ext cx="3033674" cy="640080"/>
          </a:xfrm>
          <a:prstGeom prst="rect">
            <a:avLst/>
          </a:prstGeom>
          <a:noFill/>
          <a:ln/>
        </p:spPr>
        <p:txBody>
          <a:bodyPr wrap="square" lIns="0" tIns="0" rIns="0" bIns="0" rtlCol="0" anchor="t"/>
          <a:lstStyle/>
          <a:p>
            <a:pPr indent="0" marL="0">
              <a:buNone/>
            </a:pPr>
            <a:r>
              <a:rPr lang="en-US" sz="1250" dirty="0">
                <a:solidFill>
                  <a:srgbClr val="5F6368"/>
                </a:solidFill>
                <a:latin typeface="Arial" pitchFamily="34" charset="0"/>
                <a:ea typeface="Arial" pitchFamily="34" charset="-122"/>
                <a:cs typeface="Arial" pitchFamily="34" charset="-120"/>
              </a:rPr>
              <a:t>An agent team built with ADK picks from 29 tools to answer questions like “what if?”</a:t>
            </a:r>
            <a:endParaRPr lang="en-US" sz="1250" dirty="0"/>
          </a:p>
        </p:txBody>
      </p:sp>
      <p:sp>
        <p:nvSpPr>
          <p:cNvPr id="33" name="Shape 26"/>
          <p:cNvSpPr/>
          <p:nvPr/>
        </p:nvSpPr>
        <p:spPr>
          <a:xfrm>
            <a:off x="8097317" y="3675888"/>
            <a:ext cx="3545738" cy="1691640"/>
          </a:xfrm>
          <a:prstGeom prst="roundRect">
            <a:avLst>
              <a:gd name="adj" fmla="val 6486"/>
            </a:avLst>
          </a:prstGeom>
          <a:solidFill>
            <a:srgbClr val="F8F9FA"/>
          </a:solidFill>
          <a:ln/>
        </p:spPr>
      </p:sp>
      <p:sp>
        <p:nvSpPr>
          <p:cNvPr id="34" name="Shape 27"/>
          <p:cNvSpPr/>
          <p:nvPr/>
        </p:nvSpPr>
        <p:spPr>
          <a:xfrm>
            <a:off x="8353349" y="3931920"/>
            <a:ext cx="603504" cy="603504"/>
          </a:xfrm>
          <a:prstGeom prst="ellipse">
            <a:avLst/>
          </a:prstGeom>
          <a:solidFill>
            <a:srgbClr val="FCE8E6"/>
          </a:solidFill>
          <a:ln/>
        </p:spPr>
      </p:sp>
      <p:pic>
        <p:nvPicPr>
          <p:cNvPr id="35" name="Image 5" descr="preencoded.png">    </p:cNvPr>
          <p:cNvPicPr>
            <a:picLocks noChangeAspect="1"/>
          </p:cNvPicPr>
          <p:nvPr/>
        </p:nvPicPr>
        <p:blipFill>
          <a:blip r:embed="rId6"/>
          <a:stretch>
            <a:fillRect/>
          </a:stretch>
        </p:blipFill>
        <p:spPr>
          <a:xfrm>
            <a:off x="8486120" y="4064691"/>
            <a:ext cx="337962" cy="337962"/>
          </a:xfrm>
          <a:prstGeom prst="rect">
            <a:avLst/>
          </a:prstGeom>
        </p:spPr>
      </p:pic>
      <p:sp>
        <p:nvSpPr>
          <p:cNvPr id="36" name="Text 28"/>
          <p:cNvSpPr txBox="1"/>
          <p:nvPr/>
        </p:nvSpPr>
        <p:spPr>
          <a:xfrm>
            <a:off x="9121445" y="3931920"/>
            <a:ext cx="2357018" cy="603504"/>
          </a:xfrm>
          <a:prstGeom prst="rect">
            <a:avLst/>
          </a:prstGeom>
          <a:noFill/>
          <a:ln/>
        </p:spPr>
        <p:txBody>
          <a:bodyPr wrap="square" lIns="0" tIns="0" rIns="0" bIns="0" rtlCol="0" anchor="ctr"/>
          <a:lstStyle/>
          <a:p>
            <a:pPr indent="0" marL="0">
              <a:buNone/>
            </a:pPr>
            <a:r>
              <a:rPr lang="en-US" sz="1700" b="1" dirty="0">
                <a:solidFill>
                  <a:srgbClr val="202124"/>
                </a:solidFill>
                <a:latin typeface="Arial" pitchFamily="34" charset="0"/>
                <a:ea typeface="Arial" pitchFamily="34" charset="-122"/>
                <a:cs typeface="Arial" pitchFamily="34" charset="-120"/>
              </a:rPr>
              <a:t>Searches</a:t>
            </a:r>
            <a:endParaRPr lang="en-US" sz="1700" dirty="0"/>
          </a:p>
        </p:txBody>
      </p:sp>
      <p:sp>
        <p:nvSpPr>
          <p:cNvPr id="37" name="Text 29"/>
          <p:cNvSpPr txBox="1"/>
          <p:nvPr/>
        </p:nvSpPr>
        <p:spPr>
          <a:xfrm>
            <a:off x="8353349" y="4663440"/>
            <a:ext cx="3033674" cy="640080"/>
          </a:xfrm>
          <a:prstGeom prst="rect">
            <a:avLst/>
          </a:prstGeom>
          <a:noFill/>
          <a:ln/>
        </p:spPr>
        <p:txBody>
          <a:bodyPr wrap="square" lIns="0" tIns="0" rIns="0" bIns="0" rtlCol="0" anchor="t"/>
          <a:lstStyle/>
          <a:p>
            <a:pPr indent="0" marL="0">
              <a:buNone/>
            </a:pPr>
            <a:r>
              <a:rPr lang="en-US" sz="1250" dirty="0">
                <a:solidFill>
                  <a:srgbClr val="5F6368"/>
                </a:solidFill>
                <a:latin typeface="Arial" pitchFamily="34" charset="0"/>
                <a:ea typeface="Arial" pitchFamily="34" charset="-122"/>
                <a:cs typeface="Arial" pitchFamily="34" charset="-120"/>
              </a:rPr>
              <a:t>Finds the latest bulletins and news with Google Search, with sources.</a:t>
            </a:r>
            <a:endParaRPr lang="en-US" sz="1250" dirty="0"/>
          </a:p>
        </p:txBody>
      </p:sp>
      <p:pic>
        <p:nvPicPr>
          <p:cNvPr id="38" name="Image 6" descr="preencoded.png">    </p:cNvPr>
          <p:cNvPicPr>
            <a:picLocks noChangeAspect="1"/>
          </p:cNvPicPr>
          <p:nvPr/>
        </p:nvPicPr>
        <p:blipFill>
          <a:blip r:embed="rId7"/>
          <a:stretch>
            <a:fillRect/>
          </a:stretch>
        </p:blipFill>
        <p:spPr>
          <a:xfrm>
            <a:off x="777240" y="5742432"/>
            <a:ext cx="365760" cy="365760"/>
          </a:xfrm>
          <a:prstGeom prst="rect">
            <a:avLst/>
          </a:prstGeom>
        </p:spPr>
      </p:pic>
      <p:sp>
        <p:nvSpPr>
          <p:cNvPr id="39" name="Text 30"/>
          <p:cNvSpPr txBox="1"/>
          <p:nvPr/>
        </p:nvSpPr>
        <p:spPr>
          <a:xfrm>
            <a:off x="1280160" y="5669280"/>
            <a:ext cx="10362895" cy="512064"/>
          </a:xfrm>
          <a:prstGeom prst="rect">
            <a:avLst/>
          </a:prstGeom>
          <a:noFill/>
          <a:ln/>
        </p:spPr>
        <p:txBody>
          <a:bodyPr wrap="square" lIns="0" tIns="0" rIns="0" bIns="0" rtlCol="0" anchor="ctr"/>
          <a:lstStyle/>
          <a:p>
            <a:pPr indent="0" marL="0">
              <a:buNone/>
            </a:pPr>
            <a:r>
              <a:rPr lang="en-US" sz="1300" b="1" dirty="0">
                <a:solidFill>
                  <a:srgbClr val="1967D2"/>
                </a:solidFill>
                <a:latin typeface="Arial" pitchFamily="34" charset="0"/>
                <a:ea typeface="Arial" pitchFamily="34" charset="-122"/>
                <a:cs typeface="Arial" pitchFamily="34" charset="-120"/>
              </a:rPr>
              <a:t>Gemini 3.7 Flash on Vertex AI  ·  </a:t>
            </a:r>
            <a:pPr indent="0" marL="0">
              <a:buNone/>
            </a:pPr>
            <a:r>
              <a:rPr lang="en-US" sz="1300" dirty="0">
                <a:solidFill>
                  <a:srgbClr val="202124"/>
                </a:solidFill>
                <a:latin typeface="Arial" pitchFamily="34" charset="0"/>
                <a:ea typeface="Arial" pitchFamily="34" charset="-122"/>
                <a:cs typeface="Arial" pitchFamily="34" charset="-120"/>
              </a:rPr>
              <a:t>It never calculates the risk: our models do. A guard removes any number Gemini cannot back up.</a:t>
            </a:r>
            <a:endParaRPr lang="en-US" sz="1300" dirty="0"/>
          </a:p>
        </p:txBody>
      </p:sp>
      <p:sp>
        <p:nvSpPr>
          <p:cNvPr id="40" name="Shape 31"/>
          <p:cNvSpPr/>
          <p:nvPr/>
        </p:nvSpPr>
        <p:spPr>
          <a:xfrm>
            <a:off x="548640" y="6492240"/>
            <a:ext cx="73152" cy="73152"/>
          </a:xfrm>
          <a:prstGeom prst="ellipse">
            <a:avLst/>
          </a:prstGeom>
          <a:solidFill>
            <a:srgbClr val="1A73E8"/>
          </a:solidFill>
          <a:ln/>
        </p:spPr>
      </p:sp>
      <p:sp>
        <p:nvSpPr>
          <p:cNvPr id="41" name="Shape 32"/>
          <p:cNvSpPr/>
          <p:nvPr/>
        </p:nvSpPr>
        <p:spPr>
          <a:xfrm>
            <a:off x="658368" y="6492240"/>
            <a:ext cx="73152" cy="73152"/>
          </a:xfrm>
          <a:prstGeom prst="ellipse">
            <a:avLst/>
          </a:prstGeom>
          <a:solidFill>
            <a:srgbClr val="EA4335"/>
          </a:solidFill>
          <a:ln/>
        </p:spPr>
      </p:sp>
      <p:sp>
        <p:nvSpPr>
          <p:cNvPr id="42" name="Shape 33"/>
          <p:cNvSpPr/>
          <p:nvPr/>
        </p:nvSpPr>
        <p:spPr>
          <a:xfrm>
            <a:off x="768096" y="6492240"/>
            <a:ext cx="73152" cy="73152"/>
          </a:xfrm>
          <a:prstGeom prst="ellipse">
            <a:avLst/>
          </a:prstGeom>
          <a:solidFill>
            <a:srgbClr val="FBBC04"/>
          </a:solidFill>
          <a:ln/>
        </p:spPr>
      </p:sp>
      <p:sp>
        <p:nvSpPr>
          <p:cNvPr id="43" name="Shape 34"/>
          <p:cNvSpPr/>
          <p:nvPr/>
        </p:nvSpPr>
        <p:spPr>
          <a:xfrm>
            <a:off x="877824" y="6492240"/>
            <a:ext cx="73152" cy="73152"/>
          </a:xfrm>
          <a:prstGeom prst="ellipse">
            <a:avLst/>
          </a:prstGeom>
          <a:solidFill>
            <a:srgbClr val="34A853"/>
          </a:solidFill>
          <a:ln/>
        </p:spPr>
      </p:sp>
      <p:sp>
        <p:nvSpPr>
          <p:cNvPr id="44" name="Text 35"/>
          <p:cNvSpPr txBox="1"/>
          <p:nvPr/>
        </p:nvSpPr>
        <p:spPr>
          <a:xfrm>
            <a:off x="1024128" y="6419088"/>
            <a:ext cx="4572000" cy="22860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Team Echo  ·  SurgeSight</a:t>
            </a:r>
            <a:endParaRPr lang="en-US" sz="950" dirty="0"/>
          </a:p>
        </p:txBody>
      </p:sp>
      <p:sp>
        <p:nvSpPr>
          <p:cNvPr id="45" name="Text 36"/>
          <p:cNvSpPr txBox="1"/>
          <p:nvPr/>
        </p:nvSpPr>
        <p:spPr>
          <a:xfrm>
            <a:off x="11094415" y="6419088"/>
            <a:ext cx="548640" cy="228600"/>
          </a:xfrm>
          <a:prstGeom prst="rect">
            <a:avLst/>
          </a:prstGeom>
          <a:noFill/>
          <a:ln/>
        </p:spPr>
        <p:txBody>
          <a:bodyPr wrap="square" lIns="0" tIns="0" rIns="0" bIns="0" rtlCol="0" anchor="ctr"/>
          <a:lstStyle/>
          <a:p>
            <a:pPr algn="r" indent="0" marL="0">
              <a:buNone/>
            </a:pPr>
            <a:r>
              <a:rPr lang="en-US" sz="950" dirty="0">
                <a:solidFill>
                  <a:srgbClr val="5F6368"/>
                </a:solidFill>
                <a:latin typeface="Arial" pitchFamily="34" charset="0"/>
                <a:ea typeface="Arial" pitchFamily="34" charset="-122"/>
                <a:cs typeface="Arial"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91440" cy="91440"/>
          </a:xfrm>
          <a:prstGeom prst="ellipse">
            <a:avLst/>
          </a:prstGeom>
          <a:solidFill>
            <a:srgbClr val="1A73E8"/>
          </a:solidFill>
          <a:ln/>
        </p:spPr>
      </p:sp>
      <p:sp>
        <p:nvSpPr>
          <p:cNvPr id="3" name="Shape 1"/>
          <p:cNvSpPr/>
          <p:nvPr/>
        </p:nvSpPr>
        <p:spPr>
          <a:xfrm>
            <a:off x="685800" y="475488"/>
            <a:ext cx="91440" cy="91440"/>
          </a:xfrm>
          <a:prstGeom prst="ellipse">
            <a:avLst/>
          </a:prstGeom>
          <a:solidFill>
            <a:srgbClr val="EA4335"/>
          </a:solidFill>
          <a:ln/>
        </p:spPr>
      </p:sp>
      <p:sp>
        <p:nvSpPr>
          <p:cNvPr id="4" name="Shape 2"/>
          <p:cNvSpPr/>
          <p:nvPr/>
        </p:nvSpPr>
        <p:spPr>
          <a:xfrm>
            <a:off x="822960" y="475488"/>
            <a:ext cx="91440" cy="91440"/>
          </a:xfrm>
          <a:prstGeom prst="ellipse">
            <a:avLst/>
          </a:prstGeom>
          <a:solidFill>
            <a:srgbClr val="FBBC04"/>
          </a:solidFill>
          <a:ln/>
        </p:spPr>
      </p:sp>
      <p:sp>
        <p:nvSpPr>
          <p:cNvPr id="5" name="Shape 3"/>
          <p:cNvSpPr/>
          <p:nvPr/>
        </p:nvSpPr>
        <p:spPr>
          <a:xfrm>
            <a:off x="960120" y="475488"/>
            <a:ext cx="91440" cy="91440"/>
          </a:xfrm>
          <a:prstGeom prst="ellipse">
            <a:avLst/>
          </a:prstGeom>
          <a:solidFill>
            <a:srgbClr val="34A853"/>
          </a:solidFill>
          <a:ln/>
        </p:spPr>
      </p:sp>
      <p:sp>
        <p:nvSpPr>
          <p:cNvPr id="6" name="Text 4"/>
          <p:cNvSpPr txBox="1"/>
          <p:nvPr/>
        </p:nvSpPr>
        <p:spPr>
          <a:xfrm>
            <a:off x="1115568" y="393192"/>
            <a:ext cx="8229600" cy="274320"/>
          </a:xfrm>
          <a:prstGeom prst="rect">
            <a:avLst/>
          </a:prstGeom>
          <a:noFill/>
          <a:ln/>
        </p:spPr>
        <p:txBody>
          <a:bodyPr wrap="square" lIns="0" tIns="0" rIns="0" bIns="0" rtlCol="0" anchor="ctr"/>
          <a:lstStyle/>
          <a:p>
            <a:pPr indent="0" marL="0">
              <a:buNone/>
            </a:pPr>
            <a:r>
              <a:rPr lang="en-US" sz="1100" b="1" spc="200" kern="0" dirty="0">
                <a:solidFill>
                  <a:srgbClr val="1A73E8"/>
                </a:solidFill>
                <a:latin typeface="Arial" pitchFamily="34" charset="0"/>
                <a:ea typeface="Arial" pitchFamily="34" charset="-122"/>
                <a:cs typeface="Arial" pitchFamily="34" charset="-120"/>
              </a:rPr>
              <a:t>FEATURE 4 · ADVISORIES &amp; ALERTS</a:t>
            </a:r>
            <a:endParaRPr lang="en-US" sz="1100" dirty="0"/>
          </a:p>
        </p:txBody>
      </p:sp>
      <p:sp>
        <p:nvSpPr>
          <p:cNvPr id="7" name="Text 5"/>
          <p:cNvSpPr txBox="1"/>
          <p:nvPr/>
        </p:nvSpPr>
        <p:spPr>
          <a:xfrm>
            <a:off x="548640" y="786384"/>
            <a:ext cx="11094415" cy="914400"/>
          </a:xfrm>
          <a:prstGeom prst="rect">
            <a:avLst/>
          </a:prstGeom>
          <a:noFill/>
          <a:ln/>
        </p:spPr>
        <p:txBody>
          <a:bodyPr wrap="square" lIns="0" tIns="0" rIns="0" bIns="0" rtlCol="0" anchor="t"/>
          <a:lstStyle/>
          <a:p>
            <a:pPr indent="0" marL="0">
              <a:buNone/>
            </a:pPr>
            <a:r>
              <a:rPr lang="en-US" sz="2700" b="1" dirty="0">
                <a:solidFill>
                  <a:srgbClr val="202124"/>
                </a:solidFill>
                <a:latin typeface="Arial" pitchFamily="34" charset="0"/>
                <a:ea typeface="Arial" pitchFamily="34" charset="-122"/>
                <a:cs typeface="Arial" pitchFamily="34" charset="-120"/>
              </a:rPr>
              <a:t>Each department gets its own advisory, in its own language, sent only when a person approves.</a:t>
            </a:r>
            <a:endParaRPr lang="en-US" sz="2700" dirty="0"/>
          </a:p>
        </p:txBody>
      </p:sp>
      <p:sp>
        <p:nvSpPr>
          <p:cNvPr id="8" name="Shape 6"/>
          <p:cNvSpPr/>
          <p:nvPr/>
        </p:nvSpPr>
        <p:spPr>
          <a:xfrm>
            <a:off x="512064" y="1792224"/>
            <a:ext cx="5468112" cy="4169468"/>
          </a:xfrm>
          <a:prstGeom prst="roundRect">
            <a:avLst>
              <a:gd name="adj" fmla="val 1316"/>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pic>
        <p:nvPicPr>
          <p:cNvPr id="9" name="Image 0" descr="/private/tmp/claude-503/-Users-CharanVelavan-Charan-Projects-SurgeSight/9ee263a0-0835-4556-8164-6a5a42928b6b/scratchpad/deck/img/adv_ta.jpg">    </p:cNvPr>
          <p:cNvPicPr>
            <a:picLocks noChangeAspect="1"/>
          </p:cNvPicPr>
          <p:nvPr/>
        </p:nvPicPr>
        <p:blipFill>
          <a:blip r:embed="rId1"/>
          <a:stretch>
            <a:fillRect/>
          </a:stretch>
        </p:blipFill>
        <p:spPr>
          <a:xfrm>
            <a:off x="548640" y="1828800"/>
            <a:ext cx="5394960" cy="4096316"/>
          </a:xfrm>
          <a:prstGeom prst="rect">
            <a:avLst/>
          </a:prstGeom>
        </p:spPr>
      </p:pic>
      <p:sp>
        <p:nvSpPr>
          <p:cNvPr id="10" name="Text 7"/>
          <p:cNvSpPr txBox="1"/>
          <p:nvPr/>
        </p:nvSpPr>
        <p:spPr>
          <a:xfrm>
            <a:off x="548640" y="6053132"/>
            <a:ext cx="5394960" cy="274320"/>
          </a:xfrm>
          <a:prstGeom prst="rect">
            <a:avLst/>
          </a:prstGeom>
          <a:noFill/>
          <a:ln/>
        </p:spPr>
        <p:txBody>
          <a:bodyPr wrap="square" lIns="0" tIns="0" rIns="0" bIns="0" rtlCol="0" anchor="t"/>
          <a:lstStyle/>
          <a:p>
            <a:pPr indent="0" marL="0">
              <a:buNone/>
            </a:pPr>
            <a:r>
              <a:rPr lang="en-US" sz="1050" dirty="0">
                <a:solidFill>
                  <a:srgbClr val="5F6368"/>
                </a:solidFill>
                <a:latin typeface="Arial" pitchFamily="34" charset="0"/>
                <a:ea typeface="Arial" pitchFamily="34" charset="-122"/>
                <a:cs typeface="Arial" pitchFamily="34" charset="-120"/>
              </a:rPr>
              <a:t>Health Department advisory, written by Gemini in Tamil.</a:t>
            </a:r>
            <a:endParaRPr lang="en-US" sz="1050" dirty="0"/>
          </a:p>
        </p:txBody>
      </p:sp>
      <p:sp>
        <p:nvSpPr>
          <p:cNvPr id="11" name="Shape 8"/>
          <p:cNvSpPr/>
          <p:nvPr/>
        </p:nvSpPr>
        <p:spPr>
          <a:xfrm>
            <a:off x="6446520" y="1828800"/>
            <a:ext cx="548640" cy="548640"/>
          </a:xfrm>
          <a:prstGeom prst="ellipse">
            <a:avLst/>
          </a:prstGeom>
          <a:solidFill>
            <a:srgbClr val="E8F0FE"/>
          </a:solidFill>
          <a:ln/>
        </p:spPr>
      </p:sp>
      <p:pic>
        <p:nvPicPr>
          <p:cNvPr id="12" name="Image 1" descr="preencoded.png">    </p:cNvPr>
          <p:cNvPicPr>
            <a:picLocks noChangeAspect="1"/>
          </p:cNvPicPr>
          <p:nvPr/>
        </p:nvPicPr>
        <p:blipFill>
          <a:blip r:embed="rId2"/>
          <a:stretch>
            <a:fillRect/>
          </a:stretch>
        </p:blipFill>
        <p:spPr>
          <a:xfrm>
            <a:off x="6567221" y="1949501"/>
            <a:ext cx="307238" cy="307238"/>
          </a:xfrm>
          <a:prstGeom prst="rect">
            <a:avLst/>
          </a:prstGeom>
        </p:spPr>
      </p:pic>
      <p:sp>
        <p:nvSpPr>
          <p:cNvPr id="13" name="Text 9"/>
          <p:cNvSpPr txBox="1"/>
          <p:nvPr/>
        </p:nvSpPr>
        <p:spPr>
          <a:xfrm>
            <a:off x="7159752" y="1847088"/>
            <a:ext cx="4483303" cy="292608"/>
          </a:xfrm>
          <a:prstGeom prst="rect">
            <a:avLst/>
          </a:prstGeom>
          <a:noFill/>
          <a:ln/>
        </p:spPr>
        <p:txBody>
          <a:bodyPr wrap="square" lIns="0" tIns="0" rIns="0" bIns="0" rtlCol="0" anchor="t"/>
          <a:lstStyle/>
          <a:p>
            <a:pPr indent="0" marL="0">
              <a:buNone/>
            </a:pPr>
            <a:r>
              <a:rPr lang="en-US" sz="1500" b="1" dirty="0">
                <a:solidFill>
                  <a:srgbClr val="202124"/>
                </a:solidFill>
                <a:latin typeface="Arial" pitchFamily="34" charset="0"/>
                <a:ea typeface="Arial" pitchFamily="34" charset="-122"/>
                <a:cs typeface="Arial" pitchFamily="34" charset="-120"/>
              </a:rPr>
              <a:t>Gemini drafts</a:t>
            </a:r>
            <a:endParaRPr lang="en-US" sz="1500" dirty="0"/>
          </a:p>
        </p:txBody>
      </p:sp>
      <p:sp>
        <p:nvSpPr>
          <p:cNvPr id="14" name="Text 10"/>
          <p:cNvSpPr txBox="1"/>
          <p:nvPr/>
        </p:nvSpPr>
        <p:spPr>
          <a:xfrm>
            <a:off x="7159752" y="2139696"/>
            <a:ext cx="4483303" cy="274320"/>
          </a:xfrm>
          <a:prstGeom prst="rect">
            <a:avLst/>
          </a:prstGeom>
          <a:noFill/>
          <a:ln/>
        </p:spPr>
        <p:txBody>
          <a:bodyPr wrap="square" lIns="0" tIns="0" rIns="0" bIns="0" rtlCol="0" anchor="t"/>
          <a:lstStyle/>
          <a:p>
            <a:pPr indent="0" marL="0">
              <a:buNone/>
            </a:pPr>
            <a:r>
              <a:rPr lang="en-US" sz="1150" dirty="0">
                <a:solidFill>
                  <a:srgbClr val="5F6368"/>
                </a:solidFill>
                <a:latin typeface="Arial" pitchFamily="34" charset="0"/>
                <a:ea typeface="Arial" pitchFamily="34" charset="-122"/>
                <a:cs typeface="Arial" pitchFamily="34" charset="-120"/>
              </a:rPr>
              <a:t>7 departments × 6 languages</a:t>
            </a:r>
            <a:endParaRPr lang="en-US" sz="1150" dirty="0"/>
          </a:p>
        </p:txBody>
      </p:sp>
      <p:sp>
        <p:nvSpPr>
          <p:cNvPr id="15" name="Shape 11"/>
          <p:cNvSpPr/>
          <p:nvPr/>
        </p:nvSpPr>
        <p:spPr>
          <a:xfrm>
            <a:off x="6720840" y="2432304"/>
            <a:ext cx="914" cy="384048"/>
          </a:xfrm>
          <a:prstGeom prst="line">
            <a:avLst/>
          </a:prstGeom>
          <a:noFill/>
          <a:ln w="19050">
            <a:solidFill>
              <a:srgbClr val="DADCE0"/>
            </a:solidFill>
            <a:prstDash val="solid"/>
            <a:tailEnd type="triangle"/>
          </a:ln>
        </p:spPr>
      </p:sp>
      <p:sp>
        <p:nvSpPr>
          <p:cNvPr id="16" name="Shape 12"/>
          <p:cNvSpPr/>
          <p:nvPr/>
        </p:nvSpPr>
        <p:spPr>
          <a:xfrm>
            <a:off x="6446520" y="2871216"/>
            <a:ext cx="548640" cy="548640"/>
          </a:xfrm>
          <a:prstGeom prst="ellipse">
            <a:avLst/>
          </a:prstGeom>
          <a:solidFill>
            <a:srgbClr val="E6F4EA"/>
          </a:solidFill>
          <a:ln/>
        </p:spPr>
      </p:sp>
      <p:pic>
        <p:nvPicPr>
          <p:cNvPr id="17" name="Image 2" descr="preencoded.png">    </p:cNvPr>
          <p:cNvPicPr>
            <a:picLocks noChangeAspect="1"/>
          </p:cNvPicPr>
          <p:nvPr/>
        </p:nvPicPr>
        <p:blipFill>
          <a:blip r:embed="rId3"/>
          <a:stretch>
            <a:fillRect/>
          </a:stretch>
        </p:blipFill>
        <p:spPr>
          <a:xfrm>
            <a:off x="6567221" y="2991917"/>
            <a:ext cx="307238" cy="307238"/>
          </a:xfrm>
          <a:prstGeom prst="rect">
            <a:avLst/>
          </a:prstGeom>
        </p:spPr>
      </p:pic>
      <p:sp>
        <p:nvSpPr>
          <p:cNvPr id="18" name="Text 13"/>
          <p:cNvSpPr txBox="1"/>
          <p:nvPr/>
        </p:nvSpPr>
        <p:spPr>
          <a:xfrm>
            <a:off x="7159752" y="2889504"/>
            <a:ext cx="4483303" cy="292608"/>
          </a:xfrm>
          <a:prstGeom prst="rect">
            <a:avLst/>
          </a:prstGeom>
          <a:noFill/>
          <a:ln/>
        </p:spPr>
        <p:txBody>
          <a:bodyPr wrap="square" lIns="0" tIns="0" rIns="0" bIns="0" rtlCol="0" anchor="t"/>
          <a:lstStyle/>
          <a:p>
            <a:pPr indent="0" marL="0">
              <a:buNone/>
            </a:pPr>
            <a:r>
              <a:rPr lang="en-US" sz="1500" b="1" dirty="0">
                <a:solidFill>
                  <a:srgbClr val="202124"/>
                </a:solidFill>
                <a:latin typeface="Arial" pitchFamily="34" charset="0"/>
                <a:ea typeface="Arial" pitchFamily="34" charset="-122"/>
                <a:cs typeface="Arial" pitchFamily="34" charset="-120"/>
              </a:rPr>
              <a:t>Audio + CAP 1.2 alert</a:t>
            </a:r>
            <a:endParaRPr lang="en-US" sz="1500" dirty="0"/>
          </a:p>
        </p:txBody>
      </p:sp>
      <p:sp>
        <p:nvSpPr>
          <p:cNvPr id="19" name="Text 14"/>
          <p:cNvSpPr txBox="1"/>
          <p:nvPr/>
        </p:nvSpPr>
        <p:spPr>
          <a:xfrm>
            <a:off x="7159752" y="3182112"/>
            <a:ext cx="4483303" cy="274320"/>
          </a:xfrm>
          <a:prstGeom prst="rect">
            <a:avLst/>
          </a:prstGeom>
          <a:noFill/>
          <a:ln/>
        </p:spPr>
        <p:txBody>
          <a:bodyPr wrap="square" lIns="0" tIns="0" rIns="0" bIns="0" rtlCol="0" anchor="t"/>
          <a:lstStyle/>
          <a:p>
            <a:pPr indent="0" marL="0">
              <a:buNone/>
            </a:pPr>
            <a:r>
              <a:rPr lang="en-US" sz="1150" dirty="0">
                <a:solidFill>
                  <a:srgbClr val="5F6368"/>
                </a:solidFill>
                <a:latin typeface="Arial" pitchFamily="34" charset="0"/>
                <a:ea typeface="Arial" pitchFamily="34" charset="-122"/>
                <a:cs typeface="Arial" pitchFamily="34" charset="-120"/>
              </a:rPr>
              <a:t>Cloud Text-to-Speech · standard alert format</a:t>
            </a:r>
            <a:endParaRPr lang="en-US" sz="1150" dirty="0"/>
          </a:p>
        </p:txBody>
      </p:sp>
      <p:sp>
        <p:nvSpPr>
          <p:cNvPr id="20" name="Shape 15"/>
          <p:cNvSpPr/>
          <p:nvPr/>
        </p:nvSpPr>
        <p:spPr>
          <a:xfrm>
            <a:off x="6720840" y="3474720"/>
            <a:ext cx="914" cy="384048"/>
          </a:xfrm>
          <a:prstGeom prst="line">
            <a:avLst/>
          </a:prstGeom>
          <a:noFill/>
          <a:ln w="19050">
            <a:solidFill>
              <a:srgbClr val="DADCE0"/>
            </a:solidFill>
            <a:prstDash val="solid"/>
            <a:tailEnd type="triangle"/>
          </a:ln>
        </p:spPr>
      </p:sp>
      <p:sp>
        <p:nvSpPr>
          <p:cNvPr id="21" name="Shape 16"/>
          <p:cNvSpPr/>
          <p:nvPr/>
        </p:nvSpPr>
        <p:spPr>
          <a:xfrm>
            <a:off x="6446520" y="3913632"/>
            <a:ext cx="548640" cy="548640"/>
          </a:xfrm>
          <a:prstGeom prst="ellipse">
            <a:avLst/>
          </a:prstGeom>
          <a:solidFill>
            <a:srgbClr val="FEF7E0"/>
          </a:solidFill>
          <a:ln/>
        </p:spPr>
      </p:sp>
      <p:pic>
        <p:nvPicPr>
          <p:cNvPr id="22" name="Image 3" descr="preencoded.png">    </p:cNvPr>
          <p:cNvPicPr>
            <a:picLocks noChangeAspect="1"/>
          </p:cNvPicPr>
          <p:nvPr/>
        </p:nvPicPr>
        <p:blipFill>
          <a:blip r:embed="rId4"/>
          <a:stretch>
            <a:fillRect/>
          </a:stretch>
        </p:blipFill>
        <p:spPr>
          <a:xfrm>
            <a:off x="6567221" y="4034333"/>
            <a:ext cx="307238" cy="307238"/>
          </a:xfrm>
          <a:prstGeom prst="rect">
            <a:avLst/>
          </a:prstGeom>
        </p:spPr>
      </p:pic>
      <p:sp>
        <p:nvSpPr>
          <p:cNvPr id="23" name="Text 17"/>
          <p:cNvSpPr txBox="1"/>
          <p:nvPr/>
        </p:nvSpPr>
        <p:spPr>
          <a:xfrm>
            <a:off x="7159752" y="3931920"/>
            <a:ext cx="4483303" cy="292608"/>
          </a:xfrm>
          <a:prstGeom prst="rect">
            <a:avLst/>
          </a:prstGeom>
          <a:noFill/>
          <a:ln/>
        </p:spPr>
        <p:txBody>
          <a:bodyPr wrap="square" lIns="0" tIns="0" rIns="0" bIns="0" rtlCol="0" anchor="t"/>
          <a:lstStyle/>
          <a:p>
            <a:pPr indent="0" marL="0">
              <a:buNone/>
            </a:pPr>
            <a:r>
              <a:rPr lang="en-US" sz="1500" b="1" dirty="0">
                <a:solidFill>
                  <a:srgbClr val="202124"/>
                </a:solidFill>
                <a:latin typeface="Arial" pitchFamily="34" charset="0"/>
                <a:ea typeface="Arial" pitchFamily="34" charset="-122"/>
                <a:cs typeface="Arial" pitchFamily="34" charset="-120"/>
              </a:rPr>
              <a:t>An officer approves</a:t>
            </a:r>
            <a:endParaRPr lang="en-US" sz="1500" dirty="0"/>
          </a:p>
        </p:txBody>
      </p:sp>
      <p:sp>
        <p:nvSpPr>
          <p:cNvPr id="24" name="Text 18"/>
          <p:cNvSpPr txBox="1"/>
          <p:nvPr/>
        </p:nvSpPr>
        <p:spPr>
          <a:xfrm>
            <a:off x="7159752" y="4224528"/>
            <a:ext cx="4483303" cy="274320"/>
          </a:xfrm>
          <a:prstGeom prst="rect">
            <a:avLst/>
          </a:prstGeom>
          <a:noFill/>
          <a:ln/>
        </p:spPr>
        <p:txBody>
          <a:bodyPr wrap="square" lIns="0" tIns="0" rIns="0" bIns="0" rtlCol="0" anchor="t"/>
          <a:lstStyle/>
          <a:p>
            <a:pPr indent="0" marL="0">
              <a:buNone/>
            </a:pPr>
            <a:r>
              <a:rPr lang="en-US" sz="1150" dirty="0">
                <a:solidFill>
                  <a:srgbClr val="5F6368"/>
                </a:solidFill>
                <a:latin typeface="Arial" pitchFamily="34" charset="0"/>
                <a:ea typeface="Arial" pitchFamily="34" charset="-122"/>
                <a:cs typeface="Arial" pitchFamily="34" charset="-120"/>
              </a:rPr>
              <a:t>Nothing is sent automatically</a:t>
            </a:r>
            <a:endParaRPr lang="en-US" sz="1150" dirty="0"/>
          </a:p>
        </p:txBody>
      </p:sp>
      <p:sp>
        <p:nvSpPr>
          <p:cNvPr id="25" name="Shape 19"/>
          <p:cNvSpPr/>
          <p:nvPr/>
        </p:nvSpPr>
        <p:spPr>
          <a:xfrm>
            <a:off x="6720840" y="4517136"/>
            <a:ext cx="914" cy="384048"/>
          </a:xfrm>
          <a:prstGeom prst="line">
            <a:avLst/>
          </a:prstGeom>
          <a:noFill/>
          <a:ln w="19050">
            <a:solidFill>
              <a:srgbClr val="DADCE0"/>
            </a:solidFill>
            <a:prstDash val="solid"/>
            <a:tailEnd type="triangle"/>
          </a:ln>
        </p:spPr>
      </p:sp>
      <p:sp>
        <p:nvSpPr>
          <p:cNvPr id="26" name="Shape 20"/>
          <p:cNvSpPr/>
          <p:nvPr/>
        </p:nvSpPr>
        <p:spPr>
          <a:xfrm>
            <a:off x="6446520" y="4956048"/>
            <a:ext cx="548640" cy="548640"/>
          </a:xfrm>
          <a:prstGeom prst="ellipse">
            <a:avLst/>
          </a:prstGeom>
          <a:solidFill>
            <a:srgbClr val="FCE8E6"/>
          </a:solidFill>
          <a:ln/>
        </p:spPr>
      </p:sp>
      <p:pic>
        <p:nvPicPr>
          <p:cNvPr id="27" name="Image 4" descr="preencoded.png">    </p:cNvPr>
          <p:cNvPicPr>
            <a:picLocks noChangeAspect="1"/>
          </p:cNvPicPr>
          <p:nvPr/>
        </p:nvPicPr>
        <p:blipFill>
          <a:blip r:embed="rId5"/>
          <a:stretch>
            <a:fillRect/>
          </a:stretch>
        </p:blipFill>
        <p:spPr>
          <a:xfrm>
            <a:off x="6567221" y="5076749"/>
            <a:ext cx="307238" cy="307238"/>
          </a:xfrm>
          <a:prstGeom prst="rect">
            <a:avLst/>
          </a:prstGeom>
        </p:spPr>
      </p:pic>
      <p:sp>
        <p:nvSpPr>
          <p:cNvPr id="28" name="Text 21"/>
          <p:cNvSpPr txBox="1"/>
          <p:nvPr/>
        </p:nvSpPr>
        <p:spPr>
          <a:xfrm>
            <a:off x="7159752" y="4974336"/>
            <a:ext cx="4483303" cy="292608"/>
          </a:xfrm>
          <a:prstGeom prst="rect">
            <a:avLst/>
          </a:prstGeom>
          <a:noFill/>
          <a:ln/>
        </p:spPr>
        <p:txBody>
          <a:bodyPr wrap="square" lIns="0" tIns="0" rIns="0" bIns="0" rtlCol="0" anchor="t"/>
          <a:lstStyle/>
          <a:p>
            <a:pPr indent="0" marL="0">
              <a:buNone/>
            </a:pPr>
            <a:r>
              <a:rPr lang="en-US" sz="1500" b="1" dirty="0">
                <a:solidFill>
                  <a:srgbClr val="202124"/>
                </a:solidFill>
                <a:latin typeface="Arial" pitchFamily="34" charset="0"/>
                <a:ea typeface="Arial" pitchFamily="34" charset="-122"/>
                <a:cs typeface="Arial" pitchFamily="34" charset="-120"/>
              </a:rPr>
              <a:t>Sent to the team</a:t>
            </a:r>
            <a:endParaRPr lang="en-US" sz="1500" dirty="0"/>
          </a:p>
        </p:txBody>
      </p:sp>
      <p:sp>
        <p:nvSpPr>
          <p:cNvPr id="29" name="Text 22"/>
          <p:cNvSpPr txBox="1"/>
          <p:nvPr/>
        </p:nvSpPr>
        <p:spPr>
          <a:xfrm>
            <a:off x="7159752" y="5266944"/>
            <a:ext cx="4483303" cy="274320"/>
          </a:xfrm>
          <a:prstGeom prst="rect">
            <a:avLst/>
          </a:prstGeom>
          <a:noFill/>
          <a:ln/>
        </p:spPr>
        <p:txBody>
          <a:bodyPr wrap="square" lIns="0" tIns="0" rIns="0" bIns="0" rtlCol="0" anchor="t"/>
          <a:lstStyle/>
          <a:p>
            <a:pPr indent="0" marL="0">
              <a:buNone/>
            </a:pPr>
            <a:r>
              <a:rPr lang="en-US" sz="1150" dirty="0">
                <a:solidFill>
                  <a:srgbClr val="5F6368"/>
                </a:solidFill>
                <a:latin typeface="Arial" pitchFamily="34" charset="0"/>
                <a:ea typeface="Arial" pitchFamily="34" charset="-122"/>
                <a:cs typeface="Arial" pitchFamily="34" charset="-120"/>
              </a:rPr>
              <a:t>Gmail and phone push (Firebase)</a:t>
            </a:r>
            <a:endParaRPr lang="en-US" sz="1150" dirty="0"/>
          </a:p>
        </p:txBody>
      </p:sp>
      <p:sp>
        <p:nvSpPr>
          <p:cNvPr id="30" name="Shape 23"/>
          <p:cNvSpPr/>
          <p:nvPr/>
        </p:nvSpPr>
        <p:spPr>
          <a:xfrm>
            <a:off x="548640" y="6492240"/>
            <a:ext cx="73152" cy="73152"/>
          </a:xfrm>
          <a:prstGeom prst="ellipse">
            <a:avLst/>
          </a:prstGeom>
          <a:solidFill>
            <a:srgbClr val="1A73E8"/>
          </a:solidFill>
          <a:ln/>
        </p:spPr>
      </p:sp>
      <p:sp>
        <p:nvSpPr>
          <p:cNvPr id="31" name="Shape 24"/>
          <p:cNvSpPr/>
          <p:nvPr/>
        </p:nvSpPr>
        <p:spPr>
          <a:xfrm>
            <a:off x="658368" y="6492240"/>
            <a:ext cx="73152" cy="73152"/>
          </a:xfrm>
          <a:prstGeom prst="ellipse">
            <a:avLst/>
          </a:prstGeom>
          <a:solidFill>
            <a:srgbClr val="EA4335"/>
          </a:solidFill>
          <a:ln/>
        </p:spPr>
      </p:sp>
      <p:sp>
        <p:nvSpPr>
          <p:cNvPr id="32" name="Shape 25"/>
          <p:cNvSpPr/>
          <p:nvPr/>
        </p:nvSpPr>
        <p:spPr>
          <a:xfrm>
            <a:off x="768096" y="6492240"/>
            <a:ext cx="73152" cy="73152"/>
          </a:xfrm>
          <a:prstGeom prst="ellipse">
            <a:avLst/>
          </a:prstGeom>
          <a:solidFill>
            <a:srgbClr val="FBBC04"/>
          </a:solidFill>
          <a:ln/>
        </p:spPr>
      </p:sp>
      <p:sp>
        <p:nvSpPr>
          <p:cNvPr id="33" name="Shape 26"/>
          <p:cNvSpPr/>
          <p:nvPr/>
        </p:nvSpPr>
        <p:spPr>
          <a:xfrm>
            <a:off x="877824" y="6492240"/>
            <a:ext cx="73152" cy="73152"/>
          </a:xfrm>
          <a:prstGeom prst="ellipse">
            <a:avLst/>
          </a:prstGeom>
          <a:solidFill>
            <a:srgbClr val="34A853"/>
          </a:solidFill>
          <a:ln/>
        </p:spPr>
      </p:sp>
      <p:sp>
        <p:nvSpPr>
          <p:cNvPr id="34" name="Text 27"/>
          <p:cNvSpPr txBox="1"/>
          <p:nvPr/>
        </p:nvSpPr>
        <p:spPr>
          <a:xfrm>
            <a:off x="1024128" y="6419088"/>
            <a:ext cx="4572000" cy="22860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Team Echo  ·  SurgeSight</a:t>
            </a:r>
            <a:endParaRPr lang="en-US" sz="950" dirty="0"/>
          </a:p>
        </p:txBody>
      </p:sp>
      <p:sp>
        <p:nvSpPr>
          <p:cNvPr id="35" name="Text 28"/>
          <p:cNvSpPr txBox="1"/>
          <p:nvPr/>
        </p:nvSpPr>
        <p:spPr>
          <a:xfrm>
            <a:off x="11094415" y="6419088"/>
            <a:ext cx="548640" cy="228600"/>
          </a:xfrm>
          <a:prstGeom prst="rect">
            <a:avLst/>
          </a:prstGeom>
          <a:noFill/>
          <a:ln/>
        </p:spPr>
        <p:txBody>
          <a:bodyPr wrap="square" lIns="0" tIns="0" rIns="0" bIns="0" rtlCol="0" anchor="ctr"/>
          <a:lstStyle/>
          <a:p>
            <a:pPr algn="r" indent="0" marL="0">
              <a:buNone/>
            </a:pPr>
            <a:r>
              <a:rPr lang="en-US" sz="950" dirty="0">
                <a:solidFill>
                  <a:srgbClr val="5F6368"/>
                </a:solidFill>
                <a:latin typeface="Arial" pitchFamily="34" charset="0"/>
                <a:ea typeface="Arial" pitchFamily="34" charset="-122"/>
                <a:cs typeface="Arial"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91440" cy="91440"/>
          </a:xfrm>
          <a:prstGeom prst="ellipse">
            <a:avLst/>
          </a:prstGeom>
          <a:solidFill>
            <a:srgbClr val="1A73E8"/>
          </a:solidFill>
          <a:ln/>
        </p:spPr>
      </p:sp>
      <p:sp>
        <p:nvSpPr>
          <p:cNvPr id="3" name="Shape 1"/>
          <p:cNvSpPr/>
          <p:nvPr/>
        </p:nvSpPr>
        <p:spPr>
          <a:xfrm>
            <a:off x="685800" y="475488"/>
            <a:ext cx="91440" cy="91440"/>
          </a:xfrm>
          <a:prstGeom prst="ellipse">
            <a:avLst/>
          </a:prstGeom>
          <a:solidFill>
            <a:srgbClr val="EA4335"/>
          </a:solidFill>
          <a:ln/>
        </p:spPr>
      </p:sp>
      <p:sp>
        <p:nvSpPr>
          <p:cNvPr id="4" name="Shape 2"/>
          <p:cNvSpPr/>
          <p:nvPr/>
        </p:nvSpPr>
        <p:spPr>
          <a:xfrm>
            <a:off x="822960" y="475488"/>
            <a:ext cx="91440" cy="91440"/>
          </a:xfrm>
          <a:prstGeom prst="ellipse">
            <a:avLst/>
          </a:prstGeom>
          <a:solidFill>
            <a:srgbClr val="FBBC04"/>
          </a:solidFill>
          <a:ln/>
        </p:spPr>
      </p:sp>
      <p:sp>
        <p:nvSpPr>
          <p:cNvPr id="5" name="Shape 3"/>
          <p:cNvSpPr/>
          <p:nvPr/>
        </p:nvSpPr>
        <p:spPr>
          <a:xfrm>
            <a:off x="960120" y="475488"/>
            <a:ext cx="91440" cy="91440"/>
          </a:xfrm>
          <a:prstGeom prst="ellipse">
            <a:avLst/>
          </a:prstGeom>
          <a:solidFill>
            <a:srgbClr val="34A853"/>
          </a:solidFill>
          <a:ln/>
        </p:spPr>
      </p:sp>
      <p:sp>
        <p:nvSpPr>
          <p:cNvPr id="6" name="Text 4"/>
          <p:cNvSpPr txBox="1"/>
          <p:nvPr/>
        </p:nvSpPr>
        <p:spPr>
          <a:xfrm>
            <a:off x="1115568" y="393192"/>
            <a:ext cx="8229600" cy="274320"/>
          </a:xfrm>
          <a:prstGeom prst="rect">
            <a:avLst/>
          </a:prstGeom>
          <a:noFill/>
          <a:ln/>
        </p:spPr>
        <p:txBody>
          <a:bodyPr wrap="square" lIns="0" tIns="0" rIns="0" bIns="0" rtlCol="0" anchor="ctr"/>
          <a:lstStyle/>
          <a:p>
            <a:pPr indent="0" marL="0">
              <a:buNone/>
            </a:pPr>
            <a:r>
              <a:rPr lang="en-US" sz="1100" b="1" spc="200" kern="0" dirty="0">
                <a:solidFill>
                  <a:srgbClr val="1A73E8"/>
                </a:solidFill>
                <a:latin typeface="Arial" pitchFamily="34" charset="0"/>
                <a:ea typeface="Arial" pitchFamily="34" charset="-122"/>
                <a:cs typeface="Arial" pitchFamily="34" charset="-120"/>
              </a:rPr>
              <a:t>HOW IT WORKS</a:t>
            </a:r>
            <a:endParaRPr lang="en-US" sz="1100" dirty="0"/>
          </a:p>
        </p:txBody>
      </p:sp>
      <p:sp>
        <p:nvSpPr>
          <p:cNvPr id="7" name="Text 5"/>
          <p:cNvSpPr txBox="1"/>
          <p:nvPr/>
        </p:nvSpPr>
        <p:spPr>
          <a:xfrm>
            <a:off x="548640" y="786384"/>
            <a:ext cx="11094415" cy="914400"/>
          </a:xfrm>
          <a:prstGeom prst="rect">
            <a:avLst/>
          </a:prstGeom>
          <a:noFill/>
          <a:ln/>
        </p:spPr>
        <p:txBody>
          <a:bodyPr wrap="square" lIns="0" tIns="0" rIns="0" bIns="0" rtlCol="0" anchor="t"/>
          <a:lstStyle/>
          <a:p>
            <a:pPr indent="0" marL="0">
              <a:buNone/>
            </a:pPr>
            <a:r>
              <a:rPr lang="en-US" sz="2700" b="1" dirty="0">
                <a:solidFill>
                  <a:srgbClr val="202124"/>
                </a:solidFill>
                <a:latin typeface="Arial" pitchFamily="34" charset="0"/>
                <a:ea typeface="Arial" pitchFamily="34" charset="-122"/>
                <a:cs typeface="Arial" pitchFamily="34" charset="-120"/>
              </a:rPr>
              <a:t>Our models compute the risk. Gemini explains it. Both are checked against real data.</a:t>
            </a:r>
            <a:endParaRPr lang="en-US" sz="2700" dirty="0"/>
          </a:p>
        </p:txBody>
      </p:sp>
      <p:sp>
        <p:nvSpPr>
          <p:cNvPr id="8" name="Shape 6"/>
          <p:cNvSpPr/>
          <p:nvPr/>
        </p:nvSpPr>
        <p:spPr>
          <a:xfrm>
            <a:off x="548640" y="1828800"/>
            <a:ext cx="2464994" cy="2331720"/>
          </a:xfrm>
          <a:prstGeom prst="roundRect">
            <a:avLst>
              <a:gd name="adj" fmla="val 4706"/>
            </a:avLst>
          </a:prstGeom>
          <a:solidFill>
            <a:srgbClr val="E8F0FE"/>
          </a:solidFill>
          <a:ln/>
        </p:spPr>
      </p:sp>
      <p:sp>
        <p:nvSpPr>
          <p:cNvPr id="9" name="Text 7"/>
          <p:cNvSpPr txBox="1"/>
          <p:nvPr/>
        </p:nvSpPr>
        <p:spPr>
          <a:xfrm>
            <a:off x="777240" y="2011680"/>
            <a:ext cx="2007794" cy="274320"/>
          </a:xfrm>
          <a:prstGeom prst="rect">
            <a:avLst/>
          </a:prstGeom>
          <a:noFill/>
          <a:ln/>
        </p:spPr>
        <p:txBody>
          <a:bodyPr wrap="square" lIns="0" tIns="0" rIns="0" bIns="0" rtlCol="0" anchor="t"/>
          <a:lstStyle/>
          <a:p>
            <a:pPr indent="0" marL="0">
              <a:buNone/>
            </a:pPr>
            <a:r>
              <a:rPr lang="en-US" sz="1150" b="1" spc="150" kern="0" dirty="0">
                <a:solidFill>
                  <a:srgbClr val="1967D2"/>
                </a:solidFill>
                <a:latin typeface="Arial" pitchFamily="34" charset="0"/>
                <a:ea typeface="Arial" pitchFamily="34" charset="-122"/>
                <a:cs typeface="Arial" pitchFamily="34" charset="-120"/>
              </a:rPr>
              <a:t>DATA IN</a:t>
            </a:r>
            <a:endParaRPr lang="en-US" sz="1150" dirty="0"/>
          </a:p>
        </p:txBody>
      </p:sp>
      <p:sp>
        <p:nvSpPr>
          <p:cNvPr id="10" name="Text 8"/>
          <p:cNvSpPr txBox="1"/>
          <p:nvPr/>
        </p:nvSpPr>
        <p:spPr>
          <a:xfrm>
            <a:off x="777240" y="2450592"/>
            <a:ext cx="2099234" cy="457200"/>
          </a:xfrm>
          <a:prstGeom prst="rect">
            <a:avLst/>
          </a:prstGeom>
          <a:noFill/>
          <a:ln/>
        </p:spPr>
        <p:txBody>
          <a:bodyPr wrap="square" lIns="0" tIns="0" rIns="0" bIns="0" rtlCol="0" anchor="ctr"/>
          <a:lstStyle/>
          <a:p>
            <a:pPr indent="0" marL="0">
              <a:buNone/>
            </a:pPr>
            <a:r>
              <a:rPr lang="en-US" sz="1350" dirty="0">
                <a:solidFill>
                  <a:srgbClr val="202124"/>
                </a:solidFill>
                <a:latin typeface="Arial" pitchFamily="34" charset="0"/>
                <a:ea typeface="Arial" pitchFamily="34" charset="-122"/>
                <a:cs typeface="Arial" pitchFamily="34" charset="-120"/>
              </a:rPr>
              <a:t>IMD bulletin</a:t>
            </a:r>
            <a:endParaRPr lang="en-US" sz="1350" dirty="0"/>
          </a:p>
        </p:txBody>
      </p:sp>
      <p:sp>
        <p:nvSpPr>
          <p:cNvPr id="11" name="Text 9"/>
          <p:cNvSpPr txBox="1"/>
          <p:nvPr/>
        </p:nvSpPr>
        <p:spPr>
          <a:xfrm>
            <a:off x="777240" y="2980944"/>
            <a:ext cx="2099234" cy="457200"/>
          </a:xfrm>
          <a:prstGeom prst="rect">
            <a:avLst/>
          </a:prstGeom>
          <a:noFill/>
          <a:ln/>
        </p:spPr>
        <p:txBody>
          <a:bodyPr wrap="square" lIns="0" tIns="0" rIns="0" bIns="0" rtlCol="0" anchor="ctr"/>
          <a:lstStyle/>
          <a:p>
            <a:pPr indent="0" marL="0">
              <a:buNone/>
            </a:pPr>
            <a:r>
              <a:rPr lang="en-US" sz="1350" dirty="0">
                <a:solidFill>
                  <a:srgbClr val="202124"/>
                </a:solidFill>
                <a:latin typeface="Arial" pitchFamily="34" charset="0"/>
                <a:ea typeface="Arial" pitchFamily="34" charset="-122"/>
                <a:cs typeface="Arial" pitchFamily="34" charset="-120"/>
              </a:rPr>
              <a:t>Earth Engine · 10 datasets</a:t>
            </a:r>
            <a:endParaRPr lang="en-US" sz="1350" dirty="0"/>
          </a:p>
        </p:txBody>
      </p:sp>
      <p:sp>
        <p:nvSpPr>
          <p:cNvPr id="12" name="Text 10"/>
          <p:cNvSpPr txBox="1"/>
          <p:nvPr/>
        </p:nvSpPr>
        <p:spPr>
          <a:xfrm>
            <a:off x="777240" y="3511296"/>
            <a:ext cx="2099234" cy="457200"/>
          </a:xfrm>
          <a:prstGeom prst="rect">
            <a:avLst/>
          </a:prstGeom>
          <a:noFill/>
          <a:ln/>
        </p:spPr>
        <p:txBody>
          <a:bodyPr wrap="square" lIns="0" tIns="0" rIns="0" bIns="0" rtlCol="0" anchor="ctr"/>
          <a:lstStyle/>
          <a:p>
            <a:pPr indent="0" marL="0">
              <a:buNone/>
            </a:pPr>
            <a:r>
              <a:rPr lang="en-US" sz="1350" dirty="0">
                <a:solidFill>
                  <a:srgbClr val="202124"/>
                </a:solidFill>
                <a:latin typeface="Arial" pitchFamily="34" charset="0"/>
                <a:ea typeface="Arial" pitchFamily="34" charset="-122"/>
                <a:cs typeface="Arial" pitchFamily="34" charset="-120"/>
              </a:rPr>
              <a:t>OpenStreetMap · 4,214 facilities</a:t>
            </a:r>
            <a:endParaRPr lang="en-US" sz="1350" dirty="0"/>
          </a:p>
        </p:txBody>
      </p:sp>
      <p:sp>
        <p:nvSpPr>
          <p:cNvPr id="13" name="Shape 11"/>
          <p:cNvSpPr/>
          <p:nvPr/>
        </p:nvSpPr>
        <p:spPr>
          <a:xfrm>
            <a:off x="3077642" y="2994660"/>
            <a:ext cx="283464" cy="914"/>
          </a:xfrm>
          <a:prstGeom prst="line">
            <a:avLst/>
          </a:prstGeom>
          <a:noFill/>
          <a:ln w="19050">
            <a:solidFill>
              <a:srgbClr val="5F6368"/>
            </a:solidFill>
            <a:prstDash val="solid"/>
            <a:tailEnd type="triangle"/>
          </a:ln>
        </p:spPr>
      </p:sp>
      <p:sp>
        <p:nvSpPr>
          <p:cNvPr id="14" name="Shape 12"/>
          <p:cNvSpPr/>
          <p:nvPr/>
        </p:nvSpPr>
        <p:spPr>
          <a:xfrm>
            <a:off x="3425114" y="1828800"/>
            <a:ext cx="2464994" cy="2331720"/>
          </a:xfrm>
          <a:prstGeom prst="roundRect">
            <a:avLst>
              <a:gd name="adj" fmla="val 4706"/>
            </a:avLst>
          </a:prstGeom>
          <a:solidFill>
            <a:srgbClr val="E6F4EA"/>
          </a:solidFill>
          <a:ln/>
        </p:spPr>
      </p:sp>
      <p:sp>
        <p:nvSpPr>
          <p:cNvPr id="15" name="Text 13"/>
          <p:cNvSpPr txBox="1"/>
          <p:nvPr/>
        </p:nvSpPr>
        <p:spPr>
          <a:xfrm>
            <a:off x="3653714" y="2011680"/>
            <a:ext cx="2007794" cy="274320"/>
          </a:xfrm>
          <a:prstGeom prst="rect">
            <a:avLst/>
          </a:prstGeom>
          <a:noFill/>
          <a:ln/>
        </p:spPr>
        <p:txBody>
          <a:bodyPr wrap="square" lIns="0" tIns="0" rIns="0" bIns="0" rtlCol="0" anchor="t"/>
          <a:lstStyle/>
          <a:p>
            <a:pPr indent="0" marL="0">
              <a:buNone/>
            </a:pPr>
            <a:r>
              <a:rPr lang="en-US" sz="1150" b="1" spc="150" kern="0" dirty="0">
                <a:solidFill>
                  <a:srgbClr val="188038"/>
                </a:solidFill>
                <a:latin typeface="Arial" pitchFamily="34" charset="0"/>
                <a:ea typeface="Arial" pitchFamily="34" charset="-122"/>
                <a:cs typeface="Arial" pitchFamily="34" charset="-120"/>
              </a:rPr>
              <a:t>RISK MODELS</a:t>
            </a:r>
            <a:endParaRPr lang="en-US" sz="1150" dirty="0"/>
          </a:p>
        </p:txBody>
      </p:sp>
      <p:sp>
        <p:nvSpPr>
          <p:cNvPr id="16" name="Text 14"/>
          <p:cNvSpPr txBox="1"/>
          <p:nvPr/>
        </p:nvSpPr>
        <p:spPr>
          <a:xfrm>
            <a:off x="3653714" y="2450592"/>
            <a:ext cx="2099234" cy="457200"/>
          </a:xfrm>
          <a:prstGeom prst="rect">
            <a:avLst/>
          </a:prstGeom>
          <a:noFill/>
          <a:ln/>
        </p:spPr>
        <p:txBody>
          <a:bodyPr wrap="square" lIns="0" tIns="0" rIns="0" bIns="0" rtlCol="0" anchor="ctr"/>
          <a:lstStyle/>
          <a:p>
            <a:pPr indent="0" marL="0">
              <a:buNone/>
            </a:pPr>
            <a:r>
              <a:rPr lang="en-US" sz="1350" dirty="0">
                <a:solidFill>
                  <a:srgbClr val="202124"/>
                </a:solidFill>
                <a:latin typeface="Arial" pitchFamily="34" charset="0"/>
                <a:ea typeface="Arial" pitchFamily="34" charset="-122"/>
                <a:cs typeface="Arial" pitchFamily="34" charset="-120"/>
              </a:rPr>
              <a:t>Wind · surge · rain flooding</a:t>
            </a:r>
            <a:endParaRPr lang="en-US" sz="1350" dirty="0"/>
          </a:p>
        </p:txBody>
      </p:sp>
      <p:sp>
        <p:nvSpPr>
          <p:cNvPr id="17" name="Text 15"/>
          <p:cNvSpPr txBox="1"/>
          <p:nvPr/>
        </p:nvSpPr>
        <p:spPr>
          <a:xfrm>
            <a:off x="3653714" y="2980944"/>
            <a:ext cx="2099234" cy="457200"/>
          </a:xfrm>
          <a:prstGeom prst="rect">
            <a:avLst/>
          </a:prstGeom>
          <a:noFill/>
          <a:ln/>
        </p:spPr>
        <p:txBody>
          <a:bodyPr wrap="square" lIns="0" tIns="0" rIns="0" bIns="0" rtlCol="0" anchor="ctr"/>
          <a:lstStyle/>
          <a:p>
            <a:pPr indent="0" marL="0">
              <a:buNone/>
            </a:pPr>
            <a:r>
              <a:rPr lang="en-US" sz="1350" dirty="0">
                <a:solidFill>
                  <a:srgbClr val="202124"/>
                </a:solidFill>
                <a:latin typeface="Arial" pitchFamily="34" charset="0"/>
                <a:ea typeface="Arial" pitchFamily="34" charset="-122"/>
                <a:cs typeface="Arial" pitchFamily="34" charset="-120"/>
              </a:rPr>
              <a:t>Road exposure · hospital access</a:t>
            </a:r>
            <a:endParaRPr lang="en-US" sz="1350" dirty="0"/>
          </a:p>
        </p:txBody>
      </p:sp>
      <p:sp>
        <p:nvSpPr>
          <p:cNvPr id="18" name="Text 16"/>
          <p:cNvSpPr txBox="1"/>
          <p:nvPr/>
        </p:nvSpPr>
        <p:spPr>
          <a:xfrm>
            <a:off x="3653714" y="3511296"/>
            <a:ext cx="2099234" cy="457200"/>
          </a:xfrm>
          <a:prstGeom prst="rect">
            <a:avLst/>
          </a:prstGeom>
          <a:noFill/>
          <a:ln/>
        </p:spPr>
        <p:txBody>
          <a:bodyPr wrap="square" lIns="0" tIns="0" rIns="0" bIns="0" rtlCol="0" anchor="ctr"/>
          <a:lstStyle/>
          <a:p>
            <a:pPr indent="0" marL="0">
              <a:buNone/>
            </a:pPr>
            <a:r>
              <a:rPr lang="en-US" sz="1350" dirty="0">
                <a:solidFill>
                  <a:srgbClr val="202124"/>
                </a:solidFill>
                <a:latin typeface="Arial" pitchFamily="34" charset="0"/>
                <a:ea typeface="Arial" pitchFamily="34" charset="-122"/>
                <a:cs typeface="Arial" pitchFamily="34" charset="-120"/>
              </a:rPr>
              <a:t>100-run ensemble · what-if</a:t>
            </a:r>
            <a:endParaRPr lang="en-US" sz="1350" dirty="0"/>
          </a:p>
        </p:txBody>
      </p:sp>
      <p:sp>
        <p:nvSpPr>
          <p:cNvPr id="19" name="Shape 17"/>
          <p:cNvSpPr/>
          <p:nvPr/>
        </p:nvSpPr>
        <p:spPr>
          <a:xfrm>
            <a:off x="5954116" y="2994660"/>
            <a:ext cx="283464" cy="914"/>
          </a:xfrm>
          <a:prstGeom prst="line">
            <a:avLst/>
          </a:prstGeom>
          <a:noFill/>
          <a:ln w="19050">
            <a:solidFill>
              <a:srgbClr val="5F6368"/>
            </a:solidFill>
            <a:prstDash val="solid"/>
            <a:tailEnd type="triangle"/>
          </a:ln>
        </p:spPr>
      </p:sp>
      <p:sp>
        <p:nvSpPr>
          <p:cNvPr id="20" name="Shape 18"/>
          <p:cNvSpPr/>
          <p:nvPr/>
        </p:nvSpPr>
        <p:spPr>
          <a:xfrm>
            <a:off x="6301588" y="1828800"/>
            <a:ext cx="2464994" cy="2331720"/>
          </a:xfrm>
          <a:prstGeom prst="roundRect">
            <a:avLst>
              <a:gd name="adj" fmla="val 4706"/>
            </a:avLst>
          </a:prstGeom>
          <a:solidFill>
            <a:srgbClr val="FCE8E6"/>
          </a:solidFill>
          <a:ln/>
        </p:spPr>
      </p:sp>
      <p:sp>
        <p:nvSpPr>
          <p:cNvPr id="21" name="Text 19"/>
          <p:cNvSpPr txBox="1"/>
          <p:nvPr/>
        </p:nvSpPr>
        <p:spPr>
          <a:xfrm>
            <a:off x="6530188" y="2011680"/>
            <a:ext cx="2007794" cy="274320"/>
          </a:xfrm>
          <a:prstGeom prst="rect">
            <a:avLst/>
          </a:prstGeom>
          <a:noFill/>
          <a:ln/>
        </p:spPr>
        <p:txBody>
          <a:bodyPr wrap="square" lIns="0" tIns="0" rIns="0" bIns="0" rtlCol="0" anchor="t"/>
          <a:lstStyle/>
          <a:p>
            <a:pPr indent="0" marL="0">
              <a:buNone/>
            </a:pPr>
            <a:r>
              <a:rPr lang="en-US" sz="1150" b="1" spc="150" kern="0" dirty="0">
                <a:solidFill>
                  <a:srgbClr val="C5221F"/>
                </a:solidFill>
                <a:latin typeface="Arial" pitchFamily="34" charset="0"/>
                <a:ea typeface="Arial" pitchFamily="34" charset="-122"/>
                <a:cs typeface="Arial" pitchFamily="34" charset="-120"/>
              </a:rPr>
              <a:t>GEMINI AGENTS</a:t>
            </a:r>
            <a:endParaRPr lang="en-US" sz="1150" dirty="0"/>
          </a:p>
        </p:txBody>
      </p:sp>
      <p:sp>
        <p:nvSpPr>
          <p:cNvPr id="22" name="Text 20"/>
          <p:cNvSpPr txBox="1"/>
          <p:nvPr/>
        </p:nvSpPr>
        <p:spPr>
          <a:xfrm>
            <a:off x="6530188" y="2450592"/>
            <a:ext cx="2099234" cy="457200"/>
          </a:xfrm>
          <a:prstGeom prst="rect">
            <a:avLst/>
          </a:prstGeom>
          <a:noFill/>
          <a:ln/>
        </p:spPr>
        <p:txBody>
          <a:bodyPr wrap="square" lIns="0" tIns="0" rIns="0" bIns="0" rtlCol="0" anchor="ctr"/>
          <a:lstStyle/>
          <a:p>
            <a:pPr indent="0" marL="0">
              <a:buNone/>
            </a:pPr>
            <a:r>
              <a:rPr lang="en-US" sz="1350" dirty="0">
                <a:solidFill>
                  <a:srgbClr val="202124"/>
                </a:solidFill>
                <a:latin typeface="Arial" pitchFamily="34" charset="0"/>
                <a:ea typeface="Arial" pitchFamily="34" charset="-122"/>
                <a:cs typeface="Arial" pitchFamily="34" charset="-120"/>
              </a:rPr>
              <a:t>Gemini 3.7 Flash + ADK</a:t>
            </a:r>
            <a:endParaRPr lang="en-US" sz="1350" dirty="0"/>
          </a:p>
        </p:txBody>
      </p:sp>
      <p:sp>
        <p:nvSpPr>
          <p:cNvPr id="23" name="Text 21"/>
          <p:cNvSpPr txBox="1"/>
          <p:nvPr/>
        </p:nvSpPr>
        <p:spPr>
          <a:xfrm>
            <a:off x="6530188" y="2980944"/>
            <a:ext cx="2099234" cy="457200"/>
          </a:xfrm>
          <a:prstGeom prst="rect">
            <a:avLst/>
          </a:prstGeom>
          <a:noFill/>
          <a:ln/>
        </p:spPr>
        <p:txBody>
          <a:bodyPr wrap="square" lIns="0" tIns="0" rIns="0" bIns="0" rtlCol="0" anchor="ctr"/>
          <a:lstStyle/>
          <a:p>
            <a:pPr indent="0" marL="0">
              <a:buNone/>
            </a:pPr>
            <a:r>
              <a:rPr lang="en-US" sz="1350" dirty="0">
                <a:solidFill>
                  <a:srgbClr val="202124"/>
                </a:solidFill>
                <a:latin typeface="Arial" pitchFamily="34" charset="0"/>
                <a:ea typeface="Arial" pitchFamily="34" charset="-122"/>
                <a:cs typeface="Arial" pitchFamily="34" charset="-120"/>
              </a:rPr>
              <a:t>29 tools</a:t>
            </a:r>
            <a:endParaRPr lang="en-US" sz="1350" dirty="0"/>
          </a:p>
        </p:txBody>
      </p:sp>
      <p:sp>
        <p:nvSpPr>
          <p:cNvPr id="24" name="Text 22"/>
          <p:cNvSpPr txBox="1"/>
          <p:nvPr/>
        </p:nvSpPr>
        <p:spPr>
          <a:xfrm>
            <a:off x="6530188" y="3511296"/>
            <a:ext cx="2099234" cy="457200"/>
          </a:xfrm>
          <a:prstGeom prst="rect">
            <a:avLst/>
          </a:prstGeom>
          <a:noFill/>
          <a:ln/>
        </p:spPr>
        <p:txBody>
          <a:bodyPr wrap="square" lIns="0" tIns="0" rIns="0" bIns="0" rtlCol="0" anchor="ctr"/>
          <a:lstStyle/>
          <a:p>
            <a:pPr indent="0" marL="0">
              <a:buNone/>
            </a:pPr>
            <a:r>
              <a:rPr lang="en-US" sz="1350" dirty="0">
                <a:solidFill>
                  <a:srgbClr val="202124"/>
                </a:solidFill>
                <a:latin typeface="Arial" pitchFamily="34" charset="0"/>
                <a:ea typeface="Arial" pitchFamily="34" charset="-122"/>
                <a:cs typeface="Arial" pitchFamily="34" charset="-120"/>
              </a:rPr>
              <a:t>Number guard</a:t>
            </a:r>
            <a:endParaRPr lang="en-US" sz="1350" dirty="0"/>
          </a:p>
        </p:txBody>
      </p:sp>
      <p:sp>
        <p:nvSpPr>
          <p:cNvPr id="25" name="Shape 23"/>
          <p:cNvSpPr/>
          <p:nvPr/>
        </p:nvSpPr>
        <p:spPr>
          <a:xfrm>
            <a:off x="8830589" y="2994660"/>
            <a:ext cx="283464" cy="914"/>
          </a:xfrm>
          <a:prstGeom prst="line">
            <a:avLst/>
          </a:prstGeom>
          <a:noFill/>
          <a:ln w="19050">
            <a:solidFill>
              <a:srgbClr val="5F6368"/>
            </a:solidFill>
            <a:prstDash val="solid"/>
            <a:tailEnd type="triangle"/>
          </a:ln>
        </p:spPr>
      </p:sp>
      <p:sp>
        <p:nvSpPr>
          <p:cNvPr id="26" name="Shape 24"/>
          <p:cNvSpPr/>
          <p:nvPr/>
        </p:nvSpPr>
        <p:spPr>
          <a:xfrm>
            <a:off x="9178061" y="1828800"/>
            <a:ext cx="2464994" cy="2331720"/>
          </a:xfrm>
          <a:prstGeom prst="roundRect">
            <a:avLst>
              <a:gd name="adj" fmla="val 4706"/>
            </a:avLst>
          </a:prstGeom>
          <a:solidFill>
            <a:srgbClr val="FEF7E0"/>
          </a:solidFill>
          <a:ln/>
        </p:spPr>
      </p:sp>
      <p:sp>
        <p:nvSpPr>
          <p:cNvPr id="27" name="Text 25"/>
          <p:cNvSpPr txBox="1"/>
          <p:nvPr/>
        </p:nvSpPr>
        <p:spPr>
          <a:xfrm>
            <a:off x="9406661" y="2011680"/>
            <a:ext cx="2007794" cy="274320"/>
          </a:xfrm>
          <a:prstGeom prst="rect">
            <a:avLst/>
          </a:prstGeom>
          <a:noFill/>
          <a:ln/>
        </p:spPr>
        <p:txBody>
          <a:bodyPr wrap="square" lIns="0" tIns="0" rIns="0" bIns="0" rtlCol="0" anchor="t"/>
          <a:lstStyle/>
          <a:p>
            <a:pPr indent="0" marL="0">
              <a:buNone/>
            </a:pPr>
            <a:r>
              <a:rPr lang="en-US" sz="1150" b="1" spc="150" kern="0" dirty="0">
                <a:solidFill>
                  <a:srgbClr val="B06000"/>
                </a:solidFill>
                <a:latin typeface="Arial" pitchFamily="34" charset="0"/>
                <a:ea typeface="Arial" pitchFamily="34" charset="-122"/>
                <a:cs typeface="Arial" pitchFamily="34" charset="-120"/>
              </a:rPr>
              <a:t>OUT</a:t>
            </a:r>
            <a:endParaRPr lang="en-US" sz="1150" dirty="0"/>
          </a:p>
        </p:txBody>
      </p:sp>
      <p:sp>
        <p:nvSpPr>
          <p:cNvPr id="28" name="Text 26"/>
          <p:cNvSpPr txBox="1"/>
          <p:nvPr/>
        </p:nvSpPr>
        <p:spPr>
          <a:xfrm>
            <a:off x="9406661" y="2450592"/>
            <a:ext cx="2099234" cy="457200"/>
          </a:xfrm>
          <a:prstGeom prst="rect">
            <a:avLst/>
          </a:prstGeom>
          <a:noFill/>
          <a:ln/>
        </p:spPr>
        <p:txBody>
          <a:bodyPr wrap="square" lIns="0" tIns="0" rIns="0" bIns="0" rtlCol="0" anchor="ctr"/>
          <a:lstStyle/>
          <a:p>
            <a:pPr indent="0" marL="0">
              <a:buNone/>
            </a:pPr>
            <a:r>
              <a:rPr lang="en-US" sz="1350" dirty="0">
                <a:solidFill>
                  <a:srgbClr val="202124"/>
                </a:solidFill>
                <a:latin typeface="Arial" pitchFamily="34" charset="0"/>
                <a:ea typeface="Arial" pitchFamily="34" charset="-122"/>
                <a:cs typeface="Arial" pitchFamily="34" charset="-120"/>
              </a:rPr>
              <a:t>Map with reasons</a:t>
            </a:r>
            <a:endParaRPr lang="en-US" sz="1350" dirty="0"/>
          </a:p>
        </p:txBody>
      </p:sp>
      <p:sp>
        <p:nvSpPr>
          <p:cNvPr id="29" name="Text 27"/>
          <p:cNvSpPr txBox="1"/>
          <p:nvPr/>
        </p:nvSpPr>
        <p:spPr>
          <a:xfrm>
            <a:off x="9406661" y="2980944"/>
            <a:ext cx="2099234" cy="457200"/>
          </a:xfrm>
          <a:prstGeom prst="rect">
            <a:avLst/>
          </a:prstGeom>
          <a:noFill/>
          <a:ln/>
        </p:spPr>
        <p:txBody>
          <a:bodyPr wrap="square" lIns="0" tIns="0" rIns="0" bIns="0" rtlCol="0" anchor="ctr"/>
          <a:lstStyle/>
          <a:p>
            <a:pPr indent="0" marL="0">
              <a:buNone/>
            </a:pPr>
            <a:r>
              <a:rPr lang="en-US" sz="1350" dirty="0">
                <a:solidFill>
                  <a:srgbClr val="202124"/>
                </a:solidFill>
                <a:latin typeface="Arial" pitchFamily="34" charset="0"/>
                <a:ea typeface="Arial" pitchFamily="34" charset="-122"/>
                <a:cs typeface="Arial" pitchFamily="34" charset="-120"/>
              </a:rPr>
              <a:t>Advisories · 6 languages</a:t>
            </a:r>
            <a:endParaRPr lang="en-US" sz="1350" dirty="0"/>
          </a:p>
        </p:txBody>
      </p:sp>
      <p:sp>
        <p:nvSpPr>
          <p:cNvPr id="30" name="Text 28"/>
          <p:cNvSpPr txBox="1"/>
          <p:nvPr/>
        </p:nvSpPr>
        <p:spPr>
          <a:xfrm>
            <a:off x="9406661" y="3511296"/>
            <a:ext cx="2099234" cy="457200"/>
          </a:xfrm>
          <a:prstGeom prst="rect">
            <a:avLst/>
          </a:prstGeom>
          <a:noFill/>
          <a:ln/>
        </p:spPr>
        <p:txBody>
          <a:bodyPr wrap="square" lIns="0" tIns="0" rIns="0" bIns="0" rtlCol="0" anchor="ctr"/>
          <a:lstStyle/>
          <a:p>
            <a:pPr indent="0" marL="0">
              <a:buNone/>
            </a:pPr>
            <a:r>
              <a:rPr lang="en-US" sz="1350" dirty="0">
                <a:solidFill>
                  <a:srgbClr val="202124"/>
                </a:solidFill>
                <a:latin typeface="Arial" pitchFamily="34" charset="0"/>
                <a:ea typeface="Arial" pitchFamily="34" charset="-122"/>
                <a:cs typeface="Arial" pitchFamily="34" charset="-120"/>
              </a:rPr>
              <a:t>Approved alerts</a:t>
            </a:r>
            <a:endParaRPr lang="en-US" sz="1350" dirty="0"/>
          </a:p>
        </p:txBody>
      </p:sp>
      <p:sp>
        <p:nvSpPr>
          <p:cNvPr id="31" name="Text 29"/>
          <p:cNvSpPr txBox="1"/>
          <p:nvPr/>
        </p:nvSpPr>
        <p:spPr>
          <a:xfrm>
            <a:off x="548640" y="4526280"/>
            <a:ext cx="11094415" cy="274320"/>
          </a:xfrm>
          <a:prstGeom prst="rect">
            <a:avLst/>
          </a:prstGeom>
          <a:noFill/>
          <a:ln/>
        </p:spPr>
        <p:txBody>
          <a:bodyPr wrap="square" lIns="0" tIns="0" rIns="0" bIns="0" rtlCol="0" anchor="t"/>
          <a:lstStyle/>
          <a:p>
            <a:pPr indent="0" marL="0">
              <a:buNone/>
            </a:pPr>
            <a:r>
              <a:rPr lang="en-US" sz="1100" b="1" spc="150" kern="0" dirty="0">
                <a:solidFill>
                  <a:srgbClr val="5F6368"/>
                </a:solidFill>
                <a:latin typeface="Arial" pitchFamily="34" charset="0"/>
                <a:ea typeface="Arial" pitchFamily="34" charset="-122"/>
                <a:cs typeface="Arial" pitchFamily="34" charset="-120"/>
              </a:rPr>
              <a:t>CHECKED AGAINST WHAT REALLY HAPPENED IN MICHAUNG</a:t>
            </a:r>
            <a:endParaRPr lang="en-US" sz="1100" dirty="0"/>
          </a:p>
        </p:txBody>
      </p:sp>
      <p:sp>
        <p:nvSpPr>
          <p:cNvPr id="32" name="Shape 30"/>
          <p:cNvSpPr/>
          <p:nvPr/>
        </p:nvSpPr>
        <p:spPr>
          <a:xfrm>
            <a:off x="548640" y="4892040"/>
            <a:ext cx="3545738" cy="1280160"/>
          </a:xfrm>
          <a:prstGeom prst="roundRect">
            <a:avLst>
              <a:gd name="adj" fmla="val 8571"/>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sp>
        <p:nvSpPr>
          <p:cNvPr id="33" name="Text 31"/>
          <p:cNvSpPr txBox="1"/>
          <p:nvPr/>
        </p:nvSpPr>
        <p:spPr>
          <a:xfrm>
            <a:off x="822960" y="5001768"/>
            <a:ext cx="2997098" cy="594360"/>
          </a:xfrm>
          <a:prstGeom prst="rect">
            <a:avLst/>
          </a:prstGeom>
          <a:noFill/>
          <a:ln/>
        </p:spPr>
        <p:txBody>
          <a:bodyPr wrap="square" lIns="0" tIns="0" rIns="0" bIns="0" rtlCol="0" anchor="ctr"/>
          <a:lstStyle/>
          <a:p>
            <a:pPr indent="0" marL="0">
              <a:buNone/>
            </a:pPr>
            <a:r>
              <a:rPr lang="en-US" sz="3000" b="1" dirty="0">
                <a:solidFill>
                  <a:srgbClr val="1A73E8"/>
                </a:solidFill>
                <a:latin typeface="Arial" pitchFamily="34" charset="0"/>
                <a:ea typeface="Arial" pitchFamily="34" charset="-122"/>
                <a:cs typeface="Arial" pitchFamily="34" charset="-120"/>
              </a:rPr>
              <a:t>27.6 km</a:t>
            </a:r>
            <a:endParaRPr lang="en-US" sz="3000" dirty="0"/>
          </a:p>
        </p:txBody>
      </p:sp>
      <p:sp>
        <p:nvSpPr>
          <p:cNvPr id="34" name="Text 32"/>
          <p:cNvSpPr txBox="1"/>
          <p:nvPr/>
        </p:nvSpPr>
        <p:spPr>
          <a:xfrm>
            <a:off x="822960" y="5614416"/>
            <a:ext cx="2997098" cy="457200"/>
          </a:xfrm>
          <a:prstGeom prst="rect">
            <a:avLst/>
          </a:prstGeom>
          <a:noFill/>
          <a:ln/>
        </p:spPr>
        <p:txBody>
          <a:bodyPr wrap="square" lIns="0" tIns="0" rIns="0" bIns="0" rtlCol="0" anchor="t"/>
          <a:lstStyle/>
          <a:p>
            <a:pPr indent="0" marL="0">
              <a:buNone/>
            </a:pPr>
            <a:r>
              <a:rPr lang="en-US" sz="1200" dirty="0">
                <a:solidFill>
                  <a:srgbClr val="5F6368"/>
                </a:solidFill>
                <a:latin typeface="Arial" pitchFamily="34" charset="0"/>
                <a:ea typeface="Arial" pitchFamily="34" charset="-122"/>
                <a:cs typeface="Arial" pitchFamily="34" charset="-120"/>
              </a:rPr>
              <a:t>average error of our 6-hour track forecast</a:t>
            </a:r>
            <a:endParaRPr lang="en-US" sz="1200" dirty="0"/>
          </a:p>
        </p:txBody>
      </p:sp>
      <p:sp>
        <p:nvSpPr>
          <p:cNvPr id="35" name="Shape 33"/>
          <p:cNvSpPr/>
          <p:nvPr/>
        </p:nvSpPr>
        <p:spPr>
          <a:xfrm>
            <a:off x="4322978" y="4892040"/>
            <a:ext cx="3545738" cy="1280160"/>
          </a:xfrm>
          <a:prstGeom prst="roundRect">
            <a:avLst>
              <a:gd name="adj" fmla="val 8571"/>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sp>
        <p:nvSpPr>
          <p:cNvPr id="36" name="Text 34"/>
          <p:cNvSpPr txBox="1"/>
          <p:nvPr/>
        </p:nvSpPr>
        <p:spPr>
          <a:xfrm>
            <a:off x="4597298" y="5001768"/>
            <a:ext cx="2997098" cy="594360"/>
          </a:xfrm>
          <a:prstGeom prst="rect">
            <a:avLst/>
          </a:prstGeom>
          <a:noFill/>
          <a:ln/>
        </p:spPr>
        <p:txBody>
          <a:bodyPr wrap="square" lIns="0" tIns="0" rIns="0" bIns="0" rtlCol="0" anchor="ctr"/>
          <a:lstStyle/>
          <a:p>
            <a:pPr indent="0" marL="0">
              <a:buNone/>
            </a:pPr>
            <a:r>
              <a:rPr lang="en-US" sz="3000" b="1" dirty="0">
                <a:solidFill>
                  <a:srgbClr val="34A853"/>
                </a:solidFill>
                <a:latin typeface="Arial" pitchFamily="34" charset="0"/>
                <a:ea typeface="Arial" pitchFamily="34" charset="-122"/>
                <a:cs typeface="Arial" pitchFamily="34" charset="-120"/>
              </a:rPr>
              <a:t>0.71</a:t>
            </a:r>
            <a:endParaRPr lang="en-US" sz="3000" dirty="0"/>
          </a:p>
        </p:txBody>
      </p:sp>
      <p:sp>
        <p:nvSpPr>
          <p:cNvPr id="37" name="Text 35"/>
          <p:cNvSpPr txBox="1"/>
          <p:nvPr/>
        </p:nvSpPr>
        <p:spPr>
          <a:xfrm>
            <a:off x="4597298" y="5614416"/>
            <a:ext cx="2997098" cy="457200"/>
          </a:xfrm>
          <a:prstGeom prst="rect">
            <a:avLst/>
          </a:prstGeom>
          <a:noFill/>
          <a:ln/>
        </p:spPr>
        <p:txBody>
          <a:bodyPr wrap="square" lIns="0" tIns="0" rIns="0" bIns="0" rtlCol="0" anchor="t"/>
          <a:lstStyle/>
          <a:p>
            <a:pPr indent="0" marL="0">
              <a:buNone/>
            </a:pPr>
            <a:r>
              <a:rPr lang="en-US" sz="1200" dirty="0">
                <a:solidFill>
                  <a:srgbClr val="5F6368"/>
                </a:solidFill>
                <a:latin typeface="Arial" pitchFamily="34" charset="0"/>
                <a:ea typeface="Arial" pitchFamily="34" charset="-122"/>
                <a:cs typeface="Arial" pitchFamily="34" charset="-120"/>
              </a:rPr>
              <a:t>match between forecast rain and NASA’s observed rain</a:t>
            </a:r>
            <a:endParaRPr lang="en-US" sz="1200" dirty="0"/>
          </a:p>
        </p:txBody>
      </p:sp>
      <p:sp>
        <p:nvSpPr>
          <p:cNvPr id="38" name="Shape 36"/>
          <p:cNvSpPr/>
          <p:nvPr/>
        </p:nvSpPr>
        <p:spPr>
          <a:xfrm>
            <a:off x="8097317" y="4892040"/>
            <a:ext cx="3545738" cy="1280160"/>
          </a:xfrm>
          <a:prstGeom prst="roundRect">
            <a:avLst>
              <a:gd name="adj" fmla="val 8571"/>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sp>
        <p:nvSpPr>
          <p:cNvPr id="39" name="Text 37"/>
          <p:cNvSpPr txBox="1"/>
          <p:nvPr/>
        </p:nvSpPr>
        <p:spPr>
          <a:xfrm>
            <a:off x="8371637" y="5001768"/>
            <a:ext cx="2997098" cy="594360"/>
          </a:xfrm>
          <a:prstGeom prst="rect">
            <a:avLst/>
          </a:prstGeom>
          <a:noFill/>
          <a:ln/>
        </p:spPr>
        <p:txBody>
          <a:bodyPr wrap="square" lIns="0" tIns="0" rIns="0" bIns="0" rtlCol="0" anchor="ctr"/>
          <a:lstStyle/>
          <a:p>
            <a:pPr indent="0" marL="0">
              <a:buNone/>
            </a:pPr>
            <a:r>
              <a:rPr lang="en-US" sz="3000" b="1" dirty="0">
                <a:solidFill>
                  <a:srgbClr val="EA4335"/>
                </a:solidFill>
                <a:latin typeface="Arial" pitchFamily="34" charset="0"/>
                <a:ea typeface="Arial" pitchFamily="34" charset="-122"/>
                <a:cs typeface="Arial" pitchFamily="34" charset="-120"/>
              </a:rPr>
              <a:t>2×</a:t>
            </a:r>
            <a:endParaRPr lang="en-US" sz="3000" dirty="0"/>
          </a:p>
        </p:txBody>
      </p:sp>
      <p:sp>
        <p:nvSpPr>
          <p:cNvPr id="40" name="Text 38"/>
          <p:cNvSpPr txBox="1"/>
          <p:nvPr/>
        </p:nvSpPr>
        <p:spPr>
          <a:xfrm>
            <a:off x="8371637" y="5614416"/>
            <a:ext cx="2997098" cy="457200"/>
          </a:xfrm>
          <a:prstGeom prst="rect">
            <a:avLst/>
          </a:prstGeom>
          <a:noFill/>
          <a:ln/>
        </p:spPr>
        <p:txBody>
          <a:bodyPr wrap="square" lIns="0" tIns="0" rIns="0" bIns="0" rtlCol="0" anchor="t"/>
          <a:lstStyle/>
          <a:p>
            <a:pPr indent="0" marL="0">
              <a:buNone/>
            </a:pPr>
            <a:r>
              <a:rPr lang="en-US" sz="1200" dirty="0">
                <a:solidFill>
                  <a:srgbClr val="5F6368"/>
                </a:solidFill>
                <a:latin typeface="Arial" pitchFamily="34" charset="0"/>
                <a:ea typeface="Arial" pitchFamily="34" charset="-122"/>
                <a:cs typeface="Arial" pitchFamily="34" charset="-120"/>
              </a:rPr>
              <a:t>satellites saw water twice as often on the roads we flagged</a:t>
            </a:r>
            <a:endParaRPr lang="en-US" sz="1200" dirty="0"/>
          </a:p>
        </p:txBody>
      </p:sp>
      <p:sp>
        <p:nvSpPr>
          <p:cNvPr id="41" name="Shape 39"/>
          <p:cNvSpPr/>
          <p:nvPr/>
        </p:nvSpPr>
        <p:spPr>
          <a:xfrm>
            <a:off x="548640" y="6492240"/>
            <a:ext cx="73152" cy="73152"/>
          </a:xfrm>
          <a:prstGeom prst="ellipse">
            <a:avLst/>
          </a:prstGeom>
          <a:solidFill>
            <a:srgbClr val="1A73E8"/>
          </a:solidFill>
          <a:ln/>
        </p:spPr>
      </p:sp>
      <p:sp>
        <p:nvSpPr>
          <p:cNvPr id="42" name="Shape 40"/>
          <p:cNvSpPr/>
          <p:nvPr/>
        </p:nvSpPr>
        <p:spPr>
          <a:xfrm>
            <a:off x="658368" y="6492240"/>
            <a:ext cx="73152" cy="73152"/>
          </a:xfrm>
          <a:prstGeom prst="ellipse">
            <a:avLst/>
          </a:prstGeom>
          <a:solidFill>
            <a:srgbClr val="EA4335"/>
          </a:solidFill>
          <a:ln/>
        </p:spPr>
      </p:sp>
      <p:sp>
        <p:nvSpPr>
          <p:cNvPr id="43" name="Shape 41"/>
          <p:cNvSpPr/>
          <p:nvPr/>
        </p:nvSpPr>
        <p:spPr>
          <a:xfrm>
            <a:off x="768096" y="6492240"/>
            <a:ext cx="73152" cy="73152"/>
          </a:xfrm>
          <a:prstGeom prst="ellipse">
            <a:avLst/>
          </a:prstGeom>
          <a:solidFill>
            <a:srgbClr val="FBBC04"/>
          </a:solidFill>
          <a:ln/>
        </p:spPr>
      </p:sp>
      <p:sp>
        <p:nvSpPr>
          <p:cNvPr id="44" name="Shape 42"/>
          <p:cNvSpPr/>
          <p:nvPr/>
        </p:nvSpPr>
        <p:spPr>
          <a:xfrm>
            <a:off x="877824" y="6492240"/>
            <a:ext cx="73152" cy="73152"/>
          </a:xfrm>
          <a:prstGeom prst="ellipse">
            <a:avLst/>
          </a:prstGeom>
          <a:solidFill>
            <a:srgbClr val="34A853"/>
          </a:solidFill>
          <a:ln/>
        </p:spPr>
      </p:sp>
      <p:sp>
        <p:nvSpPr>
          <p:cNvPr id="45" name="Text 43"/>
          <p:cNvSpPr txBox="1"/>
          <p:nvPr/>
        </p:nvSpPr>
        <p:spPr>
          <a:xfrm>
            <a:off x="1024128" y="6419088"/>
            <a:ext cx="4572000" cy="22860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Team Echo  ·  SurgeSight</a:t>
            </a:r>
            <a:endParaRPr lang="en-US" sz="950" dirty="0"/>
          </a:p>
        </p:txBody>
      </p:sp>
      <p:sp>
        <p:nvSpPr>
          <p:cNvPr id="46" name="Text 44"/>
          <p:cNvSpPr txBox="1"/>
          <p:nvPr/>
        </p:nvSpPr>
        <p:spPr>
          <a:xfrm>
            <a:off x="11094415" y="6419088"/>
            <a:ext cx="548640" cy="228600"/>
          </a:xfrm>
          <a:prstGeom prst="rect">
            <a:avLst/>
          </a:prstGeom>
          <a:noFill/>
          <a:ln/>
        </p:spPr>
        <p:txBody>
          <a:bodyPr wrap="square" lIns="0" tIns="0" rIns="0" bIns="0" rtlCol="0" anchor="ctr"/>
          <a:lstStyle/>
          <a:p>
            <a:pPr algn="r" indent="0" marL="0">
              <a:buNone/>
            </a:pPr>
            <a:r>
              <a:rPr lang="en-US" sz="950" dirty="0">
                <a:solidFill>
                  <a:srgbClr val="5F6368"/>
                </a:solidFill>
                <a:latin typeface="Arial" pitchFamily="34" charset="0"/>
                <a:ea typeface="Arial" pitchFamily="34" charset="-122"/>
                <a:cs typeface="Arial"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91440" cy="91440"/>
          </a:xfrm>
          <a:prstGeom prst="ellipse">
            <a:avLst/>
          </a:prstGeom>
          <a:solidFill>
            <a:srgbClr val="1A73E8"/>
          </a:solidFill>
          <a:ln/>
        </p:spPr>
      </p:sp>
      <p:sp>
        <p:nvSpPr>
          <p:cNvPr id="3" name="Shape 1"/>
          <p:cNvSpPr/>
          <p:nvPr/>
        </p:nvSpPr>
        <p:spPr>
          <a:xfrm>
            <a:off x="685800" y="475488"/>
            <a:ext cx="91440" cy="91440"/>
          </a:xfrm>
          <a:prstGeom prst="ellipse">
            <a:avLst/>
          </a:prstGeom>
          <a:solidFill>
            <a:srgbClr val="EA4335"/>
          </a:solidFill>
          <a:ln/>
        </p:spPr>
      </p:sp>
      <p:sp>
        <p:nvSpPr>
          <p:cNvPr id="4" name="Shape 2"/>
          <p:cNvSpPr/>
          <p:nvPr/>
        </p:nvSpPr>
        <p:spPr>
          <a:xfrm>
            <a:off x="822960" y="475488"/>
            <a:ext cx="91440" cy="91440"/>
          </a:xfrm>
          <a:prstGeom prst="ellipse">
            <a:avLst/>
          </a:prstGeom>
          <a:solidFill>
            <a:srgbClr val="FBBC04"/>
          </a:solidFill>
          <a:ln/>
        </p:spPr>
      </p:sp>
      <p:sp>
        <p:nvSpPr>
          <p:cNvPr id="5" name="Shape 3"/>
          <p:cNvSpPr/>
          <p:nvPr/>
        </p:nvSpPr>
        <p:spPr>
          <a:xfrm>
            <a:off x="960120" y="475488"/>
            <a:ext cx="91440" cy="91440"/>
          </a:xfrm>
          <a:prstGeom prst="ellipse">
            <a:avLst/>
          </a:prstGeom>
          <a:solidFill>
            <a:srgbClr val="34A853"/>
          </a:solidFill>
          <a:ln/>
        </p:spPr>
      </p:sp>
      <p:sp>
        <p:nvSpPr>
          <p:cNvPr id="6" name="Text 4"/>
          <p:cNvSpPr txBox="1"/>
          <p:nvPr/>
        </p:nvSpPr>
        <p:spPr>
          <a:xfrm>
            <a:off x="1115568" y="393192"/>
            <a:ext cx="8229600" cy="274320"/>
          </a:xfrm>
          <a:prstGeom prst="rect">
            <a:avLst/>
          </a:prstGeom>
          <a:noFill/>
          <a:ln/>
        </p:spPr>
        <p:txBody>
          <a:bodyPr wrap="square" lIns="0" tIns="0" rIns="0" bIns="0" rtlCol="0" anchor="ctr"/>
          <a:lstStyle/>
          <a:p>
            <a:pPr indent="0" marL="0">
              <a:buNone/>
            </a:pPr>
            <a:r>
              <a:rPr lang="en-US" sz="1100" b="1" spc="200" kern="0" dirty="0">
                <a:solidFill>
                  <a:srgbClr val="1A73E8"/>
                </a:solidFill>
                <a:latin typeface="Arial" pitchFamily="34" charset="0"/>
                <a:ea typeface="Arial" pitchFamily="34" charset="-122"/>
                <a:cs typeface="Arial" pitchFamily="34" charset="-120"/>
              </a:rPr>
              <a:t>BUILT ON GOOGLE</a:t>
            </a:r>
            <a:endParaRPr lang="en-US" sz="1100" dirty="0"/>
          </a:p>
        </p:txBody>
      </p:sp>
      <p:sp>
        <p:nvSpPr>
          <p:cNvPr id="7" name="Text 5"/>
          <p:cNvSpPr txBox="1"/>
          <p:nvPr/>
        </p:nvSpPr>
        <p:spPr>
          <a:xfrm>
            <a:off x="548640" y="786384"/>
            <a:ext cx="11094415" cy="914400"/>
          </a:xfrm>
          <a:prstGeom prst="rect">
            <a:avLst/>
          </a:prstGeom>
          <a:noFill/>
          <a:ln/>
        </p:spPr>
        <p:txBody>
          <a:bodyPr wrap="square" lIns="0" tIns="0" rIns="0" bIns="0" rtlCol="0" anchor="t"/>
          <a:lstStyle/>
          <a:p>
            <a:pPr indent="0" marL="0">
              <a:buNone/>
            </a:pPr>
            <a:r>
              <a:rPr lang="en-US" sz="2700" b="1" dirty="0">
                <a:solidFill>
                  <a:srgbClr val="202124"/>
                </a:solidFill>
                <a:latin typeface="Arial" pitchFamily="34" charset="0"/>
                <a:ea typeface="Arial" pitchFamily="34" charset="-122"/>
                <a:cs typeface="Arial" pitchFamily="34" charset="-120"/>
              </a:rPr>
              <a:t>23 Google services, running on Cloud Run today.</a:t>
            </a:r>
            <a:endParaRPr lang="en-US" sz="2700" dirty="0"/>
          </a:p>
        </p:txBody>
      </p:sp>
      <p:pic>
        <p:nvPicPr>
          <p:cNvPr id="8" name="Image 0" descr="preencoded.png">    </p:cNvPr>
          <p:cNvPicPr>
            <a:picLocks noChangeAspect="1"/>
          </p:cNvPicPr>
          <p:nvPr/>
        </p:nvPicPr>
        <p:blipFill>
          <a:blip r:embed="rId1"/>
          <a:stretch>
            <a:fillRect/>
          </a:stretch>
        </p:blipFill>
        <p:spPr>
          <a:xfrm>
            <a:off x="548640" y="1700784"/>
            <a:ext cx="329184" cy="329184"/>
          </a:xfrm>
          <a:prstGeom prst="rect">
            <a:avLst/>
          </a:prstGeom>
        </p:spPr>
      </p:pic>
      <p:sp>
        <p:nvSpPr>
          <p:cNvPr id="9" name="Text 6"/>
          <p:cNvSpPr txBox="1"/>
          <p:nvPr/>
        </p:nvSpPr>
        <p:spPr>
          <a:xfrm>
            <a:off x="1005840" y="1645920"/>
            <a:ext cx="1554480" cy="438912"/>
          </a:xfrm>
          <a:prstGeom prst="rect">
            <a:avLst/>
          </a:prstGeom>
          <a:noFill/>
          <a:ln/>
        </p:spPr>
        <p:txBody>
          <a:bodyPr wrap="square" lIns="0" tIns="0" rIns="0" bIns="0" rtlCol="0" anchor="ctr"/>
          <a:lstStyle/>
          <a:p>
            <a:pPr indent="0" marL="0">
              <a:buNone/>
            </a:pPr>
            <a:r>
              <a:rPr lang="en-US" sz="1150" b="1" spc="150" kern="0" dirty="0">
                <a:solidFill>
                  <a:srgbClr val="1967D2"/>
                </a:solidFill>
                <a:latin typeface="Arial" pitchFamily="34" charset="0"/>
                <a:ea typeface="Arial" pitchFamily="34" charset="-122"/>
                <a:cs typeface="Arial" pitchFamily="34" charset="-120"/>
              </a:rPr>
              <a:t>AI</a:t>
            </a:r>
            <a:endParaRPr lang="en-US" sz="1150" dirty="0"/>
          </a:p>
        </p:txBody>
      </p:sp>
      <p:sp>
        <p:nvSpPr>
          <p:cNvPr id="10" name="Shape 7"/>
          <p:cNvSpPr/>
          <p:nvPr/>
        </p:nvSpPr>
        <p:spPr>
          <a:xfrm>
            <a:off x="2560320" y="1700784"/>
            <a:ext cx="1452067" cy="310896"/>
          </a:xfrm>
          <a:prstGeom prst="roundRect">
            <a:avLst>
              <a:gd name="adj" fmla="val 50000"/>
            </a:avLst>
          </a:prstGeom>
          <a:solidFill>
            <a:srgbClr val="E8F0FE"/>
          </a:solidFill>
          <a:ln/>
        </p:spPr>
      </p:sp>
      <p:sp>
        <p:nvSpPr>
          <p:cNvPr id="11" name="Text 8"/>
          <p:cNvSpPr txBox="1"/>
          <p:nvPr/>
        </p:nvSpPr>
        <p:spPr>
          <a:xfrm>
            <a:off x="2560320" y="1700784"/>
            <a:ext cx="1452067" cy="310896"/>
          </a:xfrm>
          <a:prstGeom prst="rect">
            <a:avLst/>
          </a:prstGeom>
          <a:noFill/>
          <a:ln/>
        </p:spPr>
        <p:txBody>
          <a:bodyPr wrap="square" lIns="0" tIns="0" rIns="0" bIns="0" rtlCol="0" anchor="ctr"/>
          <a:lstStyle/>
          <a:p>
            <a:pPr algn="ctr" indent="0" marL="0">
              <a:buNone/>
            </a:pPr>
            <a:r>
              <a:rPr lang="en-US" sz="1000" dirty="0">
                <a:solidFill>
                  <a:srgbClr val="1967D2"/>
                </a:solidFill>
                <a:latin typeface="Arial" pitchFamily="34" charset="0"/>
                <a:ea typeface="Arial" pitchFamily="34" charset="-122"/>
                <a:cs typeface="Arial" pitchFamily="34" charset="-120"/>
              </a:rPr>
              <a:t>Gemini 3.7 Flash</a:t>
            </a:r>
            <a:endParaRPr lang="en-US" sz="1000" dirty="0"/>
          </a:p>
        </p:txBody>
      </p:sp>
      <p:sp>
        <p:nvSpPr>
          <p:cNvPr id="12" name="Shape 9"/>
          <p:cNvSpPr/>
          <p:nvPr/>
        </p:nvSpPr>
        <p:spPr>
          <a:xfrm>
            <a:off x="4103827" y="1700784"/>
            <a:ext cx="952805" cy="310896"/>
          </a:xfrm>
          <a:prstGeom prst="roundRect">
            <a:avLst>
              <a:gd name="adj" fmla="val 50000"/>
            </a:avLst>
          </a:prstGeom>
          <a:solidFill>
            <a:srgbClr val="E8F0FE"/>
          </a:solidFill>
          <a:ln/>
        </p:spPr>
      </p:sp>
      <p:sp>
        <p:nvSpPr>
          <p:cNvPr id="13" name="Text 10"/>
          <p:cNvSpPr txBox="1"/>
          <p:nvPr/>
        </p:nvSpPr>
        <p:spPr>
          <a:xfrm>
            <a:off x="4103827" y="1700784"/>
            <a:ext cx="952805" cy="310896"/>
          </a:xfrm>
          <a:prstGeom prst="rect">
            <a:avLst/>
          </a:prstGeom>
          <a:noFill/>
          <a:ln/>
        </p:spPr>
        <p:txBody>
          <a:bodyPr wrap="square" lIns="0" tIns="0" rIns="0" bIns="0" rtlCol="0" anchor="ctr"/>
          <a:lstStyle/>
          <a:p>
            <a:pPr algn="ctr" indent="0" marL="0">
              <a:buNone/>
            </a:pPr>
            <a:r>
              <a:rPr lang="en-US" sz="1000" dirty="0">
                <a:solidFill>
                  <a:srgbClr val="1967D2"/>
                </a:solidFill>
                <a:latin typeface="Arial" pitchFamily="34" charset="0"/>
                <a:ea typeface="Arial" pitchFamily="34" charset="-122"/>
                <a:cs typeface="Arial" pitchFamily="34" charset="-120"/>
              </a:rPr>
              <a:t>Vertex AI</a:t>
            </a:r>
            <a:endParaRPr lang="en-US" sz="1000" dirty="0"/>
          </a:p>
        </p:txBody>
      </p:sp>
      <p:sp>
        <p:nvSpPr>
          <p:cNvPr id="14" name="Shape 11"/>
          <p:cNvSpPr/>
          <p:nvPr/>
        </p:nvSpPr>
        <p:spPr>
          <a:xfrm>
            <a:off x="5148072" y="1700784"/>
            <a:ext cx="1095451" cy="310896"/>
          </a:xfrm>
          <a:prstGeom prst="roundRect">
            <a:avLst>
              <a:gd name="adj" fmla="val 50000"/>
            </a:avLst>
          </a:prstGeom>
          <a:solidFill>
            <a:srgbClr val="E8F0FE"/>
          </a:solidFill>
          <a:ln/>
        </p:spPr>
      </p:sp>
      <p:sp>
        <p:nvSpPr>
          <p:cNvPr id="15" name="Text 12"/>
          <p:cNvSpPr txBox="1"/>
          <p:nvPr/>
        </p:nvSpPr>
        <p:spPr>
          <a:xfrm>
            <a:off x="5148072" y="1700784"/>
            <a:ext cx="1095451" cy="310896"/>
          </a:xfrm>
          <a:prstGeom prst="rect">
            <a:avLst/>
          </a:prstGeom>
          <a:noFill/>
          <a:ln/>
        </p:spPr>
        <p:txBody>
          <a:bodyPr wrap="square" lIns="0" tIns="0" rIns="0" bIns="0" rtlCol="0" anchor="ctr"/>
          <a:lstStyle/>
          <a:p>
            <a:pPr algn="ctr" indent="0" marL="0">
              <a:buNone/>
            </a:pPr>
            <a:r>
              <a:rPr lang="en-US" sz="1000" dirty="0">
                <a:solidFill>
                  <a:srgbClr val="1967D2"/>
                </a:solidFill>
                <a:latin typeface="Arial" pitchFamily="34" charset="0"/>
                <a:ea typeface="Arial" pitchFamily="34" charset="-122"/>
                <a:cs typeface="Arial" pitchFamily="34" charset="-120"/>
              </a:rPr>
              <a:t>Gemini Live</a:t>
            </a:r>
            <a:endParaRPr lang="en-US" sz="1000" dirty="0"/>
          </a:p>
        </p:txBody>
      </p:sp>
      <p:sp>
        <p:nvSpPr>
          <p:cNvPr id="16" name="Shape 13"/>
          <p:cNvSpPr/>
          <p:nvPr/>
        </p:nvSpPr>
        <p:spPr>
          <a:xfrm>
            <a:off x="2560320" y="2084832"/>
            <a:ext cx="1808683" cy="310896"/>
          </a:xfrm>
          <a:prstGeom prst="roundRect">
            <a:avLst>
              <a:gd name="adj" fmla="val 50000"/>
            </a:avLst>
          </a:prstGeom>
          <a:solidFill>
            <a:srgbClr val="E8F0FE"/>
          </a:solidFill>
          <a:ln/>
        </p:spPr>
      </p:sp>
      <p:sp>
        <p:nvSpPr>
          <p:cNvPr id="17" name="Text 14"/>
          <p:cNvSpPr txBox="1"/>
          <p:nvPr/>
        </p:nvSpPr>
        <p:spPr>
          <a:xfrm>
            <a:off x="2560320" y="2084832"/>
            <a:ext cx="1808683" cy="310896"/>
          </a:xfrm>
          <a:prstGeom prst="rect">
            <a:avLst/>
          </a:prstGeom>
          <a:noFill/>
          <a:ln/>
        </p:spPr>
        <p:txBody>
          <a:bodyPr wrap="square" lIns="0" tIns="0" rIns="0" bIns="0" rtlCol="0" anchor="ctr"/>
          <a:lstStyle/>
          <a:p>
            <a:pPr algn="ctr" indent="0" marL="0">
              <a:buNone/>
            </a:pPr>
            <a:r>
              <a:rPr lang="en-US" sz="1000" dirty="0">
                <a:solidFill>
                  <a:srgbClr val="1967D2"/>
                </a:solidFill>
                <a:latin typeface="Arial" pitchFamily="34" charset="0"/>
                <a:ea typeface="Arial" pitchFamily="34" charset="-122"/>
                <a:cs typeface="Arial" pitchFamily="34" charset="-120"/>
              </a:rPr>
              <a:t>Agent Development Kit</a:t>
            </a:r>
            <a:endParaRPr lang="en-US" sz="1000" dirty="0"/>
          </a:p>
        </p:txBody>
      </p:sp>
      <p:sp>
        <p:nvSpPr>
          <p:cNvPr id="18" name="Shape 15"/>
          <p:cNvSpPr/>
          <p:nvPr/>
        </p:nvSpPr>
        <p:spPr>
          <a:xfrm>
            <a:off x="4460443" y="2084832"/>
            <a:ext cx="1452067" cy="310896"/>
          </a:xfrm>
          <a:prstGeom prst="roundRect">
            <a:avLst>
              <a:gd name="adj" fmla="val 50000"/>
            </a:avLst>
          </a:prstGeom>
          <a:solidFill>
            <a:srgbClr val="E8F0FE"/>
          </a:solidFill>
          <a:ln/>
        </p:spPr>
      </p:sp>
      <p:sp>
        <p:nvSpPr>
          <p:cNvPr id="19" name="Text 16"/>
          <p:cNvSpPr txBox="1"/>
          <p:nvPr/>
        </p:nvSpPr>
        <p:spPr>
          <a:xfrm>
            <a:off x="4460443" y="2084832"/>
            <a:ext cx="1452067" cy="310896"/>
          </a:xfrm>
          <a:prstGeom prst="rect">
            <a:avLst/>
          </a:prstGeom>
          <a:noFill/>
          <a:ln/>
        </p:spPr>
        <p:txBody>
          <a:bodyPr wrap="square" lIns="0" tIns="0" rIns="0" bIns="0" rtlCol="0" anchor="ctr"/>
          <a:lstStyle/>
          <a:p>
            <a:pPr algn="ctr" indent="0" marL="0">
              <a:buNone/>
            </a:pPr>
            <a:r>
              <a:rPr lang="en-US" sz="1000" dirty="0">
                <a:solidFill>
                  <a:srgbClr val="1967D2"/>
                </a:solidFill>
                <a:latin typeface="Arial" pitchFamily="34" charset="0"/>
                <a:ea typeface="Arial" pitchFamily="34" charset="-122"/>
                <a:cs typeface="Arial" pitchFamily="34" charset="-120"/>
              </a:rPr>
              <a:t>Search grounding</a:t>
            </a:r>
            <a:endParaRPr lang="en-US" sz="1000" dirty="0"/>
          </a:p>
        </p:txBody>
      </p:sp>
      <p:sp>
        <p:nvSpPr>
          <p:cNvPr id="20" name="Shape 17"/>
          <p:cNvSpPr/>
          <p:nvPr/>
        </p:nvSpPr>
        <p:spPr>
          <a:xfrm>
            <a:off x="6003950" y="2084832"/>
            <a:ext cx="1309421" cy="310896"/>
          </a:xfrm>
          <a:prstGeom prst="roundRect">
            <a:avLst>
              <a:gd name="adj" fmla="val 50000"/>
            </a:avLst>
          </a:prstGeom>
          <a:solidFill>
            <a:srgbClr val="E8F0FE"/>
          </a:solidFill>
          <a:ln/>
        </p:spPr>
      </p:sp>
      <p:sp>
        <p:nvSpPr>
          <p:cNvPr id="21" name="Text 18"/>
          <p:cNvSpPr txBox="1"/>
          <p:nvPr/>
        </p:nvSpPr>
        <p:spPr>
          <a:xfrm>
            <a:off x="6003950" y="2084832"/>
            <a:ext cx="1309421" cy="310896"/>
          </a:xfrm>
          <a:prstGeom prst="rect">
            <a:avLst/>
          </a:prstGeom>
          <a:noFill/>
          <a:ln/>
        </p:spPr>
        <p:txBody>
          <a:bodyPr wrap="square" lIns="0" tIns="0" rIns="0" bIns="0" rtlCol="0" anchor="ctr"/>
          <a:lstStyle/>
          <a:p>
            <a:pPr algn="ctr" indent="0" marL="0">
              <a:buNone/>
            </a:pPr>
            <a:r>
              <a:rPr lang="en-US" sz="1000" dirty="0">
                <a:solidFill>
                  <a:srgbClr val="1967D2"/>
                </a:solidFill>
                <a:latin typeface="Arial" pitchFamily="34" charset="0"/>
                <a:ea typeface="Arial" pitchFamily="34" charset="-122"/>
                <a:cs typeface="Arial" pitchFamily="34" charset="-120"/>
              </a:rPr>
              <a:t>Text-to-Speech</a:t>
            </a:r>
            <a:endParaRPr lang="en-US" sz="1000" dirty="0"/>
          </a:p>
        </p:txBody>
      </p:sp>
      <p:sp>
        <p:nvSpPr>
          <p:cNvPr id="22" name="Shape 19"/>
          <p:cNvSpPr/>
          <p:nvPr/>
        </p:nvSpPr>
        <p:spPr>
          <a:xfrm>
            <a:off x="2560320" y="2468880"/>
            <a:ext cx="1309421" cy="310896"/>
          </a:xfrm>
          <a:prstGeom prst="roundRect">
            <a:avLst>
              <a:gd name="adj" fmla="val 50000"/>
            </a:avLst>
          </a:prstGeom>
          <a:solidFill>
            <a:srgbClr val="E8F0FE"/>
          </a:solidFill>
          <a:ln/>
        </p:spPr>
      </p:sp>
      <p:sp>
        <p:nvSpPr>
          <p:cNvPr id="23" name="Text 20"/>
          <p:cNvSpPr txBox="1"/>
          <p:nvPr/>
        </p:nvSpPr>
        <p:spPr>
          <a:xfrm>
            <a:off x="2560320" y="2468880"/>
            <a:ext cx="1309421" cy="310896"/>
          </a:xfrm>
          <a:prstGeom prst="rect">
            <a:avLst/>
          </a:prstGeom>
          <a:noFill/>
          <a:ln/>
        </p:spPr>
        <p:txBody>
          <a:bodyPr wrap="square" lIns="0" tIns="0" rIns="0" bIns="0" rtlCol="0" anchor="ctr"/>
          <a:lstStyle/>
          <a:p>
            <a:pPr algn="ctr" indent="0" marL="0">
              <a:buNone/>
            </a:pPr>
            <a:r>
              <a:rPr lang="en-US" sz="1000" dirty="0">
                <a:solidFill>
                  <a:srgbClr val="1967D2"/>
                </a:solidFill>
                <a:latin typeface="Arial" pitchFamily="34" charset="0"/>
                <a:ea typeface="Arial" pitchFamily="34" charset="-122"/>
                <a:cs typeface="Arial" pitchFamily="34" charset="-120"/>
              </a:rPr>
              <a:t>Speech-to-Text</a:t>
            </a:r>
            <a:endParaRPr lang="en-US" sz="1000" dirty="0"/>
          </a:p>
        </p:txBody>
      </p:sp>
      <p:pic>
        <p:nvPicPr>
          <p:cNvPr id="24" name="Image 1" descr="preencoded.png">    </p:cNvPr>
          <p:cNvPicPr>
            <a:picLocks noChangeAspect="1"/>
          </p:cNvPicPr>
          <p:nvPr/>
        </p:nvPicPr>
        <p:blipFill>
          <a:blip r:embed="rId2"/>
          <a:stretch>
            <a:fillRect/>
          </a:stretch>
        </p:blipFill>
        <p:spPr>
          <a:xfrm>
            <a:off x="548640" y="3035808"/>
            <a:ext cx="329184" cy="329184"/>
          </a:xfrm>
          <a:prstGeom prst="rect">
            <a:avLst/>
          </a:prstGeom>
        </p:spPr>
      </p:pic>
      <p:sp>
        <p:nvSpPr>
          <p:cNvPr id="25" name="Text 21"/>
          <p:cNvSpPr txBox="1"/>
          <p:nvPr/>
        </p:nvSpPr>
        <p:spPr>
          <a:xfrm>
            <a:off x="1005840" y="2980944"/>
            <a:ext cx="1554480" cy="438912"/>
          </a:xfrm>
          <a:prstGeom prst="rect">
            <a:avLst/>
          </a:prstGeom>
          <a:noFill/>
          <a:ln/>
        </p:spPr>
        <p:txBody>
          <a:bodyPr wrap="square" lIns="0" tIns="0" rIns="0" bIns="0" rtlCol="0" anchor="ctr"/>
          <a:lstStyle/>
          <a:p>
            <a:pPr indent="0" marL="0">
              <a:buNone/>
            </a:pPr>
            <a:r>
              <a:rPr lang="en-US" sz="1150" b="1" spc="150" kern="0" dirty="0">
                <a:solidFill>
                  <a:srgbClr val="188038"/>
                </a:solidFill>
                <a:latin typeface="Arial" pitchFamily="34" charset="0"/>
                <a:ea typeface="Arial" pitchFamily="34" charset="-122"/>
                <a:cs typeface="Arial" pitchFamily="34" charset="-120"/>
              </a:rPr>
              <a:t>MAPS &amp; EARTH</a:t>
            </a:r>
            <a:endParaRPr lang="en-US" sz="1150" dirty="0"/>
          </a:p>
        </p:txBody>
      </p:sp>
      <p:sp>
        <p:nvSpPr>
          <p:cNvPr id="26" name="Shape 22"/>
          <p:cNvSpPr/>
          <p:nvPr/>
        </p:nvSpPr>
        <p:spPr>
          <a:xfrm>
            <a:off x="2560320" y="3035808"/>
            <a:ext cx="1166774" cy="310896"/>
          </a:xfrm>
          <a:prstGeom prst="roundRect">
            <a:avLst>
              <a:gd name="adj" fmla="val 50000"/>
            </a:avLst>
          </a:prstGeom>
          <a:solidFill>
            <a:srgbClr val="E6F4EA"/>
          </a:solidFill>
          <a:ln/>
        </p:spPr>
      </p:sp>
      <p:sp>
        <p:nvSpPr>
          <p:cNvPr id="27" name="Text 23"/>
          <p:cNvSpPr txBox="1"/>
          <p:nvPr/>
        </p:nvSpPr>
        <p:spPr>
          <a:xfrm>
            <a:off x="2560320" y="3035808"/>
            <a:ext cx="1166774" cy="310896"/>
          </a:xfrm>
          <a:prstGeom prst="rect">
            <a:avLst/>
          </a:prstGeom>
          <a:noFill/>
          <a:ln/>
        </p:spPr>
        <p:txBody>
          <a:bodyPr wrap="square" lIns="0" tIns="0" rIns="0" bIns="0" rtlCol="0" anchor="ctr"/>
          <a:lstStyle/>
          <a:p>
            <a:pPr algn="ctr" indent="0" marL="0">
              <a:buNone/>
            </a:pPr>
            <a:r>
              <a:rPr lang="en-US" sz="1000" dirty="0">
                <a:solidFill>
                  <a:srgbClr val="188038"/>
                </a:solidFill>
                <a:latin typeface="Arial" pitchFamily="34" charset="0"/>
                <a:ea typeface="Arial" pitchFamily="34" charset="-122"/>
                <a:cs typeface="Arial" pitchFamily="34" charset="-120"/>
              </a:rPr>
              <a:t>Earth Engine</a:t>
            </a:r>
            <a:endParaRPr lang="en-US" sz="1000" dirty="0"/>
          </a:p>
        </p:txBody>
      </p:sp>
      <p:sp>
        <p:nvSpPr>
          <p:cNvPr id="28" name="Shape 24"/>
          <p:cNvSpPr/>
          <p:nvPr/>
        </p:nvSpPr>
        <p:spPr>
          <a:xfrm>
            <a:off x="3818534" y="3035808"/>
            <a:ext cx="1380744" cy="310896"/>
          </a:xfrm>
          <a:prstGeom prst="roundRect">
            <a:avLst>
              <a:gd name="adj" fmla="val 50000"/>
            </a:avLst>
          </a:prstGeom>
          <a:solidFill>
            <a:srgbClr val="E6F4EA"/>
          </a:solidFill>
          <a:ln/>
        </p:spPr>
      </p:sp>
      <p:sp>
        <p:nvSpPr>
          <p:cNvPr id="29" name="Text 25"/>
          <p:cNvSpPr txBox="1"/>
          <p:nvPr/>
        </p:nvSpPr>
        <p:spPr>
          <a:xfrm>
            <a:off x="3818534" y="3035808"/>
            <a:ext cx="1380744" cy="310896"/>
          </a:xfrm>
          <a:prstGeom prst="rect">
            <a:avLst/>
          </a:prstGeom>
          <a:noFill/>
          <a:ln/>
        </p:spPr>
        <p:txBody>
          <a:bodyPr wrap="square" lIns="0" tIns="0" rIns="0" bIns="0" rtlCol="0" anchor="ctr"/>
          <a:lstStyle/>
          <a:p>
            <a:pPr algn="ctr" indent="0" marL="0">
              <a:buNone/>
            </a:pPr>
            <a:r>
              <a:rPr lang="en-US" sz="1000" dirty="0">
                <a:solidFill>
                  <a:srgbClr val="188038"/>
                </a:solidFill>
                <a:latin typeface="Arial" pitchFamily="34" charset="0"/>
                <a:ea typeface="Arial" pitchFamily="34" charset="-122"/>
                <a:cs typeface="Arial" pitchFamily="34" charset="-120"/>
              </a:rPr>
              <a:t>Maps JavaScript</a:t>
            </a:r>
            <a:endParaRPr lang="en-US" sz="1000" dirty="0"/>
          </a:p>
        </p:txBody>
      </p:sp>
      <p:sp>
        <p:nvSpPr>
          <p:cNvPr id="30" name="Shape 26"/>
          <p:cNvSpPr/>
          <p:nvPr/>
        </p:nvSpPr>
        <p:spPr>
          <a:xfrm>
            <a:off x="5290718" y="3035808"/>
            <a:ext cx="738835" cy="310896"/>
          </a:xfrm>
          <a:prstGeom prst="roundRect">
            <a:avLst>
              <a:gd name="adj" fmla="val 50000"/>
            </a:avLst>
          </a:prstGeom>
          <a:solidFill>
            <a:srgbClr val="E6F4EA"/>
          </a:solidFill>
          <a:ln/>
        </p:spPr>
      </p:sp>
      <p:sp>
        <p:nvSpPr>
          <p:cNvPr id="31" name="Text 27"/>
          <p:cNvSpPr txBox="1"/>
          <p:nvPr/>
        </p:nvSpPr>
        <p:spPr>
          <a:xfrm>
            <a:off x="5290718" y="3035808"/>
            <a:ext cx="738835" cy="310896"/>
          </a:xfrm>
          <a:prstGeom prst="rect">
            <a:avLst/>
          </a:prstGeom>
          <a:noFill/>
          <a:ln/>
        </p:spPr>
        <p:txBody>
          <a:bodyPr wrap="square" lIns="0" tIns="0" rIns="0" bIns="0" rtlCol="0" anchor="ctr"/>
          <a:lstStyle/>
          <a:p>
            <a:pPr algn="ctr" indent="0" marL="0">
              <a:buNone/>
            </a:pPr>
            <a:r>
              <a:rPr lang="en-US" sz="1000" dirty="0">
                <a:solidFill>
                  <a:srgbClr val="188038"/>
                </a:solidFill>
                <a:latin typeface="Arial" pitchFamily="34" charset="0"/>
                <a:ea typeface="Arial" pitchFamily="34" charset="-122"/>
                <a:cs typeface="Arial" pitchFamily="34" charset="-120"/>
              </a:rPr>
              <a:t>Places</a:t>
            </a:r>
            <a:endParaRPr lang="en-US" sz="1000" dirty="0"/>
          </a:p>
        </p:txBody>
      </p:sp>
      <p:sp>
        <p:nvSpPr>
          <p:cNvPr id="32" name="Shape 28"/>
          <p:cNvSpPr/>
          <p:nvPr/>
        </p:nvSpPr>
        <p:spPr>
          <a:xfrm>
            <a:off x="6120994" y="3035808"/>
            <a:ext cx="738835" cy="310896"/>
          </a:xfrm>
          <a:prstGeom prst="roundRect">
            <a:avLst>
              <a:gd name="adj" fmla="val 50000"/>
            </a:avLst>
          </a:prstGeom>
          <a:solidFill>
            <a:srgbClr val="E6F4EA"/>
          </a:solidFill>
          <a:ln/>
        </p:spPr>
      </p:sp>
      <p:sp>
        <p:nvSpPr>
          <p:cNvPr id="33" name="Text 29"/>
          <p:cNvSpPr txBox="1"/>
          <p:nvPr/>
        </p:nvSpPr>
        <p:spPr>
          <a:xfrm>
            <a:off x="6120994" y="3035808"/>
            <a:ext cx="738835" cy="310896"/>
          </a:xfrm>
          <a:prstGeom prst="rect">
            <a:avLst/>
          </a:prstGeom>
          <a:noFill/>
          <a:ln/>
        </p:spPr>
        <p:txBody>
          <a:bodyPr wrap="square" lIns="0" tIns="0" rIns="0" bIns="0" rtlCol="0" anchor="ctr"/>
          <a:lstStyle/>
          <a:p>
            <a:pPr algn="ctr" indent="0" marL="0">
              <a:buNone/>
            </a:pPr>
            <a:r>
              <a:rPr lang="en-US" sz="1000" dirty="0">
                <a:solidFill>
                  <a:srgbClr val="188038"/>
                </a:solidFill>
                <a:latin typeface="Arial" pitchFamily="34" charset="0"/>
                <a:ea typeface="Arial" pitchFamily="34" charset="-122"/>
                <a:cs typeface="Arial" pitchFamily="34" charset="-120"/>
              </a:rPr>
              <a:t>Routes</a:t>
            </a:r>
            <a:endParaRPr lang="en-US" sz="1000" dirty="0"/>
          </a:p>
        </p:txBody>
      </p:sp>
      <p:sp>
        <p:nvSpPr>
          <p:cNvPr id="34" name="Shape 30"/>
          <p:cNvSpPr/>
          <p:nvPr/>
        </p:nvSpPr>
        <p:spPr>
          <a:xfrm>
            <a:off x="2560320" y="3419856"/>
            <a:ext cx="952805" cy="310896"/>
          </a:xfrm>
          <a:prstGeom prst="roundRect">
            <a:avLst>
              <a:gd name="adj" fmla="val 50000"/>
            </a:avLst>
          </a:prstGeom>
          <a:solidFill>
            <a:srgbClr val="E6F4EA"/>
          </a:solidFill>
          <a:ln/>
        </p:spPr>
      </p:sp>
      <p:sp>
        <p:nvSpPr>
          <p:cNvPr id="35" name="Text 31"/>
          <p:cNvSpPr txBox="1"/>
          <p:nvPr/>
        </p:nvSpPr>
        <p:spPr>
          <a:xfrm>
            <a:off x="2560320" y="3419856"/>
            <a:ext cx="952805" cy="310896"/>
          </a:xfrm>
          <a:prstGeom prst="rect">
            <a:avLst/>
          </a:prstGeom>
          <a:noFill/>
          <a:ln/>
        </p:spPr>
        <p:txBody>
          <a:bodyPr wrap="square" lIns="0" tIns="0" rIns="0" bIns="0" rtlCol="0" anchor="ctr"/>
          <a:lstStyle/>
          <a:p>
            <a:pPr algn="ctr" indent="0" marL="0">
              <a:buNone/>
            </a:pPr>
            <a:r>
              <a:rPr lang="en-US" sz="1000" dirty="0">
                <a:solidFill>
                  <a:srgbClr val="188038"/>
                </a:solidFill>
                <a:latin typeface="Arial" pitchFamily="34" charset="0"/>
                <a:ea typeface="Arial" pitchFamily="34" charset="-122"/>
                <a:cs typeface="Arial" pitchFamily="34" charset="-120"/>
              </a:rPr>
              <a:t>Geocoding</a:t>
            </a:r>
            <a:endParaRPr lang="en-US" sz="1000" dirty="0"/>
          </a:p>
        </p:txBody>
      </p:sp>
      <p:sp>
        <p:nvSpPr>
          <p:cNvPr id="36" name="Shape 32"/>
          <p:cNvSpPr/>
          <p:nvPr/>
        </p:nvSpPr>
        <p:spPr>
          <a:xfrm>
            <a:off x="3604565" y="3419856"/>
            <a:ext cx="810158" cy="310896"/>
          </a:xfrm>
          <a:prstGeom prst="roundRect">
            <a:avLst>
              <a:gd name="adj" fmla="val 50000"/>
            </a:avLst>
          </a:prstGeom>
          <a:solidFill>
            <a:srgbClr val="E6F4EA"/>
          </a:solidFill>
          <a:ln/>
        </p:spPr>
      </p:sp>
      <p:sp>
        <p:nvSpPr>
          <p:cNvPr id="37" name="Text 33"/>
          <p:cNvSpPr txBox="1"/>
          <p:nvPr/>
        </p:nvSpPr>
        <p:spPr>
          <a:xfrm>
            <a:off x="3604565" y="3419856"/>
            <a:ext cx="810158" cy="310896"/>
          </a:xfrm>
          <a:prstGeom prst="rect">
            <a:avLst/>
          </a:prstGeom>
          <a:noFill/>
          <a:ln/>
        </p:spPr>
        <p:txBody>
          <a:bodyPr wrap="square" lIns="0" tIns="0" rIns="0" bIns="0" rtlCol="0" anchor="ctr"/>
          <a:lstStyle/>
          <a:p>
            <a:pPr algn="ctr" indent="0" marL="0">
              <a:buNone/>
            </a:pPr>
            <a:r>
              <a:rPr lang="en-US" sz="1000" dirty="0">
                <a:solidFill>
                  <a:srgbClr val="188038"/>
                </a:solidFill>
                <a:latin typeface="Arial" pitchFamily="34" charset="0"/>
                <a:ea typeface="Arial" pitchFamily="34" charset="-122"/>
                <a:cs typeface="Arial" pitchFamily="34" charset="-120"/>
              </a:rPr>
              <a:t>Weather</a:t>
            </a:r>
            <a:endParaRPr lang="en-US" sz="1000" dirty="0"/>
          </a:p>
        </p:txBody>
      </p:sp>
      <p:pic>
        <p:nvPicPr>
          <p:cNvPr id="38" name="Image 2" descr="preencoded.png">    </p:cNvPr>
          <p:cNvPicPr>
            <a:picLocks noChangeAspect="1"/>
          </p:cNvPicPr>
          <p:nvPr/>
        </p:nvPicPr>
        <p:blipFill>
          <a:blip r:embed="rId3"/>
          <a:stretch>
            <a:fillRect/>
          </a:stretch>
        </p:blipFill>
        <p:spPr>
          <a:xfrm>
            <a:off x="548640" y="3986784"/>
            <a:ext cx="329184" cy="329184"/>
          </a:xfrm>
          <a:prstGeom prst="rect">
            <a:avLst/>
          </a:prstGeom>
        </p:spPr>
      </p:pic>
      <p:sp>
        <p:nvSpPr>
          <p:cNvPr id="39" name="Text 34"/>
          <p:cNvSpPr txBox="1"/>
          <p:nvPr/>
        </p:nvSpPr>
        <p:spPr>
          <a:xfrm>
            <a:off x="1005840" y="3931920"/>
            <a:ext cx="1554480" cy="438912"/>
          </a:xfrm>
          <a:prstGeom prst="rect">
            <a:avLst/>
          </a:prstGeom>
          <a:noFill/>
          <a:ln/>
        </p:spPr>
        <p:txBody>
          <a:bodyPr wrap="square" lIns="0" tIns="0" rIns="0" bIns="0" rtlCol="0" anchor="ctr"/>
          <a:lstStyle/>
          <a:p>
            <a:pPr indent="0" marL="0">
              <a:buNone/>
            </a:pPr>
            <a:r>
              <a:rPr lang="en-US" sz="1150" b="1" spc="150" kern="0" dirty="0">
                <a:solidFill>
                  <a:srgbClr val="B06000"/>
                </a:solidFill>
                <a:latin typeface="Arial" pitchFamily="34" charset="0"/>
                <a:ea typeface="Arial" pitchFamily="34" charset="-122"/>
                <a:cs typeface="Arial" pitchFamily="34" charset="-120"/>
              </a:rPr>
              <a:t>DATA</a:t>
            </a:r>
            <a:endParaRPr lang="en-US" sz="1150" dirty="0"/>
          </a:p>
        </p:txBody>
      </p:sp>
      <p:sp>
        <p:nvSpPr>
          <p:cNvPr id="40" name="Shape 35"/>
          <p:cNvSpPr/>
          <p:nvPr/>
        </p:nvSpPr>
        <p:spPr>
          <a:xfrm>
            <a:off x="2560320" y="3986784"/>
            <a:ext cx="1166774" cy="310896"/>
          </a:xfrm>
          <a:prstGeom prst="roundRect">
            <a:avLst>
              <a:gd name="adj" fmla="val 50000"/>
            </a:avLst>
          </a:prstGeom>
          <a:solidFill>
            <a:srgbClr val="FEF7E0"/>
          </a:solidFill>
          <a:ln/>
        </p:spPr>
      </p:sp>
      <p:sp>
        <p:nvSpPr>
          <p:cNvPr id="41" name="Text 36"/>
          <p:cNvSpPr txBox="1"/>
          <p:nvPr/>
        </p:nvSpPr>
        <p:spPr>
          <a:xfrm>
            <a:off x="2560320" y="3986784"/>
            <a:ext cx="1166774" cy="310896"/>
          </a:xfrm>
          <a:prstGeom prst="rect">
            <a:avLst/>
          </a:prstGeom>
          <a:noFill/>
          <a:ln/>
        </p:spPr>
        <p:txBody>
          <a:bodyPr wrap="square" lIns="0" tIns="0" rIns="0" bIns="0" rtlCol="0" anchor="ctr"/>
          <a:lstStyle/>
          <a:p>
            <a:pPr algn="ctr" indent="0" marL="0">
              <a:buNone/>
            </a:pPr>
            <a:r>
              <a:rPr lang="en-US" sz="1000" dirty="0">
                <a:solidFill>
                  <a:srgbClr val="B06000"/>
                </a:solidFill>
                <a:latin typeface="Arial" pitchFamily="34" charset="0"/>
                <a:ea typeface="Arial" pitchFamily="34" charset="-122"/>
                <a:cs typeface="Arial" pitchFamily="34" charset="-120"/>
              </a:rPr>
              <a:t>BigQuery GIS</a:t>
            </a:r>
            <a:endParaRPr lang="en-US" sz="1000" dirty="0"/>
          </a:p>
        </p:txBody>
      </p:sp>
      <p:sp>
        <p:nvSpPr>
          <p:cNvPr id="42" name="Shape 37"/>
          <p:cNvSpPr/>
          <p:nvPr/>
        </p:nvSpPr>
        <p:spPr>
          <a:xfrm>
            <a:off x="3818534" y="3986784"/>
            <a:ext cx="952805" cy="310896"/>
          </a:xfrm>
          <a:prstGeom prst="roundRect">
            <a:avLst>
              <a:gd name="adj" fmla="val 50000"/>
            </a:avLst>
          </a:prstGeom>
          <a:solidFill>
            <a:srgbClr val="FEF7E0"/>
          </a:solidFill>
          <a:ln/>
        </p:spPr>
      </p:sp>
      <p:sp>
        <p:nvSpPr>
          <p:cNvPr id="43" name="Text 38"/>
          <p:cNvSpPr txBox="1"/>
          <p:nvPr/>
        </p:nvSpPr>
        <p:spPr>
          <a:xfrm>
            <a:off x="3818534" y="3986784"/>
            <a:ext cx="952805" cy="310896"/>
          </a:xfrm>
          <a:prstGeom prst="rect">
            <a:avLst/>
          </a:prstGeom>
          <a:noFill/>
          <a:ln/>
        </p:spPr>
        <p:txBody>
          <a:bodyPr wrap="square" lIns="0" tIns="0" rIns="0" bIns="0" rtlCol="0" anchor="ctr"/>
          <a:lstStyle/>
          <a:p>
            <a:pPr algn="ctr" indent="0" marL="0">
              <a:buNone/>
            </a:pPr>
            <a:r>
              <a:rPr lang="en-US" sz="1000" dirty="0">
                <a:solidFill>
                  <a:srgbClr val="B06000"/>
                </a:solidFill>
                <a:latin typeface="Arial" pitchFamily="34" charset="0"/>
                <a:ea typeface="Arial" pitchFamily="34" charset="-122"/>
                <a:cs typeface="Arial" pitchFamily="34" charset="-120"/>
              </a:rPr>
              <a:t>Firestore</a:t>
            </a:r>
            <a:endParaRPr lang="en-US" sz="1000" dirty="0"/>
          </a:p>
        </p:txBody>
      </p:sp>
      <p:sp>
        <p:nvSpPr>
          <p:cNvPr id="44" name="Shape 39"/>
          <p:cNvSpPr/>
          <p:nvPr/>
        </p:nvSpPr>
        <p:spPr>
          <a:xfrm>
            <a:off x="4862779" y="3986784"/>
            <a:ext cx="1238098" cy="310896"/>
          </a:xfrm>
          <a:prstGeom prst="roundRect">
            <a:avLst>
              <a:gd name="adj" fmla="val 50000"/>
            </a:avLst>
          </a:prstGeom>
          <a:solidFill>
            <a:srgbClr val="FEF7E0"/>
          </a:solidFill>
          <a:ln/>
        </p:spPr>
      </p:sp>
      <p:sp>
        <p:nvSpPr>
          <p:cNvPr id="45" name="Text 40"/>
          <p:cNvSpPr txBox="1"/>
          <p:nvPr/>
        </p:nvSpPr>
        <p:spPr>
          <a:xfrm>
            <a:off x="4862779" y="3986784"/>
            <a:ext cx="1238098" cy="310896"/>
          </a:xfrm>
          <a:prstGeom prst="rect">
            <a:avLst/>
          </a:prstGeom>
          <a:noFill/>
          <a:ln/>
        </p:spPr>
        <p:txBody>
          <a:bodyPr wrap="square" lIns="0" tIns="0" rIns="0" bIns="0" rtlCol="0" anchor="ctr"/>
          <a:lstStyle/>
          <a:p>
            <a:pPr algn="ctr" indent="0" marL="0">
              <a:buNone/>
            </a:pPr>
            <a:r>
              <a:rPr lang="en-US" sz="1000" dirty="0">
                <a:solidFill>
                  <a:srgbClr val="B06000"/>
                </a:solidFill>
                <a:latin typeface="Arial" pitchFamily="34" charset="0"/>
                <a:ea typeface="Arial" pitchFamily="34" charset="-122"/>
                <a:cs typeface="Arial" pitchFamily="34" charset="-120"/>
              </a:rPr>
              <a:t>Cloud Storage</a:t>
            </a:r>
            <a:endParaRPr lang="en-US" sz="1000" dirty="0"/>
          </a:p>
        </p:txBody>
      </p:sp>
      <p:pic>
        <p:nvPicPr>
          <p:cNvPr id="46" name="Image 3" descr="preencoded.png">    </p:cNvPr>
          <p:cNvPicPr>
            <a:picLocks noChangeAspect="1"/>
          </p:cNvPicPr>
          <p:nvPr/>
        </p:nvPicPr>
        <p:blipFill>
          <a:blip r:embed="rId4"/>
          <a:stretch>
            <a:fillRect/>
          </a:stretch>
        </p:blipFill>
        <p:spPr>
          <a:xfrm>
            <a:off x="548640" y="4553712"/>
            <a:ext cx="329184" cy="329184"/>
          </a:xfrm>
          <a:prstGeom prst="rect">
            <a:avLst/>
          </a:prstGeom>
        </p:spPr>
      </p:pic>
      <p:sp>
        <p:nvSpPr>
          <p:cNvPr id="47" name="Text 41"/>
          <p:cNvSpPr txBox="1"/>
          <p:nvPr/>
        </p:nvSpPr>
        <p:spPr>
          <a:xfrm>
            <a:off x="1005840" y="4498848"/>
            <a:ext cx="1554480" cy="438912"/>
          </a:xfrm>
          <a:prstGeom prst="rect">
            <a:avLst/>
          </a:prstGeom>
          <a:noFill/>
          <a:ln/>
        </p:spPr>
        <p:txBody>
          <a:bodyPr wrap="square" lIns="0" tIns="0" rIns="0" bIns="0" rtlCol="0" anchor="ctr"/>
          <a:lstStyle/>
          <a:p>
            <a:pPr indent="0" marL="0">
              <a:buNone/>
            </a:pPr>
            <a:r>
              <a:rPr lang="en-US" sz="1150" b="1" spc="150" kern="0" dirty="0">
                <a:solidFill>
                  <a:srgbClr val="C5221F"/>
                </a:solidFill>
                <a:latin typeface="Arial" pitchFamily="34" charset="0"/>
                <a:ea typeface="Arial" pitchFamily="34" charset="-122"/>
                <a:cs typeface="Arial" pitchFamily="34" charset="-120"/>
              </a:rPr>
              <a:t>ALERTS</a:t>
            </a:r>
            <a:endParaRPr lang="en-US" sz="1150" dirty="0"/>
          </a:p>
        </p:txBody>
      </p:sp>
      <p:sp>
        <p:nvSpPr>
          <p:cNvPr id="48" name="Shape 42"/>
          <p:cNvSpPr/>
          <p:nvPr/>
        </p:nvSpPr>
        <p:spPr>
          <a:xfrm>
            <a:off x="2560320" y="4553712"/>
            <a:ext cx="952805" cy="310896"/>
          </a:xfrm>
          <a:prstGeom prst="roundRect">
            <a:avLst>
              <a:gd name="adj" fmla="val 50000"/>
            </a:avLst>
          </a:prstGeom>
          <a:solidFill>
            <a:srgbClr val="FCE8E6"/>
          </a:solidFill>
          <a:ln/>
        </p:spPr>
      </p:sp>
      <p:sp>
        <p:nvSpPr>
          <p:cNvPr id="49" name="Text 43"/>
          <p:cNvSpPr txBox="1"/>
          <p:nvPr/>
        </p:nvSpPr>
        <p:spPr>
          <a:xfrm>
            <a:off x="2560320" y="4553712"/>
            <a:ext cx="952805" cy="310896"/>
          </a:xfrm>
          <a:prstGeom prst="rect">
            <a:avLst/>
          </a:prstGeom>
          <a:noFill/>
          <a:ln/>
        </p:spPr>
        <p:txBody>
          <a:bodyPr wrap="square" lIns="0" tIns="0" rIns="0" bIns="0" rtlCol="0" anchor="ctr"/>
          <a:lstStyle/>
          <a:p>
            <a:pPr algn="ctr" indent="0" marL="0">
              <a:buNone/>
            </a:pPr>
            <a:r>
              <a:rPr lang="en-US" sz="1000" dirty="0">
                <a:solidFill>
                  <a:srgbClr val="C5221F"/>
                </a:solidFill>
                <a:latin typeface="Arial" pitchFamily="34" charset="0"/>
                <a:ea typeface="Arial" pitchFamily="34" charset="-122"/>
                <a:cs typeface="Arial" pitchFamily="34" charset="-120"/>
              </a:rPr>
              <a:t>Gmail API</a:t>
            </a:r>
            <a:endParaRPr lang="en-US" sz="1000" dirty="0"/>
          </a:p>
        </p:txBody>
      </p:sp>
      <p:sp>
        <p:nvSpPr>
          <p:cNvPr id="50" name="Shape 44"/>
          <p:cNvSpPr/>
          <p:nvPr/>
        </p:nvSpPr>
        <p:spPr>
          <a:xfrm>
            <a:off x="3604565" y="4553712"/>
            <a:ext cx="1594714" cy="310896"/>
          </a:xfrm>
          <a:prstGeom prst="roundRect">
            <a:avLst>
              <a:gd name="adj" fmla="val 50000"/>
            </a:avLst>
          </a:prstGeom>
          <a:solidFill>
            <a:srgbClr val="FCE8E6"/>
          </a:solidFill>
          <a:ln/>
        </p:spPr>
      </p:sp>
      <p:sp>
        <p:nvSpPr>
          <p:cNvPr id="51" name="Text 45"/>
          <p:cNvSpPr txBox="1"/>
          <p:nvPr/>
        </p:nvSpPr>
        <p:spPr>
          <a:xfrm>
            <a:off x="3604565" y="4553712"/>
            <a:ext cx="1594714" cy="310896"/>
          </a:xfrm>
          <a:prstGeom prst="rect">
            <a:avLst/>
          </a:prstGeom>
          <a:noFill/>
          <a:ln/>
        </p:spPr>
        <p:txBody>
          <a:bodyPr wrap="square" lIns="0" tIns="0" rIns="0" bIns="0" rtlCol="0" anchor="ctr"/>
          <a:lstStyle/>
          <a:p>
            <a:pPr algn="ctr" indent="0" marL="0">
              <a:buNone/>
            </a:pPr>
            <a:r>
              <a:rPr lang="en-US" sz="1000" dirty="0">
                <a:solidFill>
                  <a:srgbClr val="C5221F"/>
                </a:solidFill>
                <a:latin typeface="Arial" pitchFamily="34" charset="0"/>
                <a:ea typeface="Arial" pitchFamily="34" charset="-122"/>
                <a:cs typeface="Arial" pitchFamily="34" charset="-120"/>
              </a:rPr>
              <a:t>Firebase Messaging</a:t>
            </a:r>
            <a:endParaRPr lang="en-US" sz="1000" dirty="0"/>
          </a:p>
        </p:txBody>
      </p:sp>
      <p:sp>
        <p:nvSpPr>
          <p:cNvPr id="52" name="Shape 46"/>
          <p:cNvSpPr/>
          <p:nvPr/>
        </p:nvSpPr>
        <p:spPr>
          <a:xfrm>
            <a:off x="5290718" y="4553712"/>
            <a:ext cx="1238098" cy="310896"/>
          </a:xfrm>
          <a:prstGeom prst="roundRect">
            <a:avLst>
              <a:gd name="adj" fmla="val 50000"/>
            </a:avLst>
          </a:prstGeom>
          <a:solidFill>
            <a:srgbClr val="FCE8E6"/>
          </a:solidFill>
          <a:ln/>
        </p:spPr>
      </p:sp>
      <p:sp>
        <p:nvSpPr>
          <p:cNvPr id="53" name="Text 47"/>
          <p:cNvSpPr txBox="1"/>
          <p:nvPr/>
        </p:nvSpPr>
        <p:spPr>
          <a:xfrm>
            <a:off x="5290718" y="4553712"/>
            <a:ext cx="1238098" cy="310896"/>
          </a:xfrm>
          <a:prstGeom prst="rect">
            <a:avLst/>
          </a:prstGeom>
          <a:noFill/>
          <a:ln/>
        </p:spPr>
        <p:txBody>
          <a:bodyPr wrap="square" lIns="0" tIns="0" rIns="0" bIns="0" rtlCol="0" anchor="ctr"/>
          <a:lstStyle/>
          <a:p>
            <a:pPr algn="ctr" indent="0" marL="0">
              <a:buNone/>
            </a:pPr>
            <a:r>
              <a:rPr lang="en-US" sz="1000" dirty="0">
                <a:solidFill>
                  <a:srgbClr val="C5221F"/>
                </a:solidFill>
                <a:latin typeface="Arial" pitchFamily="34" charset="0"/>
                <a:ea typeface="Arial" pitchFamily="34" charset="-122"/>
                <a:cs typeface="Arial" pitchFamily="34" charset="-120"/>
              </a:rPr>
              <a:t>Firebase Auth</a:t>
            </a:r>
            <a:endParaRPr lang="en-US" sz="1000" dirty="0"/>
          </a:p>
        </p:txBody>
      </p:sp>
      <p:pic>
        <p:nvPicPr>
          <p:cNvPr id="54" name="Image 4" descr="preencoded.png">    </p:cNvPr>
          <p:cNvPicPr>
            <a:picLocks noChangeAspect="1"/>
          </p:cNvPicPr>
          <p:nvPr/>
        </p:nvPicPr>
        <p:blipFill>
          <a:blip r:embed="rId5"/>
          <a:stretch>
            <a:fillRect/>
          </a:stretch>
        </p:blipFill>
        <p:spPr>
          <a:xfrm>
            <a:off x="548640" y="5120640"/>
            <a:ext cx="329184" cy="329184"/>
          </a:xfrm>
          <a:prstGeom prst="rect">
            <a:avLst/>
          </a:prstGeom>
        </p:spPr>
      </p:pic>
      <p:sp>
        <p:nvSpPr>
          <p:cNvPr id="55" name="Text 48"/>
          <p:cNvSpPr txBox="1"/>
          <p:nvPr/>
        </p:nvSpPr>
        <p:spPr>
          <a:xfrm>
            <a:off x="1005840" y="5065776"/>
            <a:ext cx="1554480" cy="438912"/>
          </a:xfrm>
          <a:prstGeom prst="rect">
            <a:avLst/>
          </a:prstGeom>
          <a:noFill/>
          <a:ln/>
        </p:spPr>
        <p:txBody>
          <a:bodyPr wrap="square" lIns="0" tIns="0" rIns="0" bIns="0" rtlCol="0" anchor="ctr"/>
          <a:lstStyle/>
          <a:p>
            <a:pPr indent="0" marL="0">
              <a:buNone/>
            </a:pPr>
            <a:r>
              <a:rPr lang="en-US" sz="1150" b="1" spc="150" kern="0" dirty="0">
                <a:solidFill>
                  <a:srgbClr val="1967D2"/>
                </a:solidFill>
                <a:latin typeface="Arial" pitchFamily="34" charset="0"/>
                <a:ea typeface="Arial" pitchFamily="34" charset="-122"/>
                <a:cs typeface="Arial" pitchFamily="34" charset="-120"/>
              </a:rPr>
              <a:t>PLATFORM</a:t>
            </a:r>
            <a:endParaRPr lang="en-US" sz="1150" dirty="0"/>
          </a:p>
        </p:txBody>
      </p:sp>
      <p:sp>
        <p:nvSpPr>
          <p:cNvPr id="56" name="Shape 49"/>
          <p:cNvSpPr/>
          <p:nvPr/>
        </p:nvSpPr>
        <p:spPr>
          <a:xfrm>
            <a:off x="2560320" y="5120640"/>
            <a:ext cx="952805" cy="310896"/>
          </a:xfrm>
          <a:prstGeom prst="roundRect">
            <a:avLst>
              <a:gd name="adj" fmla="val 50000"/>
            </a:avLst>
          </a:prstGeom>
          <a:solidFill>
            <a:srgbClr val="E8F0FE"/>
          </a:solidFill>
          <a:ln/>
        </p:spPr>
      </p:sp>
      <p:sp>
        <p:nvSpPr>
          <p:cNvPr id="57" name="Text 50"/>
          <p:cNvSpPr txBox="1"/>
          <p:nvPr/>
        </p:nvSpPr>
        <p:spPr>
          <a:xfrm>
            <a:off x="2560320" y="5120640"/>
            <a:ext cx="952805" cy="310896"/>
          </a:xfrm>
          <a:prstGeom prst="rect">
            <a:avLst/>
          </a:prstGeom>
          <a:noFill/>
          <a:ln/>
        </p:spPr>
        <p:txBody>
          <a:bodyPr wrap="square" lIns="0" tIns="0" rIns="0" bIns="0" rtlCol="0" anchor="ctr"/>
          <a:lstStyle/>
          <a:p>
            <a:pPr algn="ctr" indent="0" marL="0">
              <a:buNone/>
            </a:pPr>
            <a:r>
              <a:rPr lang="en-US" sz="1000" dirty="0">
                <a:solidFill>
                  <a:srgbClr val="1967D2"/>
                </a:solidFill>
                <a:latin typeface="Arial" pitchFamily="34" charset="0"/>
                <a:ea typeface="Arial" pitchFamily="34" charset="-122"/>
                <a:cs typeface="Arial" pitchFamily="34" charset="-120"/>
              </a:rPr>
              <a:t>Cloud Run</a:t>
            </a:r>
            <a:endParaRPr lang="en-US" sz="1000" dirty="0"/>
          </a:p>
        </p:txBody>
      </p:sp>
      <p:sp>
        <p:nvSpPr>
          <p:cNvPr id="58" name="Shape 51"/>
          <p:cNvSpPr/>
          <p:nvPr/>
        </p:nvSpPr>
        <p:spPr>
          <a:xfrm>
            <a:off x="3604565" y="5120640"/>
            <a:ext cx="1380744" cy="310896"/>
          </a:xfrm>
          <a:prstGeom prst="roundRect">
            <a:avLst>
              <a:gd name="adj" fmla="val 50000"/>
            </a:avLst>
          </a:prstGeom>
          <a:solidFill>
            <a:srgbClr val="E8F0FE"/>
          </a:solidFill>
          <a:ln/>
        </p:spPr>
      </p:sp>
      <p:sp>
        <p:nvSpPr>
          <p:cNvPr id="59" name="Text 52"/>
          <p:cNvSpPr txBox="1"/>
          <p:nvPr/>
        </p:nvSpPr>
        <p:spPr>
          <a:xfrm>
            <a:off x="3604565" y="5120640"/>
            <a:ext cx="1380744" cy="310896"/>
          </a:xfrm>
          <a:prstGeom prst="rect">
            <a:avLst/>
          </a:prstGeom>
          <a:noFill/>
          <a:ln/>
        </p:spPr>
        <p:txBody>
          <a:bodyPr wrap="square" lIns="0" tIns="0" rIns="0" bIns="0" rtlCol="0" anchor="ctr"/>
          <a:lstStyle/>
          <a:p>
            <a:pPr algn="ctr" indent="0" marL="0">
              <a:buNone/>
            </a:pPr>
            <a:r>
              <a:rPr lang="en-US" sz="1000" dirty="0">
                <a:solidFill>
                  <a:srgbClr val="1967D2"/>
                </a:solidFill>
                <a:latin typeface="Arial" pitchFamily="34" charset="0"/>
                <a:ea typeface="Arial" pitchFamily="34" charset="-122"/>
                <a:cs typeface="Arial" pitchFamily="34" charset="-120"/>
              </a:rPr>
              <a:t>Cloud Scheduler</a:t>
            </a:r>
            <a:endParaRPr lang="en-US" sz="1000" dirty="0"/>
          </a:p>
        </p:txBody>
      </p:sp>
      <p:sp>
        <p:nvSpPr>
          <p:cNvPr id="60" name="Shape 53"/>
          <p:cNvSpPr/>
          <p:nvPr/>
        </p:nvSpPr>
        <p:spPr>
          <a:xfrm>
            <a:off x="5076749" y="5120640"/>
            <a:ext cx="1309421" cy="310896"/>
          </a:xfrm>
          <a:prstGeom prst="roundRect">
            <a:avLst>
              <a:gd name="adj" fmla="val 50000"/>
            </a:avLst>
          </a:prstGeom>
          <a:solidFill>
            <a:srgbClr val="E8F0FE"/>
          </a:solidFill>
          <a:ln/>
        </p:spPr>
      </p:sp>
      <p:sp>
        <p:nvSpPr>
          <p:cNvPr id="61" name="Text 54"/>
          <p:cNvSpPr txBox="1"/>
          <p:nvPr/>
        </p:nvSpPr>
        <p:spPr>
          <a:xfrm>
            <a:off x="5076749" y="5120640"/>
            <a:ext cx="1309421" cy="310896"/>
          </a:xfrm>
          <a:prstGeom prst="rect">
            <a:avLst/>
          </a:prstGeom>
          <a:noFill/>
          <a:ln/>
        </p:spPr>
        <p:txBody>
          <a:bodyPr wrap="square" lIns="0" tIns="0" rIns="0" bIns="0" rtlCol="0" anchor="ctr"/>
          <a:lstStyle/>
          <a:p>
            <a:pPr algn="ctr" indent="0" marL="0">
              <a:buNone/>
            </a:pPr>
            <a:r>
              <a:rPr lang="en-US" sz="1000" dirty="0">
                <a:solidFill>
                  <a:srgbClr val="1967D2"/>
                </a:solidFill>
                <a:latin typeface="Arial" pitchFamily="34" charset="0"/>
                <a:ea typeface="Arial" pitchFamily="34" charset="-122"/>
                <a:cs typeface="Arial" pitchFamily="34" charset="-120"/>
              </a:rPr>
              <a:t>Secret Manager</a:t>
            </a:r>
            <a:endParaRPr lang="en-US" sz="1000" dirty="0"/>
          </a:p>
        </p:txBody>
      </p:sp>
      <p:sp>
        <p:nvSpPr>
          <p:cNvPr id="62" name="Shape 55"/>
          <p:cNvSpPr/>
          <p:nvPr/>
        </p:nvSpPr>
        <p:spPr>
          <a:xfrm>
            <a:off x="2560320" y="5504688"/>
            <a:ext cx="1095451" cy="310896"/>
          </a:xfrm>
          <a:prstGeom prst="roundRect">
            <a:avLst>
              <a:gd name="adj" fmla="val 50000"/>
            </a:avLst>
          </a:prstGeom>
          <a:solidFill>
            <a:srgbClr val="E8F0FE"/>
          </a:solidFill>
          <a:ln/>
        </p:spPr>
      </p:sp>
      <p:sp>
        <p:nvSpPr>
          <p:cNvPr id="63" name="Text 56"/>
          <p:cNvSpPr txBox="1"/>
          <p:nvPr/>
        </p:nvSpPr>
        <p:spPr>
          <a:xfrm>
            <a:off x="2560320" y="5504688"/>
            <a:ext cx="1095451" cy="310896"/>
          </a:xfrm>
          <a:prstGeom prst="rect">
            <a:avLst/>
          </a:prstGeom>
          <a:noFill/>
          <a:ln/>
        </p:spPr>
        <p:txBody>
          <a:bodyPr wrap="square" lIns="0" tIns="0" rIns="0" bIns="0" rtlCol="0" anchor="ctr"/>
          <a:lstStyle/>
          <a:p>
            <a:pPr algn="ctr" indent="0" marL="0">
              <a:buNone/>
            </a:pPr>
            <a:r>
              <a:rPr lang="en-US" sz="1000" dirty="0">
                <a:solidFill>
                  <a:srgbClr val="1967D2"/>
                </a:solidFill>
                <a:latin typeface="Arial" pitchFamily="34" charset="0"/>
                <a:ea typeface="Arial" pitchFamily="34" charset="-122"/>
                <a:cs typeface="Arial" pitchFamily="34" charset="-120"/>
              </a:rPr>
              <a:t>Cloud Build</a:t>
            </a:r>
            <a:endParaRPr lang="en-US" sz="1000" dirty="0"/>
          </a:p>
        </p:txBody>
      </p:sp>
      <p:sp>
        <p:nvSpPr>
          <p:cNvPr id="64" name="Shape 57"/>
          <p:cNvSpPr/>
          <p:nvPr/>
        </p:nvSpPr>
        <p:spPr>
          <a:xfrm>
            <a:off x="3747211" y="5504688"/>
            <a:ext cx="1523390" cy="310896"/>
          </a:xfrm>
          <a:prstGeom prst="roundRect">
            <a:avLst>
              <a:gd name="adj" fmla="val 50000"/>
            </a:avLst>
          </a:prstGeom>
          <a:solidFill>
            <a:srgbClr val="E8F0FE"/>
          </a:solidFill>
          <a:ln/>
        </p:spPr>
      </p:sp>
      <p:sp>
        <p:nvSpPr>
          <p:cNvPr id="65" name="Text 58"/>
          <p:cNvSpPr txBox="1"/>
          <p:nvPr/>
        </p:nvSpPr>
        <p:spPr>
          <a:xfrm>
            <a:off x="3747211" y="5504688"/>
            <a:ext cx="1523390" cy="310896"/>
          </a:xfrm>
          <a:prstGeom prst="rect">
            <a:avLst/>
          </a:prstGeom>
          <a:noFill/>
          <a:ln/>
        </p:spPr>
        <p:txBody>
          <a:bodyPr wrap="square" lIns="0" tIns="0" rIns="0" bIns="0" rtlCol="0" anchor="ctr"/>
          <a:lstStyle/>
          <a:p>
            <a:pPr algn="ctr" indent="0" marL="0">
              <a:buNone/>
            </a:pPr>
            <a:r>
              <a:rPr lang="en-US" sz="1000" dirty="0">
                <a:solidFill>
                  <a:srgbClr val="1967D2"/>
                </a:solidFill>
                <a:latin typeface="Arial" pitchFamily="34" charset="0"/>
                <a:ea typeface="Arial" pitchFamily="34" charset="-122"/>
                <a:cs typeface="Arial" pitchFamily="34" charset="-120"/>
              </a:rPr>
              <a:t>Artifact Registry</a:t>
            </a:r>
            <a:endParaRPr lang="en-US" sz="1000" dirty="0"/>
          </a:p>
        </p:txBody>
      </p:sp>
      <p:sp>
        <p:nvSpPr>
          <p:cNvPr id="66" name="Shape 59"/>
          <p:cNvSpPr/>
          <p:nvPr/>
        </p:nvSpPr>
        <p:spPr>
          <a:xfrm>
            <a:off x="7909560" y="1645920"/>
            <a:ext cx="3733495" cy="4526280"/>
          </a:xfrm>
          <a:prstGeom prst="roundRect">
            <a:avLst>
              <a:gd name="adj" fmla="val 2939"/>
            </a:avLst>
          </a:prstGeom>
          <a:solidFill>
            <a:srgbClr val="F8F9FA"/>
          </a:solidFill>
          <a:ln/>
        </p:spPr>
      </p:sp>
      <p:pic>
        <p:nvPicPr>
          <p:cNvPr id="67" name="Image 5" descr="preencoded.png">    </p:cNvPr>
          <p:cNvPicPr>
            <a:picLocks noChangeAspect="1"/>
          </p:cNvPicPr>
          <p:nvPr/>
        </p:nvPicPr>
        <p:blipFill>
          <a:blip r:embed="rId6"/>
          <a:stretch>
            <a:fillRect/>
          </a:stretch>
        </p:blipFill>
        <p:spPr>
          <a:xfrm>
            <a:off x="8183880" y="1920240"/>
            <a:ext cx="420624" cy="420624"/>
          </a:xfrm>
          <a:prstGeom prst="rect">
            <a:avLst/>
          </a:prstGeom>
        </p:spPr>
      </p:pic>
      <p:sp>
        <p:nvSpPr>
          <p:cNvPr id="68" name="Text 60"/>
          <p:cNvSpPr txBox="1"/>
          <p:nvPr/>
        </p:nvSpPr>
        <p:spPr>
          <a:xfrm>
            <a:off x="8732520" y="1920240"/>
            <a:ext cx="2727655" cy="420624"/>
          </a:xfrm>
          <a:prstGeom prst="rect">
            <a:avLst/>
          </a:prstGeom>
          <a:noFill/>
          <a:ln/>
        </p:spPr>
        <p:txBody>
          <a:bodyPr wrap="square" lIns="0" tIns="0" rIns="0" bIns="0" rtlCol="0" anchor="ctr"/>
          <a:lstStyle/>
          <a:p>
            <a:pPr indent="0" marL="0">
              <a:buNone/>
            </a:pPr>
            <a:r>
              <a:rPr lang="en-US" sz="1700" b="1" dirty="0">
                <a:solidFill>
                  <a:srgbClr val="202124"/>
                </a:solidFill>
                <a:latin typeface="Arial" pitchFamily="34" charset="0"/>
                <a:ea typeface="Arial" pitchFamily="34" charset="-122"/>
                <a:cs typeface="Arial" pitchFamily="34" charset="-120"/>
              </a:rPr>
              <a:t>Live on Cloud Run</a:t>
            </a:r>
            <a:endParaRPr lang="en-US" sz="1700" dirty="0"/>
          </a:p>
        </p:txBody>
      </p:sp>
      <p:sp>
        <p:nvSpPr>
          <p:cNvPr id="69" name="Shape 61"/>
          <p:cNvSpPr/>
          <p:nvPr/>
        </p:nvSpPr>
        <p:spPr>
          <a:xfrm>
            <a:off x="8220456" y="2743200"/>
            <a:ext cx="109728" cy="109728"/>
          </a:xfrm>
          <a:prstGeom prst="ellipse">
            <a:avLst/>
          </a:prstGeom>
          <a:solidFill>
            <a:srgbClr val="1A73E8"/>
          </a:solidFill>
          <a:ln/>
        </p:spPr>
      </p:sp>
      <p:sp>
        <p:nvSpPr>
          <p:cNvPr id="70" name="Text 62"/>
          <p:cNvSpPr txBox="1"/>
          <p:nvPr/>
        </p:nvSpPr>
        <p:spPr>
          <a:xfrm>
            <a:off x="8476488" y="2651760"/>
            <a:ext cx="2956255" cy="292608"/>
          </a:xfrm>
          <a:prstGeom prst="rect">
            <a:avLst/>
          </a:prstGeom>
          <a:noFill/>
          <a:ln/>
        </p:spPr>
        <p:txBody>
          <a:bodyPr wrap="square" lIns="0" tIns="0" rIns="0" bIns="0" rtlCol="0" anchor="t"/>
          <a:lstStyle/>
          <a:p>
            <a:pPr indent="0" marL="0">
              <a:buNone/>
            </a:pPr>
            <a:r>
              <a:rPr lang="en-US" sz="1300" b="1" dirty="0">
                <a:solidFill>
                  <a:srgbClr val="202124"/>
                </a:solidFill>
                <a:latin typeface="Arial" pitchFamily="34" charset="0"/>
                <a:ea typeface="Arial" pitchFamily="34" charset="-122"/>
                <a:cs typeface="Arial" pitchFamily="34" charset="-120"/>
              </a:rPr>
              <a:t>One container, asia-south1</a:t>
            </a:r>
            <a:endParaRPr lang="en-US" sz="1300" dirty="0"/>
          </a:p>
        </p:txBody>
      </p:sp>
      <p:sp>
        <p:nvSpPr>
          <p:cNvPr id="71" name="Text 63"/>
          <p:cNvSpPr txBox="1"/>
          <p:nvPr/>
        </p:nvSpPr>
        <p:spPr>
          <a:xfrm>
            <a:off x="8476488" y="2944368"/>
            <a:ext cx="2956255" cy="292608"/>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Scales to zero; scales out on a storm day</a:t>
            </a:r>
            <a:endParaRPr lang="en-US" sz="1100" dirty="0"/>
          </a:p>
        </p:txBody>
      </p:sp>
      <p:sp>
        <p:nvSpPr>
          <p:cNvPr id="72" name="Shape 64"/>
          <p:cNvSpPr/>
          <p:nvPr/>
        </p:nvSpPr>
        <p:spPr>
          <a:xfrm>
            <a:off x="8220456" y="3566160"/>
            <a:ext cx="109728" cy="109728"/>
          </a:xfrm>
          <a:prstGeom prst="ellipse">
            <a:avLst/>
          </a:prstGeom>
          <a:solidFill>
            <a:srgbClr val="1A73E8"/>
          </a:solidFill>
          <a:ln/>
        </p:spPr>
      </p:sp>
      <p:sp>
        <p:nvSpPr>
          <p:cNvPr id="73" name="Text 65"/>
          <p:cNvSpPr txBox="1"/>
          <p:nvPr/>
        </p:nvSpPr>
        <p:spPr>
          <a:xfrm>
            <a:off x="8476488" y="3474720"/>
            <a:ext cx="2956255" cy="292608"/>
          </a:xfrm>
          <a:prstGeom prst="rect">
            <a:avLst/>
          </a:prstGeom>
          <a:noFill/>
          <a:ln/>
        </p:spPr>
        <p:txBody>
          <a:bodyPr wrap="square" lIns="0" tIns="0" rIns="0" bIns="0" rtlCol="0" anchor="t"/>
          <a:lstStyle/>
          <a:p>
            <a:pPr indent="0" marL="0">
              <a:buNone/>
            </a:pPr>
            <a:r>
              <a:rPr lang="en-US" sz="1300" b="1" dirty="0">
                <a:solidFill>
                  <a:srgbClr val="202124"/>
                </a:solidFill>
                <a:latin typeface="Arial" pitchFamily="34" charset="0"/>
                <a:ea typeface="Arial" pitchFamily="34" charset="-122"/>
                <a:cs typeface="Arial" pitchFamily="34" charset="-120"/>
              </a:rPr>
              <a:t>Weather refreshes itself</a:t>
            </a:r>
            <a:endParaRPr lang="en-US" sz="1300" dirty="0"/>
          </a:p>
        </p:txBody>
      </p:sp>
      <p:sp>
        <p:nvSpPr>
          <p:cNvPr id="74" name="Text 66"/>
          <p:cNvSpPr txBox="1"/>
          <p:nvPr/>
        </p:nvSpPr>
        <p:spPr>
          <a:xfrm>
            <a:off x="8476488" y="3767328"/>
            <a:ext cx="2956255" cy="292608"/>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Cloud Scheduler runs a job every 3 hours</a:t>
            </a:r>
            <a:endParaRPr lang="en-US" sz="1100" dirty="0"/>
          </a:p>
        </p:txBody>
      </p:sp>
      <p:sp>
        <p:nvSpPr>
          <p:cNvPr id="75" name="Shape 67"/>
          <p:cNvSpPr/>
          <p:nvPr/>
        </p:nvSpPr>
        <p:spPr>
          <a:xfrm>
            <a:off x="8220456" y="4389120"/>
            <a:ext cx="109728" cy="109728"/>
          </a:xfrm>
          <a:prstGeom prst="ellipse">
            <a:avLst/>
          </a:prstGeom>
          <a:solidFill>
            <a:srgbClr val="1A73E8"/>
          </a:solidFill>
          <a:ln/>
        </p:spPr>
      </p:sp>
      <p:sp>
        <p:nvSpPr>
          <p:cNvPr id="76" name="Text 68"/>
          <p:cNvSpPr txBox="1"/>
          <p:nvPr/>
        </p:nvSpPr>
        <p:spPr>
          <a:xfrm>
            <a:off x="8476488" y="4297680"/>
            <a:ext cx="2956255" cy="292608"/>
          </a:xfrm>
          <a:prstGeom prst="rect">
            <a:avLst/>
          </a:prstGeom>
          <a:noFill/>
          <a:ln/>
        </p:spPr>
        <p:txBody>
          <a:bodyPr wrap="square" lIns="0" tIns="0" rIns="0" bIns="0" rtlCol="0" anchor="t"/>
          <a:lstStyle/>
          <a:p>
            <a:pPr indent="0" marL="0">
              <a:buNone/>
            </a:pPr>
            <a:r>
              <a:rPr lang="en-US" sz="1300" b="1" dirty="0">
                <a:solidFill>
                  <a:srgbClr val="202124"/>
                </a:solidFill>
                <a:latin typeface="Arial" pitchFamily="34" charset="0"/>
                <a:ea typeface="Arial" pitchFamily="34" charset="-122"/>
                <a:cs typeface="Arial" pitchFamily="34" charset="-120"/>
              </a:rPr>
              <a:t>Keys stay secret</a:t>
            </a:r>
            <a:endParaRPr lang="en-US" sz="1300" dirty="0"/>
          </a:p>
        </p:txBody>
      </p:sp>
      <p:sp>
        <p:nvSpPr>
          <p:cNvPr id="77" name="Text 69"/>
          <p:cNvSpPr txBox="1"/>
          <p:nvPr/>
        </p:nvSpPr>
        <p:spPr>
          <a:xfrm>
            <a:off x="8476488" y="4590288"/>
            <a:ext cx="2956255" cy="292608"/>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Secret Manager and a dedicated service account</a:t>
            </a:r>
            <a:endParaRPr lang="en-US" sz="1100" dirty="0"/>
          </a:p>
        </p:txBody>
      </p:sp>
      <p:sp>
        <p:nvSpPr>
          <p:cNvPr id="78" name="Shape 70"/>
          <p:cNvSpPr/>
          <p:nvPr/>
        </p:nvSpPr>
        <p:spPr>
          <a:xfrm>
            <a:off x="8220456" y="5212080"/>
            <a:ext cx="109728" cy="109728"/>
          </a:xfrm>
          <a:prstGeom prst="ellipse">
            <a:avLst/>
          </a:prstGeom>
          <a:solidFill>
            <a:srgbClr val="1A73E8"/>
          </a:solidFill>
          <a:ln/>
        </p:spPr>
      </p:sp>
      <p:sp>
        <p:nvSpPr>
          <p:cNvPr id="79" name="Text 71"/>
          <p:cNvSpPr txBox="1"/>
          <p:nvPr/>
        </p:nvSpPr>
        <p:spPr>
          <a:xfrm>
            <a:off x="8476488" y="5120640"/>
            <a:ext cx="2956255" cy="292608"/>
          </a:xfrm>
          <a:prstGeom prst="rect">
            <a:avLst/>
          </a:prstGeom>
          <a:noFill/>
          <a:ln/>
        </p:spPr>
        <p:txBody>
          <a:bodyPr wrap="square" lIns="0" tIns="0" rIns="0" bIns="0" rtlCol="0" anchor="t"/>
          <a:lstStyle/>
          <a:p>
            <a:pPr indent="0" marL="0">
              <a:buNone/>
            </a:pPr>
            <a:r>
              <a:rPr lang="en-US" sz="1300" b="1" dirty="0">
                <a:solidFill>
                  <a:srgbClr val="202124"/>
                </a:solidFill>
                <a:latin typeface="Arial" pitchFamily="34" charset="0"/>
                <a:ea typeface="Arial" pitchFamily="34" charset="-122"/>
                <a:cs typeface="Arial" pitchFamily="34" charset="-120"/>
              </a:rPr>
              <a:t>A new state is a config file</a:t>
            </a:r>
            <a:endParaRPr lang="en-US" sz="1300" dirty="0"/>
          </a:p>
        </p:txBody>
      </p:sp>
      <p:sp>
        <p:nvSpPr>
          <p:cNvPr id="80" name="Text 72"/>
          <p:cNvSpPr txBox="1"/>
          <p:nvPr/>
        </p:nvSpPr>
        <p:spPr>
          <a:xfrm>
            <a:off x="8476488" y="5413248"/>
            <a:ext cx="2956255" cy="292608"/>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Same app, models and agents for any coast</a:t>
            </a:r>
            <a:endParaRPr lang="en-US" sz="1100" dirty="0"/>
          </a:p>
        </p:txBody>
      </p:sp>
      <p:sp>
        <p:nvSpPr>
          <p:cNvPr id="81" name="Shape 73"/>
          <p:cNvSpPr/>
          <p:nvPr/>
        </p:nvSpPr>
        <p:spPr>
          <a:xfrm>
            <a:off x="548640" y="6492240"/>
            <a:ext cx="73152" cy="73152"/>
          </a:xfrm>
          <a:prstGeom prst="ellipse">
            <a:avLst/>
          </a:prstGeom>
          <a:solidFill>
            <a:srgbClr val="1A73E8"/>
          </a:solidFill>
          <a:ln/>
        </p:spPr>
      </p:sp>
      <p:sp>
        <p:nvSpPr>
          <p:cNvPr id="82" name="Shape 74"/>
          <p:cNvSpPr/>
          <p:nvPr/>
        </p:nvSpPr>
        <p:spPr>
          <a:xfrm>
            <a:off x="658368" y="6492240"/>
            <a:ext cx="73152" cy="73152"/>
          </a:xfrm>
          <a:prstGeom prst="ellipse">
            <a:avLst/>
          </a:prstGeom>
          <a:solidFill>
            <a:srgbClr val="EA4335"/>
          </a:solidFill>
          <a:ln/>
        </p:spPr>
      </p:sp>
      <p:sp>
        <p:nvSpPr>
          <p:cNvPr id="83" name="Shape 75"/>
          <p:cNvSpPr/>
          <p:nvPr/>
        </p:nvSpPr>
        <p:spPr>
          <a:xfrm>
            <a:off x="768096" y="6492240"/>
            <a:ext cx="73152" cy="73152"/>
          </a:xfrm>
          <a:prstGeom prst="ellipse">
            <a:avLst/>
          </a:prstGeom>
          <a:solidFill>
            <a:srgbClr val="FBBC04"/>
          </a:solidFill>
          <a:ln/>
        </p:spPr>
      </p:sp>
      <p:sp>
        <p:nvSpPr>
          <p:cNvPr id="84" name="Shape 76"/>
          <p:cNvSpPr/>
          <p:nvPr/>
        </p:nvSpPr>
        <p:spPr>
          <a:xfrm>
            <a:off x="877824" y="6492240"/>
            <a:ext cx="73152" cy="73152"/>
          </a:xfrm>
          <a:prstGeom prst="ellipse">
            <a:avLst/>
          </a:prstGeom>
          <a:solidFill>
            <a:srgbClr val="34A853"/>
          </a:solidFill>
          <a:ln/>
        </p:spPr>
      </p:sp>
      <p:sp>
        <p:nvSpPr>
          <p:cNvPr id="85" name="Text 77"/>
          <p:cNvSpPr txBox="1"/>
          <p:nvPr/>
        </p:nvSpPr>
        <p:spPr>
          <a:xfrm>
            <a:off x="1024128" y="6419088"/>
            <a:ext cx="4572000" cy="22860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Team Echo  ·  SurgeSight</a:t>
            </a:r>
            <a:endParaRPr lang="en-US" sz="950" dirty="0"/>
          </a:p>
        </p:txBody>
      </p:sp>
      <p:sp>
        <p:nvSpPr>
          <p:cNvPr id="86" name="Text 78"/>
          <p:cNvSpPr txBox="1"/>
          <p:nvPr/>
        </p:nvSpPr>
        <p:spPr>
          <a:xfrm>
            <a:off x="11094415" y="6419088"/>
            <a:ext cx="548640" cy="228600"/>
          </a:xfrm>
          <a:prstGeom prst="rect">
            <a:avLst/>
          </a:prstGeom>
          <a:noFill/>
          <a:ln/>
        </p:spPr>
        <p:txBody>
          <a:bodyPr wrap="square" lIns="0" tIns="0" rIns="0" bIns="0" rtlCol="0" anchor="ctr"/>
          <a:lstStyle/>
          <a:p>
            <a:pPr algn="r" indent="0" marL="0">
              <a:buNone/>
            </a:pPr>
            <a:r>
              <a:rPr lang="en-US" sz="950" dirty="0">
                <a:solidFill>
                  <a:srgbClr val="5F6368"/>
                </a:solidFill>
                <a:latin typeface="Arial" pitchFamily="34" charset="0"/>
                <a:ea typeface="Arial" pitchFamily="34" charset="-122"/>
                <a:cs typeface="Arial"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91440" cy="91440"/>
          </a:xfrm>
          <a:prstGeom prst="ellipse">
            <a:avLst/>
          </a:prstGeom>
          <a:solidFill>
            <a:srgbClr val="1A73E8"/>
          </a:solidFill>
          <a:ln/>
        </p:spPr>
      </p:sp>
      <p:sp>
        <p:nvSpPr>
          <p:cNvPr id="3" name="Shape 1"/>
          <p:cNvSpPr/>
          <p:nvPr/>
        </p:nvSpPr>
        <p:spPr>
          <a:xfrm>
            <a:off x="685800" y="475488"/>
            <a:ext cx="91440" cy="91440"/>
          </a:xfrm>
          <a:prstGeom prst="ellipse">
            <a:avLst/>
          </a:prstGeom>
          <a:solidFill>
            <a:srgbClr val="EA4335"/>
          </a:solidFill>
          <a:ln/>
        </p:spPr>
      </p:sp>
      <p:sp>
        <p:nvSpPr>
          <p:cNvPr id="4" name="Shape 2"/>
          <p:cNvSpPr/>
          <p:nvPr/>
        </p:nvSpPr>
        <p:spPr>
          <a:xfrm>
            <a:off x="822960" y="475488"/>
            <a:ext cx="91440" cy="91440"/>
          </a:xfrm>
          <a:prstGeom prst="ellipse">
            <a:avLst/>
          </a:prstGeom>
          <a:solidFill>
            <a:srgbClr val="FBBC04"/>
          </a:solidFill>
          <a:ln/>
        </p:spPr>
      </p:sp>
      <p:sp>
        <p:nvSpPr>
          <p:cNvPr id="5" name="Shape 3"/>
          <p:cNvSpPr/>
          <p:nvPr/>
        </p:nvSpPr>
        <p:spPr>
          <a:xfrm>
            <a:off x="960120" y="475488"/>
            <a:ext cx="91440" cy="91440"/>
          </a:xfrm>
          <a:prstGeom prst="ellipse">
            <a:avLst/>
          </a:prstGeom>
          <a:solidFill>
            <a:srgbClr val="34A853"/>
          </a:solidFill>
          <a:ln/>
        </p:spPr>
      </p:sp>
      <p:sp>
        <p:nvSpPr>
          <p:cNvPr id="6" name="Text 4"/>
          <p:cNvSpPr txBox="1"/>
          <p:nvPr/>
        </p:nvSpPr>
        <p:spPr>
          <a:xfrm>
            <a:off x="1115568" y="393192"/>
            <a:ext cx="8229600" cy="274320"/>
          </a:xfrm>
          <a:prstGeom prst="rect">
            <a:avLst/>
          </a:prstGeom>
          <a:noFill/>
          <a:ln/>
        </p:spPr>
        <p:txBody>
          <a:bodyPr wrap="square" lIns="0" tIns="0" rIns="0" bIns="0" rtlCol="0" anchor="ctr"/>
          <a:lstStyle/>
          <a:p>
            <a:pPr indent="0" marL="0">
              <a:buNone/>
            </a:pPr>
            <a:r>
              <a:rPr lang="en-US" sz="1100" b="1" spc="200" kern="0" dirty="0">
                <a:solidFill>
                  <a:srgbClr val="1A73E8"/>
                </a:solidFill>
                <a:latin typeface="Arial" pitchFamily="34" charset="0"/>
                <a:ea typeface="Arial" pitchFamily="34" charset="-122"/>
                <a:cs typeface="Arial" pitchFamily="34" charset="-120"/>
              </a:rPr>
              <a:t>WHAT’S NEXT</a:t>
            </a:r>
            <a:endParaRPr lang="en-US" sz="1100" dirty="0"/>
          </a:p>
        </p:txBody>
      </p:sp>
      <p:sp>
        <p:nvSpPr>
          <p:cNvPr id="7" name="Text 5"/>
          <p:cNvSpPr txBox="1"/>
          <p:nvPr/>
        </p:nvSpPr>
        <p:spPr>
          <a:xfrm>
            <a:off x="548640" y="786384"/>
            <a:ext cx="11094415" cy="914400"/>
          </a:xfrm>
          <a:prstGeom prst="rect">
            <a:avLst/>
          </a:prstGeom>
          <a:noFill/>
          <a:ln/>
        </p:spPr>
        <p:txBody>
          <a:bodyPr wrap="square" lIns="0" tIns="0" rIns="0" bIns="0" rtlCol="0" anchor="t"/>
          <a:lstStyle/>
          <a:p>
            <a:pPr indent="0" marL="0">
              <a:buNone/>
            </a:pPr>
            <a:r>
              <a:rPr lang="en-US" sz="2700" b="1" dirty="0">
                <a:solidFill>
                  <a:srgbClr val="202124"/>
                </a:solidFill>
                <a:latin typeface="Arial" pitchFamily="34" charset="0"/>
                <a:ea typeface="Arial" pitchFamily="34" charset="-122"/>
                <a:cs typeface="Arial" pitchFamily="34" charset="-120"/>
              </a:rPr>
              <a:t>Next: from the control room to every coastal home.</a:t>
            </a:r>
            <a:endParaRPr lang="en-US" sz="2700" dirty="0"/>
          </a:p>
        </p:txBody>
      </p:sp>
      <p:sp>
        <p:nvSpPr>
          <p:cNvPr id="8" name="Shape 6"/>
          <p:cNvSpPr/>
          <p:nvPr/>
        </p:nvSpPr>
        <p:spPr>
          <a:xfrm>
            <a:off x="548640" y="1783080"/>
            <a:ext cx="3545738" cy="1920240"/>
          </a:xfrm>
          <a:prstGeom prst="roundRect">
            <a:avLst>
              <a:gd name="adj" fmla="val 5714"/>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sp>
        <p:nvSpPr>
          <p:cNvPr id="9" name="Shape 7"/>
          <p:cNvSpPr/>
          <p:nvPr/>
        </p:nvSpPr>
        <p:spPr>
          <a:xfrm>
            <a:off x="804672" y="2057400"/>
            <a:ext cx="603504" cy="603504"/>
          </a:xfrm>
          <a:prstGeom prst="ellipse">
            <a:avLst/>
          </a:prstGeom>
          <a:solidFill>
            <a:srgbClr val="E8F0FE"/>
          </a:solidFill>
          <a:ln/>
        </p:spPr>
      </p:sp>
      <p:pic>
        <p:nvPicPr>
          <p:cNvPr id="10" name="Image 0" descr="preencoded.png">    </p:cNvPr>
          <p:cNvPicPr>
            <a:picLocks noChangeAspect="1"/>
          </p:cNvPicPr>
          <p:nvPr/>
        </p:nvPicPr>
        <p:blipFill>
          <a:blip r:embed="rId1"/>
          <a:stretch>
            <a:fillRect/>
          </a:stretch>
        </p:blipFill>
        <p:spPr>
          <a:xfrm>
            <a:off x="937443" y="2190171"/>
            <a:ext cx="337962" cy="337962"/>
          </a:xfrm>
          <a:prstGeom prst="rect">
            <a:avLst/>
          </a:prstGeom>
        </p:spPr>
      </p:pic>
      <p:sp>
        <p:nvSpPr>
          <p:cNvPr id="11" name="Text 8"/>
          <p:cNvSpPr txBox="1"/>
          <p:nvPr/>
        </p:nvSpPr>
        <p:spPr>
          <a:xfrm>
            <a:off x="1572768" y="2057400"/>
            <a:ext cx="2357018" cy="603504"/>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SurgeSight for citizens</a:t>
            </a:r>
            <a:endParaRPr lang="en-US" sz="1600" dirty="0"/>
          </a:p>
        </p:txBody>
      </p:sp>
      <p:sp>
        <p:nvSpPr>
          <p:cNvPr id="12" name="Text 9"/>
          <p:cNvSpPr txBox="1"/>
          <p:nvPr/>
        </p:nvSpPr>
        <p:spPr>
          <a:xfrm>
            <a:off x="804672" y="2807208"/>
            <a:ext cx="3033674" cy="777240"/>
          </a:xfrm>
          <a:prstGeom prst="rect">
            <a:avLst/>
          </a:prstGeom>
          <a:noFill/>
          <a:ln/>
        </p:spPr>
        <p:txBody>
          <a:bodyPr wrap="square" lIns="0" tIns="0" rIns="0" bIns="0" rtlCol="0" anchor="t"/>
          <a:lstStyle/>
          <a:p>
            <a:pPr indent="0" marL="0">
              <a:buNone/>
            </a:pPr>
            <a:r>
              <a:rPr lang="en-US" sz="1250" dirty="0">
                <a:solidFill>
                  <a:srgbClr val="5F6368"/>
                </a:solidFill>
                <a:latin typeface="Arial" pitchFamily="34" charset="0"/>
                <a:ea typeface="Arial" pitchFamily="34" charset="-122"/>
                <a:cs typeface="Arial" pitchFamily="34" charset="-120"/>
              </a:rPr>
              <a:t>“Am I at risk?” in my language, the nearest safe shelter, and a lower-risk route to it.</a:t>
            </a:r>
            <a:endParaRPr lang="en-US" sz="1250" dirty="0"/>
          </a:p>
        </p:txBody>
      </p:sp>
      <p:sp>
        <p:nvSpPr>
          <p:cNvPr id="13" name="Shape 10"/>
          <p:cNvSpPr/>
          <p:nvPr/>
        </p:nvSpPr>
        <p:spPr>
          <a:xfrm>
            <a:off x="4322978" y="1783080"/>
            <a:ext cx="3545738" cy="1920240"/>
          </a:xfrm>
          <a:prstGeom prst="roundRect">
            <a:avLst>
              <a:gd name="adj" fmla="val 5714"/>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sp>
        <p:nvSpPr>
          <p:cNvPr id="14" name="Shape 11"/>
          <p:cNvSpPr/>
          <p:nvPr/>
        </p:nvSpPr>
        <p:spPr>
          <a:xfrm>
            <a:off x="4579010" y="2057400"/>
            <a:ext cx="603504" cy="603504"/>
          </a:xfrm>
          <a:prstGeom prst="ellipse">
            <a:avLst/>
          </a:prstGeom>
          <a:solidFill>
            <a:srgbClr val="FCE8E6"/>
          </a:solidFill>
          <a:ln/>
        </p:spPr>
      </p:sp>
      <p:pic>
        <p:nvPicPr>
          <p:cNvPr id="15" name="Image 1" descr="preencoded.png">    </p:cNvPr>
          <p:cNvPicPr>
            <a:picLocks noChangeAspect="1"/>
          </p:cNvPicPr>
          <p:nvPr/>
        </p:nvPicPr>
        <p:blipFill>
          <a:blip r:embed="rId2"/>
          <a:stretch>
            <a:fillRect/>
          </a:stretch>
        </p:blipFill>
        <p:spPr>
          <a:xfrm>
            <a:off x="4711781" y="2190171"/>
            <a:ext cx="337962" cy="337962"/>
          </a:xfrm>
          <a:prstGeom prst="rect">
            <a:avLst/>
          </a:prstGeom>
        </p:spPr>
      </p:pic>
      <p:sp>
        <p:nvSpPr>
          <p:cNvPr id="16" name="Text 12"/>
          <p:cNvSpPr txBox="1"/>
          <p:nvPr/>
        </p:nvSpPr>
        <p:spPr>
          <a:xfrm>
            <a:off x="5347106" y="2057400"/>
            <a:ext cx="2357018" cy="603504"/>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Cascading failures</a:t>
            </a:r>
            <a:endParaRPr lang="en-US" sz="1600" dirty="0"/>
          </a:p>
        </p:txBody>
      </p:sp>
      <p:sp>
        <p:nvSpPr>
          <p:cNvPr id="17" name="Text 13"/>
          <p:cNvSpPr txBox="1"/>
          <p:nvPr/>
        </p:nvSpPr>
        <p:spPr>
          <a:xfrm>
            <a:off x="4579010" y="2807208"/>
            <a:ext cx="3033674" cy="777240"/>
          </a:xfrm>
          <a:prstGeom prst="rect">
            <a:avLst/>
          </a:prstGeom>
          <a:noFill/>
          <a:ln/>
        </p:spPr>
        <p:txBody>
          <a:bodyPr wrap="square" lIns="0" tIns="0" rIns="0" bIns="0" rtlCol="0" anchor="t"/>
          <a:lstStyle/>
          <a:p>
            <a:pPr indent="0" marL="0">
              <a:buNone/>
            </a:pPr>
            <a:r>
              <a:rPr lang="en-US" sz="1250" dirty="0">
                <a:solidFill>
                  <a:srgbClr val="5F6368"/>
                </a:solidFill>
                <a:latin typeface="Arial" pitchFamily="34" charset="0"/>
                <a:ea typeface="Arial" pitchFamily="34" charset="-122"/>
                <a:cs typeface="Arial" pitchFamily="34" charset="-120"/>
              </a:rPr>
              <a:t>See which hospitals lose power or water when a substation or pumping station floods.</a:t>
            </a:r>
            <a:endParaRPr lang="en-US" sz="1250" dirty="0"/>
          </a:p>
        </p:txBody>
      </p:sp>
      <p:sp>
        <p:nvSpPr>
          <p:cNvPr id="18" name="Shape 14"/>
          <p:cNvSpPr/>
          <p:nvPr/>
        </p:nvSpPr>
        <p:spPr>
          <a:xfrm>
            <a:off x="8097317" y="1783080"/>
            <a:ext cx="3545738" cy="1920240"/>
          </a:xfrm>
          <a:prstGeom prst="roundRect">
            <a:avLst>
              <a:gd name="adj" fmla="val 5714"/>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sp>
        <p:nvSpPr>
          <p:cNvPr id="19" name="Shape 15"/>
          <p:cNvSpPr/>
          <p:nvPr/>
        </p:nvSpPr>
        <p:spPr>
          <a:xfrm>
            <a:off x="8353349" y="2057400"/>
            <a:ext cx="603504" cy="603504"/>
          </a:xfrm>
          <a:prstGeom prst="ellipse">
            <a:avLst/>
          </a:prstGeom>
          <a:solidFill>
            <a:srgbClr val="FEF7E0"/>
          </a:solidFill>
          <a:ln/>
        </p:spPr>
      </p:sp>
      <p:pic>
        <p:nvPicPr>
          <p:cNvPr id="20" name="Image 2" descr="preencoded.png">    </p:cNvPr>
          <p:cNvPicPr>
            <a:picLocks noChangeAspect="1"/>
          </p:cNvPicPr>
          <p:nvPr/>
        </p:nvPicPr>
        <p:blipFill>
          <a:blip r:embed="rId3"/>
          <a:stretch>
            <a:fillRect/>
          </a:stretch>
        </p:blipFill>
        <p:spPr>
          <a:xfrm>
            <a:off x="8486120" y="2190171"/>
            <a:ext cx="337962" cy="337962"/>
          </a:xfrm>
          <a:prstGeom prst="rect">
            <a:avLst/>
          </a:prstGeom>
        </p:spPr>
      </p:pic>
      <p:sp>
        <p:nvSpPr>
          <p:cNvPr id="21" name="Text 16"/>
          <p:cNvSpPr txBox="1"/>
          <p:nvPr/>
        </p:nvSpPr>
        <p:spPr>
          <a:xfrm>
            <a:off x="9121445" y="2057400"/>
            <a:ext cx="2357018" cy="603504"/>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Straight to every phone</a:t>
            </a:r>
            <a:endParaRPr lang="en-US" sz="1600" dirty="0"/>
          </a:p>
        </p:txBody>
      </p:sp>
      <p:sp>
        <p:nvSpPr>
          <p:cNvPr id="22" name="Text 17"/>
          <p:cNvSpPr txBox="1"/>
          <p:nvPr/>
        </p:nvSpPr>
        <p:spPr>
          <a:xfrm>
            <a:off x="8353349" y="2807208"/>
            <a:ext cx="3033674" cy="777240"/>
          </a:xfrm>
          <a:prstGeom prst="rect">
            <a:avLst/>
          </a:prstGeom>
          <a:noFill/>
          <a:ln/>
        </p:spPr>
        <p:txBody>
          <a:bodyPr wrap="square" lIns="0" tIns="0" rIns="0" bIns="0" rtlCol="0" anchor="t"/>
          <a:lstStyle/>
          <a:p>
            <a:pPr indent="0" marL="0">
              <a:buNone/>
            </a:pPr>
            <a:r>
              <a:rPr lang="en-US" sz="1250" dirty="0">
                <a:solidFill>
                  <a:srgbClr val="5F6368"/>
                </a:solidFill>
                <a:latin typeface="Arial" pitchFamily="34" charset="0"/>
                <a:ea typeface="Arial" pitchFamily="34" charset="-122"/>
                <a:cs typeface="Arial" pitchFamily="34" charset="-120"/>
              </a:rPr>
              <a:t>Send approved CAP alerts to NDMA’s SACHET platform for cell broadcast.</a:t>
            </a:r>
            <a:endParaRPr lang="en-US" sz="1250" dirty="0"/>
          </a:p>
        </p:txBody>
      </p:sp>
      <p:sp>
        <p:nvSpPr>
          <p:cNvPr id="23" name="Shape 18"/>
          <p:cNvSpPr/>
          <p:nvPr/>
        </p:nvSpPr>
        <p:spPr>
          <a:xfrm>
            <a:off x="548640" y="3931920"/>
            <a:ext cx="3545738" cy="1920240"/>
          </a:xfrm>
          <a:prstGeom prst="roundRect">
            <a:avLst>
              <a:gd name="adj" fmla="val 5714"/>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sp>
        <p:nvSpPr>
          <p:cNvPr id="24" name="Shape 19"/>
          <p:cNvSpPr/>
          <p:nvPr/>
        </p:nvSpPr>
        <p:spPr>
          <a:xfrm>
            <a:off x="804672" y="4206240"/>
            <a:ext cx="603504" cy="603504"/>
          </a:xfrm>
          <a:prstGeom prst="ellipse">
            <a:avLst/>
          </a:prstGeom>
          <a:solidFill>
            <a:srgbClr val="E6F4EA"/>
          </a:solidFill>
          <a:ln/>
        </p:spPr>
      </p:sp>
      <p:pic>
        <p:nvPicPr>
          <p:cNvPr id="25" name="Image 3" descr="preencoded.png">    </p:cNvPr>
          <p:cNvPicPr>
            <a:picLocks noChangeAspect="1"/>
          </p:cNvPicPr>
          <p:nvPr/>
        </p:nvPicPr>
        <p:blipFill>
          <a:blip r:embed="rId4"/>
          <a:stretch>
            <a:fillRect/>
          </a:stretch>
        </p:blipFill>
        <p:spPr>
          <a:xfrm>
            <a:off x="937443" y="4339011"/>
            <a:ext cx="337962" cy="337962"/>
          </a:xfrm>
          <a:prstGeom prst="rect">
            <a:avLst/>
          </a:prstGeom>
        </p:spPr>
      </p:pic>
      <p:sp>
        <p:nvSpPr>
          <p:cNvPr id="26" name="Text 20"/>
          <p:cNvSpPr txBox="1"/>
          <p:nvPr/>
        </p:nvSpPr>
        <p:spPr>
          <a:xfrm>
            <a:off x="1572768" y="4206240"/>
            <a:ext cx="2357018" cy="603504"/>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Voice for the last mile</a:t>
            </a:r>
            <a:endParaRPr lang="en-US" sz="1600" dirty="0"/>
          </a:p>
        </p:txBody>
      </p:sp>
      <p:sp>
        <p:nvSpPr>
          <p:cNvPr id="27" name="Text 21"/>
          <p:cNvSpPr txBox="1"/>
          <p:nvPr/>
        </p:nvSpPr>
        <p:spPr>
          <a:xfrm>
            <a:off x="804672" y="4956048"/>
            <a:ext cx="3033674" cy="777240"/>
          </a:xfrm>
          <a:prstGeom prst="rect">
            <a:avLst/>
          </a:prstGeom>
          <a:noFill/>
          <a:ln/>
        </p:spPr>
        <p:txBody>
          <a:bodyPr wrap="square" lIns="0" tIns="0" rIns="0" bIns="0" rtlCol="0" anchor="t"/>
          <a:lstStyle/>
          <a:p>
            <a:pPr indent="0" marL="0">
              <a:buNone/>
            </a:pPr>
            <a:r>
              <a:rPr lang="en-US" sz="1250" dirty="0">
                <a:solidFill>
                  <a:srgbClr val="5F6368"/>
                </a:solidFill>
                <a:latin typeface="Arial" pitchFamily="34" charset="0"/>
                <a:ea typeface="Arial" pitchFamily="34" charset="-122"/>
                <a:cs typeface="Arial" pitchFamily="34" charset="-120"/>
              </a:rPr>
              <a:t>Village officers call in and ask Gemini Live in Tamil, Telugu or Odia.</a:t>
            </a:r>
            <a:endParaRPr lang="en-US" sz="1250" dirty="0"/>
          </a:p>
        </p:txBody>
      </p:sp>
      <p:sp>
        <p:nvSpPr>
          <p:cNvPr id="28" name="Shape 22"/>
          <p:cNvSpPr/>
          <p:nvPr/>
        </p:nvSpPr>
        <p:spPr>
          <a:xfrm>
            <a:off x="4322978" y="3931920"/>
            <a:ext cx="3545738" cy="1920240"/>
          </a:xfrm>
          <a:prstGeom prst="roundRect">
            <a:avLst>
              <a:gd name="adj" fmla="val 5714"/>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sp>
        <p:nvSpPr>
          <p:cNvPr id="29" name="Shape 23"/>
          <p:cNvSpPr/>
          <p:nvPr/>
        </p:nvSpPr>
        <p:spPr>
          <a:xfrm>
            <a:off x="4579010" y="4206240"/>
            <a:ext cx="603504" cy="603504"/>
          </a:xfrm>
          <a:prstGeom prst="ellipse">
            <a:avLst/>
          </a:prstGeom>
          <a:solidFill>
            <a:srgbClr val="E8F0FE"/>
          </a:solidFill>
          <a:ln/>
        </p:spPr>
      </p:sp>
      <p:pic>
        <p:nvPicPr>
          <p:cNvPr id="30" name="Image 4" descr="preencoded.png">    </p:cNvPr>
          <p:cNvPicPr>
            <a:picLocks noChangeAspect="1"/>
          </p:cNvPicPr>
          <p:nvPr/>
        </p:nvPicPr>
        <p:blipFill>
          <a:blip r:embed="rId5"/>
          <a:stretch>
            <a:fillRect/>
          </a:stretch>
        </p:blipFill>
        <p:spPr>
          <a:xfrm>
            <a:off x="4711781" y="4339011"/>
            <a:ext cx="337962" cy="337962"/>
          </a:xfrm>
          <a:prstGeom prst="rect">
            <a:avLst/>
          </a:prstGeom>
        </p:spPr>
      </p:pic>
      <p:sp>
        <p:nvSpPr>
          <p:cNvPr id="31" name="Text 24"/>
          <p:cNvSpPr txBox="1"/>
          <p:nvPr/>
        </p:nvSpPr>
        <p:spPr>
          <a:xfrm>
            <a:off x="5347106" y="4206240"/>
            <a:ext cx="2357018" cy="603504"/>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Money before landfall</a:t>
            </a:r>
            <a:endParaRPr lang="en-US" sz="1600" dirty="0"/>
          </a:p>
        </p:txBody>
      </p:sp>
      <p:sp>
        <p:nvSpPr>
          <p:cNvPr id="32" name="Text 25"/>
          <p:cNvSpPr txBox="1"/>
          <p:nvPr/>
        </p:nvSpPr>
        <p:spPr>
          <a:xfrm>
            <a:off x="4579010" y="4956048"/>
            <a:ext cx="3033674" cy="777240"/>
          </a:xfrm>
          <a:prstGeom prst="rect">
            <a:avLst/>
          </a:prstGeom>
          <a:noFill/>
          <a:ln/>
        </p:spPr>
        <p:txBody>
          <a:bodyPr wrap="square" lIns="0" tIns="0" rIns="0" bIns="0" rtlCol="0" anchor="t"/>
          <a:lstStyle/>
          <a:p>
            <a:pPr indent="0" marL="0">
              <a:buNone/>
            </a:pPr>
            <a:r>
              <a:rPr lang="en-US" sz="1250" dirty="0">
                <a:solidFill>
                  <a:srgbClr val="5F6368"/>
                </a:solidFill>
                <a:latin typeface="Arial" pitchFamily="34" charset="0"/>
                <a:ea typeface="Arial" pitchFamily="34" charset="-122"/>
                <a:cs typeface="Arial" pitchFamily="34" charset="-120"/>
              </a:rPr>
              <a:t>Parametric triggers release relief funds before the storm hits, not weeks after.</a:t>
            </a:r>
            <a:endParaRPr lang="en-US" sz="1250" dirty="0"/>
          </a:p>
        </p:txBody>
      </p:sp>
      <p:sp>
        <p:nvSpPr>
          <p:cNvPr id="33" name="Shape 26"/>
          <p:cNvSpPr/>
          <p:nvPr/>
        </p:nvSpPr>
        <p:spPr>
          <a:xfrm>
            <a:off x="8097317" y="3931920"/>
            <a:ext cx="3545738" cy="1920240"/>
          </a:xfrm>
          <a:prstGeom prst="roundRect">
            <a:avLst>
              <a:gd name="adj" fmla="val 5714"/>
            </a:avLst>
          </a:prstGeom>
          <a:solidFill>
            <a:srgbClr val="FFFFFF"/>
          </a:solidFill>
          <a:ln w="9525">
            <a:solidFill>
              <a:srgbClr val="DADCE0"/>
            </a:solidFill>
            <a:prstDash val="solid"/>
          </a:ln>
          <a:effectLst>
            <a:outerShdw sx="100000" sy="100000" kx="0" ky="0" algn="bl" rotWithShape="0" blurRad="101600" dist="25400" dir="5400000">
              <a:srgbClr val="000000">
                <a:alpha val="10000"/>
              </a:srgbClr>
            </a:outerShdw>
          </a:effectLst>
        </p:spPr>
      </p:sp>
      <p:sp>
        <p:nvSpPr>
          <p:cNvPr id="34" name="Shape 27"/>
          <p:cNvSpPr/>
          <p:nvPr/>
        </p:nvSpPr>
        <p:spPr>
          <a:xfrm>
            <a:off x="8353349" y="4206240"/>
            <a:ext cx="603504" cy="603504"/>
          </a:xfrm>
          <a:prstGeom prst="ellipse">
            <a:avLst/>
          </a:prstGeom>
          <a:solidFill>
            <a:srgbClr val="FCE8E6"/>
          </a:solidFill>
          <a:ln/>
        </p:spPr>
      </p:sp>
      <p:pic>
        <p:nvPicPr>
          <p:cNvPr id="35" name="Image 5" descr="preencoded.png">    </p:cNvPr>
          <p:cNvPicPr>
            <a:picLocks noChangeAspect="1"/>
          </p:cNvPicPr>
          <p:nvPr/>
        </p:nvPicPr>
        <p:blipFill>
          <a:blip r:embed="rId6"/>
          <a:stretch>
            <a:fillRect/>
          </a:stretch>
        </p:blipFill>
        <p:spPr>
          <a:xfrm>
            <a:off x="8486120" y="4339011"/>
            <a:ext cx="337962" cy="337962"/>
          </a:xfrm>
          <a:prstGeom prst="rect">
            <a:avLst/>
          </a:prstGeom>
        </p:spPr>
      </p:pic>
      <p:sp>
        <p:nvSpPr>
          <p:cNvPr id="36" name="Text 28"/>
          <p:cNvSpPr txBox="1"/>
          <p:nvPr/>
        </p:nvSpPr>
        <p:spPr>
          <a:xfrm>
            <a:off x="9121445" y="4206240"/>
            <a:ext cx="2357018" cy="603504"/>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Learns from every storm</a:t>
            </a:r>
            <a:endParaRPr lang="en-US" sz="1600" dirty="0"/>
          </a:p>
        </p:txBody>
      </p:sp>
      <p:sp>
        <p:nvSpPr>
          <p:cNvPr id="37" name="Text 29"/>
          <p:cNvSpPr txBox="1"/>
          <p:nvPr/>
        </p:nvSpPr>
        <p:spPr>
          <a:xfrm>
            <a:off x="8353349" y="4956048"/>
            <a:ext cx="3033674" cy="777240"/>
          </a:xfrm>
          <a:prstGeom prst="rect">
            <a:avLst/>
          </a:prstGeom>
          <a:noFill/>
          <a:ln/>
        </p:spPr>
        <p:txBody>
          <a:bodyPr wrap="square" lIns="0" tIns="0" rIns="0" bIns="0" rtlCol="0" anchor="t"/>
          <a:lstStyle/>
          <a:p>
            <a:pPr indent="0" marL="0">
              <a:buNone/>
            </a:pPr>
            <a:r>
              <a:rPr lang="en-US" sz="1250" dirty="0">
                <a:solidFill>
                  <a:srgbClr val="5F6368"/>
                </a:solidFill>
                <a:latin typeface="Arial" pitchFamily="34" charset="0"/>
                <a:ea typeface="Arial" pitchFamily="34" charset="-122"/>
                <a:cs typeface="Arial" pitchFamily="34" charset="-120"/>
              </a:rPr>
              <a:t>Satellite flood maps after each event retune the model. Then floods and heatwaves too.</a:t>
            </a:r>
            <a:endParaRPr lang="en-US" sz="1250" dirty="0"/>
          </a:p>
        </p:txBody>
      </p:sp>
      <p:sp>
        <p:nvSpPr>
          <p:cNvPr id="38" name="Shape 30"/>
          <p:cNvSpPr/>
          <p:nvPr/>
        </p:nvSpPr>
        <p:spPr>
          <a:xfrm>
            <a:off x="548640" y="6492240"/>
            <a:ext cx="73152" cy="73152"/>
          </a:xfrm>
          <a:prstGeom prst="ellipse">
            <a:avLst/>
          </a:prstGeom>
          <a:solidFill>
            <a:srgbClr val="1A73E8"/>
          </a:solidFill>
          <a:ln/>
        </p:spPr>
      </p:sp>
      <p:sp>
        <p:nvSpPr>
          <p:cNvPr id="39" name="Shape 31"/>
          <p:cNvSpPr/>
          <p:nvPr/>
        </p:nvSpPr>
        <p:spPr>
          <a:xfrm>
            <a:off x="658368" y="6492240"/>
            <a:ext cx="73152" cy="73152"/>
          </a:xfrm>
          <a:prstGeom prst="ellipse">
            <a:avLst/>
          </a:prstGeom>
          <a:solidFill>
            <a:srgbClr val="EA4335"/>
          </a:solidFill>
          <a:ln/>
        </p:spPr>
      </p:sp>
      <p:sp>
        <p:nvSpPr>
          <p:cNvPr id="40" name="Shape 32"/>
          <p:cNvSpPr/>
          <p:nvPr/>
        </p:nvSpPr>
        <p:spPr>
          <a:xfrm>
            <a:off x="768096" y="6492240"/>
            <a:ext cx="73152" cy="73152"/>
          </a:xfrm>
          <a:prstGeom prst="ellipse">
            <a:avLst/>
          </a:prstGeom>
          <a:solidFill>
            <a:srgbClr val="FBBC04"/>
          </a:solidFill>
          <a:ln/>
        </p:spPr>
      </p:sp>
      <p:sp>
        <p:nvSpPr>
          <p:cNvPr id="41" name="Shape 33"/>
          <p:cNvSpPr/>
          <p:nvPr/>
        </p:nvSpPr>
        <p:spPr>
          <a:xfrm>
            <a:off x="877824" y="6492240"/>
            <a:ext cx="73152" cy="73152"/>
          </a:xfrm>
          <a:prstGeom prst="ellipse">
            <a:avLst/>
          </a:prstGeom>
          <a:solidFill>
            <a:srgbClr val="34A853"/>
          </a:solidFill>
          <a:ln/>
        </p:spPr>
      </p:sp>
      <p:sp>
        <p:nvSpPr>
          <p:cNvPr id="42" name="Text 34"/>
          <p:cNvSpPr txBox="1"/>
          <p:nvPr/>
        </p:nvSpPr>
        <p:spPr>
          <a:xfrm>
            <a:off x="1024128" y="6419088"/>
            <a:ext cx="4572000" cy="22860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Team Echo  ·  SurgeSight</a:t>
            </a:r>
            <a:endParaRPr lang="en-US" sz="950" dirty="0"/>
          </a:p>
        </p:txBody>
      </p:sp>
      <p:sp>
        <p:nvSpPr>
          <p:cNvPr id="43" name="Text 35"/>
          <p:cNvSpPr txBox="1"/>
          <p:nvPr/>
        </p:nvSpPr>
        <p:spPr>
          <a:xfrm>
            <a:off x="11094415" y="6419088"/>
            <a:ext cx="548640" cy="228600"/>
          </a:xfrm>
          <a:prstGeom prst="rect">
            <a:avLst/>
          </a:prstGeom>
          <a:noFill/>
          <a:ln/>
        </p:spPr>
        <p:txBody>
          <a:bodyPr wrap="square" lIns="0" tIns="0" rIns="0" bIns="0" rtlCol="0" anchor="ctr"/>
          <a:lstStyle/>
          <a:p>
            <a:pPr algn="r" indent="0" marL="0">
              <a:buNone/>
            </a:pPr>
            <a:r>
              <a:rPr lang="en-US" sz="950" dirty="0">
                <a:solidFill>
                  <a:srgbClr val="5F6368"/>
                </a:solidFill>
                <a:latin typeface="Arial" pitchFamily="34" charset="0"/>
                <a:ea typeface="Arial" pitchFamily="34" charset="-122"/>
                <a:cs typeface="Arial"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75488"/>
            <a:ext cx="91440" cy="91440"/>
          </a:xfrm>
          <a:prstGeom prst="ellipse">
            <a:avLst/>
          </a:prstGeom>
          <a:solidFill>
            <a:srgbClr val="1A73E8"/>
          </a:solidFill>
          <a:ln/>
        </p:spPr>
      </p:sp>
      <p:sp>
        <p:nvSpPr>
          <p:cNvPr id="3" name="Shape 1"/>
          <p:cNvSpPr/>
          <p:nvPr/>
        </p:nvSpPr>
        <p:spPr>
          <a:xfrm>
            <a:off x="685800" y="475488"/>
            <a:ext cx="91440" cy="91440"/>
          </a:xfrm>
          <a:prstGeom prst="ellipse">
            <a:avLst/>
          </a:prstGeom>
          <a:solidFill>
            <a:srgbClr val="EA4335"/>
          </a:solidFill>
          <a:ln/>
        </p:spPr>
      </p:sp>
      <p:sp>
        <p:nvSpPr>
          <p:cNvPr id="4" name="Shape 2"/>
          <p:cNvSpPr/>
          <p:nvPr/>
        </p:nvSpPr>
        <p:spPr>
          <a:xfrm>
            <a:off x="822960" y="475488"/>
            <a:ext cx="91440" cy="91440"/>
          </a:xfrm>
          <a:prstGeom prst="ellipse">
            <a:avLst/>
          </a:prstGeom>
          <a:solidFill>
            <a:srgbClr val="FBBC04"/>
          </a:solidFill>
          <a:ln/>
        </p:spPr>
      </p:sp>
      <p:sp>
        <p:nvSpPr>
          <p:cNvPr id="5" name="Shape 3"/>
          <p:cNvSpPr/>
          <p:nvPr/>
        </p:nvSpPr>
        <p:spPr>
          <a:xfrm>
            <a:off x="960120" y="475488"/>
            <a:ext cx="91440" cy="91440"/>
          </a:xfrm>
          <a:prstGeom prst="ellipse">
            <a:avLst/>
          </a:prstGeom>
          <a:solidFill>
            <a:srgbClr val="34A853"/>
          </a:solidFill>
          <a:ln/>
        </p:spPr>
      </p:sp>
      <p:sp>
        <p:nvSpPr>
          <p:cNvPr id="6" name="Text 4"/>
          <p:cNvSpPr txBox="1"/>
          <p:nvPr/>
        </p:nvSpPr>
        <p:spPr>
          <a:xfrm>
            <a:off x="1115568" y="393192"/>
            <a:ext cx="8229600" cy="274320"/>
          </a:xfrm>
          <a:prstGeom prst="rect">
            <a:avLst/>
          </a:prstGeom>
          <a:noFill/>
          <a:ln/>
        </p:spPr>
        <p:txBody>
          <a:bodyPr wrap="square" lIns="0" tIns="0" rIns="0" bIns="0" rtlCol="0" anchor="ctr"/>
          <a:lstStyle/>
          <a:p>
            <a:pPr indent="0" marL="0">
              <a:buNone/>
            </a:pPr>
            <a:r>
              <a:rPr lang="en-US" sz="1100" b="1" spc="200" kern="0" dirty="0">
                <a:solidFill>
                  <a:srgbClr val="A8C7FA"/>
                </a:solidFill>
                <a:latin typeface="Arial" pitchFamily="34" charset="0"/>
                <a:ea typeface="Arial" pitchFamily="34" charset="-122"/>
                <a:cs typeface="Arial" pitchFamily="34" charset="-120"/>
              </a:rPr>
              <a:t>WHY IT MATTERS</a:t>
            </a:r>
            <a:endParaRPr lang="en-US" sz="1100" dirty="0"/>
          </a:p>
        </p:txBody>
      </p:sp>
      <p:sp>
        <p:nvSpPr>
          <p:cNvPr id="7" name="Text 5"/>
          <p:cNvSpPr txBox="1"/>
          <p:nvPr/>
        </p:nvSpPr>
        <p:spPr>
          <a:xfrm>
            <a:off x="548640" y="786384"/>
            <a:ext cx="11094415" cy="914400"/>
          </a:xfrm>
          <a:prstGeom prst="rect">
            <a:avLst/>
          </a:prstGeom>
          <a:noFill/>
          <a:ln/>
        </p:spPr>
        <p:txBody>
          <a:bodyPr wrap="square" lIns="0" tIns="0" rIns="0" bIns="0" rtlCol="0" anchor="t"/>
          <a:lstStyle/>
          <a:p>
            <a:pPr indent="0" marL="0">
              <a:buNone/>
            </a:pPr>
            <a:r>
              <a:rPr lang="en-US" sz="2700" b="1" dirty="0">
                <a:solidFill>
                  <a:srgbClr val="FFFFFF"/>
                </a:solidFill>
                <a:latin typeface="Arial" pitchFamily="34" charset="0"/>
                <a:ea typeface="Arial" pitchFamily="34" charset="-122"/>
                <a:cs typeface="Arial" pitchFamily="34" charset="-120"/>
              </a:rPr>
              <a:t>The right school, hospital and road protected first, before landfall.</a:t>
            </a:r>
            <a:endParaRPr lang="en-US" sz="2700" dirty="0"/>
          </a:p>
        </p:txBody>
      </p:sp>
      <p:sp>
        <p:nvSpPr>
          <p:cNvPr id="8" name="Shape 6"/>
          <p:cNvSpPr/>
          <p:nvPr/>
        </p:nvSpPr>
        <p:spPr>
          <a:xfrm>
            <a:off x="548640" y="1874520"/>
            <a:ext cx="566928" cy="566928"/>
          </a:xfrm>
          <a:prstGeom prst="ellipse">
            <a:avLst/>
          </a:prstGeom>
          <a:solidFill>
            <a:srgbClr val="13233F"/>
          </a:solidFill>
          <a:ln w="9525">
            <a:solidFill>
              <a:srgbClr val="2E4468"/>
            </a:solidFill>
            <a:prstDash val="solid"/>
          </a:ln>
        </p:spPr>
      </p:sp>
      <p:pic>
        <p:nvPicPr>
          <p:cNvPr id="9" name="Image 0" descr="preencoded.png">    </p:cNvPr>
          <p:cNvPicPr>
            <a:picLocks noChangeAspect="1"/>
          </p:cNvPicPr>
          <p:nvPr/>
        </p:nvPicPr>
        <p:blipFill>
          <a:blip r:embed="rId2"/>
          <a:stretch>
            <a:fillRect/>
          </a:stretch>
        </p:blipFill>
        <p:spPr>
          <a:xfrm>
            <a:off x="676656" y="2002536"/>
            <a:ext cx="310896" cy="310896"/>
          </a:xfrm>
          <a:prstGeom prst="rect">
            <a:avLst/>
          </a:prstGeom>
        </p:spPr>
      </p:pic>
      <p:sp>
        <p:nvSpPr>
          <p:cNvPr id="10" name="Text 7"/>
          <p:cNvSpPr txBox="1"/>
          <p:nvPr/>
        </p:nvSpPr>
        <p:spPr>
          <a:xfrm>
            <a:off x="1325880" y="1856232"/>
            <a:ext cx="5669280" cy="310896"/>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District Collectors</a:t>
            </a:r>
            <a:endParaRPr lang="en-US" sz="1500" dirty="0"/>
          </a:p>
        </p:txBody>
      </p:sp>
      <p:sp>
        <p:nvSpPr>
          <p:cNvPr id="11" name="Text 8"/>
          <p:cNvSpPr txBox="1"/>
          <p:nvPr/>
        </p:nvSpPr>
        <p:spPr>
          <a:xfrm>
            <a:off x="1325880" y="2167128"/>
            <a:ext cx="5669280" cy="292608"/>
          </a:xfrm>
          <a:prstGeom prst="rect">
            <a:avLst/>
          </a:prstGeom>
          <a:noFill/>
          <a:ln/>
        </p:spPr>
        <p:txBody>
          <a:bodyPr wrap="square" lIns="0" tIns="0" rIns="0" bIns="0" rtlCol="0" anchor="t"/>
          <a:lstStyle/>
          <a:p>
            <a:pPr indent="0" marL="0">
              <a:buNone/>
            </a:pPr>
            <a:r>
              <a:rPr lang="en-US" sz="1200" dirty="0">
                <a:solidFill>
                  <a:srgbClr val="A8C7FA"/>
                </a:solidFill>
                <a:latin typeface="Arial" pitchFamily="34" charset="0"/>
                <a:ea typeface="Arial" pitchFamily="34" charset="-122"/>
                <a:cs typeface="Arial" pitchFamily="34" charset="-120"/>
              </a:rPr>
              <a:t>A ranked list of what to protect first, with the reason for each.</a:t>
            </a:r>
            <a:endParaRPr lang="en-US" sz="1200" dirty="0"/>
          </a:p>
        </p:txBody>
      </p:sp>
      <p:sp>
        <p:nvSpPr>
          <p:cNvPr id="12" name="Shape 9"/>
          <p:cNvSpPr/>
          <p:nvPr/>
        </p:nvSpPr>
        <p:spPr>
          <a:xfrm>
            <a:off x="548640" y="2743200"/>
            <a:ext cx="566928" cy="566928"/>
          </a:xfrm>
          <a:prstGeom prst="ellipse">
            <a:avLst/>
          </a:prstGeom>
          <a:solidFill>
            <a:srgbClr val="13233F"/>
          </a:solidFill>
          <a:ln w="9525">
            <a:solidFill>
              <a:srgbClr val="2E4468"/>
            </a:solidFill>
            <a:prstDash val="solid"/>
          </a:ln>
        </p:spPr>
      </p:sp>
      <p:pic>
        <p:nvPicPr>
          <p:cNvPr id="13" name="Image 1" descr="preencoded.png">    </p:cNvPr>
          <p:cNvPicPr>
            <a:picLocks noChangeAspect="1"/>
          </p:cNvPicPr>
          <p:nvPr/>
        </p:nvPicPr>
        <p:blipFill>
          <a:blip r:embed="rId3"/>
          <a:stretch>
            <a:fillRect/>
          </a:stretch>
        </p:blipFill>
        <p:spPr>
          <a:xfrm>
            <a:off x="676656" y="2871216"/>
            <a:ext cx="310896" cy="310896"/>
          </a:xfrm>
          <a:prstGeom prst="rect">
            <a:avLst/>
          </a:prstGeom>
        </p:spPr>
      </p:pic>
      <p:sp>
        <p:nvSpPr>
          <p:cNvPr id="14" name="Text 10"/>
          <p:cNvSpPr txBox="1"/>
          <p:nvPr/>
        </p:nvSpPr>
        <p:spPr>
          <a:xfrm>
            <a:off x="1325880" y="2724912"/>
            <a:ext cx="5669280" cy="310896"/>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Hospitals</a:t>
            </a:r>
            <a:endParaRPr lang="en-US" sz="1500" dirty="0"/>
          </a:p>
        </p:txBody>
      </p:sp>
      <p:sp>
        <p:nvSpPr>
          <p:cNvPr id="15" name="Text 11"/>
          <p:cNvSpPr txBox="1"/>
          <p:nvPr/>
        </p:nvSpPr>
        <p:spPr>
          <a:xfrm>
            <a:off x="1325880" y="3035808"/>
            <a:ext cx="5669280" cy="292608"/>
          </a:xfrm>
          <a:prstGeom prst="rect">
            <a:avLst/>
          </a:prstGeom>
          <a:noFill/>
          <a:ln/>
        </p:spPr>
        <p:txBody>
          <a:bodyPr wrap="square" lIns="0" tIns="0" rIns="0" bIns="0" rtlCol="0" anchor="t"/>
          <a:lstStyle/>
          <a:p>
            <a:pPr indent="0" marL="0">
              <a:buNone/>
            </a:pPr>
            <a:r>
              <a:rPr lang="en-US" sz="1200" dirty="0">
                <a:solidFill>
                  <a:srgbClr val="A8C7FA"/>
                </a:solidFill>
                <a:latin typeface="Arial" pitchFamily="34" charset="0"/>
                <a:ea typeface="Arial" pitchFamily="34" charset="-122"/>
                <a:cs typeface="Arial" pitchFamily="34" charset="-120"/>
              </a:rPr>
              <a:t>Fuel, power and patient moves planned before the roads flood.</a:t>
            </a:r>
            <a:endParaRPr lang="en-US" sz="1200" dirty="0"/>
          </a:p>
        </p:txBody>
      </p:sp>
      <p:sp>
        <p:nvSpPr>
          <p:cNvPr id="16" name="Shape 12"/>
          <p:cNvSpPr/>
          <p:nvPr/>
        </p:nvSpPr>
        <p:spPr>
          <a:xfrm>
            <a:off x="548640" y="3611880"/>
            <a:ext cx="566928" cy="566928"/>
          </a:xfrm>
          <a:prstGeom prst="ellipse">
            <a:avLst/>
          </a:prstGeom>
          <a:solidFill>
            <a:srgbClr val="13233F"/>
          </a:solidFill>
          <a:ln w="9525">
            <a:solidFill>
              <a:srgbClr val="2E4468"/>
            </a:solidFill>
            <a:prstDash val="solid"/>
          </a:ln>
        </p:spPr>
      </p:sp>
      <p:pic>
        <p:nvPicPr>
          <p:cNvPr id="17" name="Image 2" descr="preencoded.png">    </p:cNvPr>
          <p:cNvPicPr>
            <a:picLocks noChangeAspect="1"/>
          </p:cNvPicPr>
          <p:nvPr/>
        </p:nvPicPr>
        <p:blipFill>
          <a:blip r:embed="rId4"/>
          <a:stretch>
            <a:fillRect/>
          </a:stretch>
        </p:blipFill>
        <p:spPr>
          <a:xfrm>
            <a:off x="676656" y="3739896"/>
            <a:ext cx="310896" cy="310896"/>
          </a:xfrm>
          <a:prstGeom prst="rect">
            <a:avLst/>
          </a:prstGeom>
        </p:spPr>
      </p:pic>
      <p:sp>
        <p:nvSpPr>
          <p:cNvPr id="18" name="Text 13"/>
          <p:cNvSpPr txBox="1"/>
          <p:nvPr/>
        </p:nvSpPr>
        <p:spPr>
          <a:xfrm>
            <a:off x="1325880" y="3593592"/>
            <a:ext cx="5669280" cy="310896"/>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Power and water boards</a:t>
            </a:r>
            <a:endParaRPr lang="en-US" sz="1500" dirty="0"/>
          </a:p>
        </p:txBody>
      </p:sp>
      <p:sp>
        <p:nvSpPr>
          <p:cNvPr id="19" name="Text 14"/>
          <p:cNvSpPr txBox="1"/>
          <p:nvPr/>
        </p:nvSpPr>
        <p:spPr>
          <a:xfrm>
            <a:off x="1325880" y="3904488"/>
            <a:ext cx="5669280" cy="292608"/>
          </a:xfrm>
          <a:prstGeom prst="rect">
            <a:avLst/>
          </a:prstGeom>
          <a:noFill/>
          <a:ln/>
        </p:spPr>
        <p:txBody>
          <a:bodyPr wrap="square" lIns="0" tIns="0" rIns="0" bIns="0" rtlCol="0" anchor="t"/>
          <a:lstStyle/>
          <a:p>
            <a:pPr indent="0" marL="0">
              <a:buNone/>
            </a:pPr>
            <a:r>
              <a:rPr lang="en-US" sz="1200" dirty="0">
                <a:solidFill>
                  <a:srgbClr val="A8C7FA"/>
                </a:solidFill>
                <a:latin typeface="Arial" pitchFamily="34" charset="0"/>
                <a:ea typeface="Arial" pitchFamily="34" charset="-122"/>
                <a:cs typeface="Arial" pitchFamily="34" charset="-120"/>
              </a:rPr>
              <a:t>Crews sent to the substations and pumps most at risk.</a:t>
            </a:r>
            <a:endParaRPr lang="en-US" sz="1200" dirty="0"/>
          </a:p>
        </p:txBody>
      </p:sp>
      <p:sp>
        <p:nvSpPr>
          <p:cNvPr id="20" name="Shape 15"/>
          <p:cNvSpPr/>
          <p:nvPr/>
        </p:nvSpPr>
        <p:spPr>
          <a:xfrm>
            <a:off x="548640" y="4480560"/>
            <a:ext cx="566928" cy="566928"/>
          </a:xfrm>
          <a:prstGeom prst="ellipse">
            <a:avLst/>
          </a:prstGeom>
          <a:solidFill>
            <a:srgbClr val="13233F"/>
          </a:solidFill>
          <a:ln w="9525">
            <a:solidFill>
              <a:srgbClr val="2E4468"/>
            </a:solidFill>
            <a:prstDash val="solid"/>
          </a:ln>
        </p:spPr>
      </p:sp>
      <p:pic>
        <p:nvPicPr>
          <p:cNvPr id="21" name="Image 3" descr="preencoded.png">    </p:cNvPr>
          <p:cNvPicPr>
            <a:picLocks noChangeAspect="1"/>
          </p:cNvPicPr>
          <p:nvPr/>
        </p:nvPicPr>
        <p:blipFill>
          <a:blip r:embed="rId5"/>
          <a:stretch>
            <a:fillRect/>
          </a:stretch>
        </p:blipFill>
        <p:spPr>
          <a:xfrm>
            <a:off x="676656" y="4608576"/>
            <a:ext cx="310896" cy="310896"/>
          </a:xfrm>
          <a:prstGeom prst="rect">
            <a:avLst/>
          </a:prstGeom>
        </p:spPr>
      </p:pic>
      <p:sp>
        <p:nvSpPr>
          <p:cNvPr id="22" name="Text 16"/>
          <p:cNvSpPr txBox="1"/>
          <p:nvPr/>
        </p:nvSpPr>
        <p:spPr>
          <a:xfrm>
            <a:off x="1325880" y="4462272"/>
            <a:ext cx="5669280" cy="310896"/>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People on the coast</a:t>
            </a:r>
            <a:endParaRPr lang="en-US" sz="1500" dirty="0"/>
          </a:p>
        </p:txBody>
      </p:sp>
      <p:sp>
        <p:nvSpPr>
          <p:cNvPr id="23" name="Text 17"/>
          <p:cNvSpPr txBox="1"/>
          <p:nvPr/>
        </p:nvSpPr>
        <p:spPr>
          <a:xfrm>
            <a:off x="1325880" y="4773168"/>
            <a:ext cx="5669280" cy="292608"/>
          </a:xfrm>
          <a:prstGeom prst="rect">
            <a:avLst/>
          </a:prstGeom>
          <a:noFill/>
          <a:ln/>
        </p:spPr>
        <p:txBody>
          <a:bodyPr wrap="square" lIns="0" tIns="0" rIns="0" bIns="0" rtlCol="0" anchor="t"/>
          <a:lstStyle/>
          <a:p>
            <a:pPr indent="0" marL="0">
              <a:buNone/>
            </a:pPr>
            <a:r>
              <a:rPr lang="en-US" sz="1200" dirty="0">
                <a:solidFill>
                  <a:srgbClr val="A8C7FA"/>
                </a:solidFill>
                <a:latin typeface="Arial" pitchFamily="34" charset="0"/>
                <a:ea typeface="Arial" pitchFamily="34" charset="-122"/>
                <a:cs typeface="Arial" pitchFamily="34" charset="-120"/>
              </a:rPr>
              <a:t>Warnings in their own language, from the officers they trust.</a:t>
            </a:r>
            <a:endParaRPr lang="en-US" sz="1200" dirty="0"/>
          </a:p>
        </p:txBody>
      </p:sp>
      <p:sp>
        <p:nvSpPr>
          <p:cNvPr id="24" name="Text 18"/>
          <p:cNvSpPr txBox="1"/>
          <p:nvPr/>
        </p:nvSpPr>
        <p:spPr>
          <a:xfrm>
            <a:off x="548640" y="5440680"/>
            <a:ext cx="6400800" cy="32004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Michaung: 10.5 M people · 4,214 facilities · 7 departments · 6 languages</a:t>
            </a:r>
            <a:endParaRPr lang="en-US" sz="1250" dirty="0"/>
          </a:p>
        </p:txBody>
      </p:sp>
      <p:sp>
        <p:nvSpPr>
          <p:cNvPr id="25" name="Text 19"/>
          <p:cNvSpPr txBox="1"/>
          <p:nvPr/>
        </p:nvSpPr>
        <p:spPr>
          <a:xfrm>
            <a:off x="548640" y="5788152"/>
            <a:ext cx="6400800" cy="274320"/>
          </a:xfrm>
          <a:prstGeom prst="rect">
            <a:avLst/>
          </a:prstGeom>
          <a:noFill/>
          <a:ln/>
        </p:spPr>
        <p:txBody>
          <a:bodyPr wrap="square" lIns="0" tIns="0" rIns="0" bIns="0" rtlCol="0" anchor="t"/>
          <a:lstStyle/>
          <a:p>
            <a:pPr indent="0" marL="0">
              <a:buNone/>
            </a:pPr>
            <a:r>
              <a:rPr lang="en-US" sz="1100" i="1" dirty="0">
                <a:solidFill>
                  <a:srgbClr val="A8C7FA"/>
                </a:solidFill>
                <a:latin typeface="Arial" pitchFamily="34" charset="0"/>
                <a:ea typeface="Arial" pitchFamily="34" charset="-122"/>
                <a:cs typeface="Arial" pitchFamily="34" charset="-120"/>
              </a:rPr>
              <a:t>Screening, not forecasting · A person approves every alert</a:t>
            </a:r>
            <a:endParaRPr lang="en-US" sz="1100" dirty="0"/>
          </a:p>
        </p:txBody>
      </p:sp>
      <p:sp>
        <p:nvSpPr>
          <p:cNvPr id="26" name="Shape 20"/>
          <p:cNvSpPr/>
          <p:nvPr/>
        </p:nvSpPr>
        <p:spPr>
          <a:xfrm>
            <a:off x="7635240" y="1874520"/>
            <a:ext cx="4007815" cy="4251960"/>
          </a:xfrm>
          <a:prstGeom prst="roundRect">
            <a:avLst>
              <a:gd name="adj" fmla="val 2738"/>
            </a:avLst>
          </a:prstGeom>
          <a:solidFill>
            <a:srgbClr val="FFFFFF"/>
          </a:solidFill>
          <a:ln/>
        </p:spPr>
      </p:sp>
      <p:pic>
        <p:nvPicPr>
          <p:cNvPr id="27" name="Image 4" descr="preencoded.png">    </p:cNvPr>
          <p:cNvPicPr>
            <a:picLocks noChangeAspect="1"/>
          </p:cNvPicPr>
          <p:nvPr/>
        </p:nvPicPr>
        <p:blipFill>
          <a:blip r:embed="rId6"/>
          <a:stretch>
            <a:fillRect/>
          </a:stretch>
        </p:blipFill>
        <p:spPr>
          <a:xfrm>
            <a:off x="8839048" y="2103120"/>
            <a:ext cx="1600200" cy="1600200"/>
          </a:xfrm>
          <a:prstGeom prst="rect">
            <a:avLst/>
          </a:prstGeom>
        </p:spPr>
      </p:pic>
      <p:sp>
        <p:nvSpPr>
          <p:cNvPr id="28" name="Text 21"/>
          <p:cNvSpPr txBox="1"/>
          <p:nvPr/>
        </p:nvSpPr>
        <p:spPr>
          <a:xfrm>
            <a:off x="7635240" y="3730752"/>
            <a:ext cx="4007815" cy="256032"/>
          </a:xfrm>
          <a:prstGeom prst="rect">
            <a:avLst/>
          </a:prstGeom>
          <a:noFill/>
          <a:ln/>
        </p:spPr>
        <p:txBody>
          <a:bodyPr wrap="square" lIns="0" tIns="0" rIns="0" bIns="0" rtlCol="0" anchor="t"/>
          <a:lstStyle/>
          <a:p>
            <a:pPr algn="ctr" indent="0" marL="0">
              <a:buNone/>
            </a:pPr>
            <a:r>
              <a:rPr lang="en-US" sz="1050" dirty="0">
                <a:solidFill>
                  <a:srgbClr val="5F6368"/>
                </a:solidFill>
                <a:latin typeface="Arial" pitchFamily="34" charset="0"/>
                <a:ea typeface="Arial" pitchFamily="34" charset="-122"/>
                <a:cs typeface="Arial" pitchFamily="34" charset="-120"/>
              </a:rPr>
              <a:t>Scan to try SurgeSight</a:t>
            </a:r>
            <a:endParaRPr lang="en-US" sz="1050" dirty="0"/>
          </a:p>
        </p:txBody>
      </p:sp>
      <p:sp>
        <p:nvSpPr>
          <p:cNvPr id="29" name="Shape 22"/>
          <p:cNvSpPr/>
          <p:nvPr/>
        </p:nvSpPr>
        <p:spPr>
          <a:xfrm>
            <a:off x="8679028" y="4261104"/>
            <a:ext cx="91440" cy="91440"/>
          </a:xfrm>
          <a:prstGeom prst="ellipse">
            <a:avLst/>
          </a:prstGeom>
          <a:solidFill>
            <a:srgbClr val="1A73E8"/>
          </a:solidFill>
          <a:ln/>
        </p:spPr>
      </p:sp>
      <p:sp>
        <p:nvSpPr>
          <p:cNvPr id="30" name="Shape 23"/>
          <p:cNvSpPr/>
          <p:nvPr/>
        </p:nvSpPr>
        <p:spPr>
          <a:xfrm>
            <a:off x="8816188" y="4261104"/>
            <a:ext cx="91440" cy="91440"/>
          </a:xfrm>
          <a:prstGeom prst="ellipse">
            <a:avLst/>
          </a:prstGeom>
          <a:solidFill>
            <a:srgbClr val="EA4335"/>
          </a:solidFill>
          <a:ln/>
        </p:spPr>
      </p:sp>
      <p:sp>
        <p:nvSpPr>
          <p:cNvPr id="31" name="Shape 24"/>
          <p:cNvSpPr/>
          <p:nvPr/>
        </p:nvSpPr>
        <p:spPr>
          <a:xfrm>
            <a:off x="8953348" y="4261104"/>
            <a:ext cx="91440" cy="91440"/>
          </a:xfrm>
          <a:prstGeom prst="ellipse">
            <a:avLst/>
          </a:prstGeom>
          <a:solidFill>
            <a:srgbClr val="FBBC04"/>
          </a:solidFill>
          <a:ln/>
        </p:spPr>
      </p:sp>
      <p:sp>
        <p:nvSpPr>
          <p:cNvPr id="32" name="Shape 25"/>
          <p:cNvSpPr/>
          <p:nvPr/>
        </p:nvSpPr>
        <p:spPr>
          <a:xfrm>
            <a:off x="9090508" y="4261104"/>
            <a:ext cx="91440" cy="91440"/>
          </a:xfrm>
          <a:prstGeom prst="ellipse">
            <a:avLst/>
          </a:prstGeom>
          <a:solidFill>
            <a:srgbClr val="34A853"/>
          </a:solidFill>
          <a:ln/>
        </p:spPr>
      </p:sp>
      <p:sp>
        <p:nvSpPr>
          <p:cNvPr id="33" name="Text 26"/>
          <p:cNvSpPr txBox="1"/>
          <p:nvPr/>
        </p:nvSpPr>
        <p:spPr>
          <a:xfrm>
            <a:off x="9273388" y="4151376"/>
            <a:ext cx="1828800" cy="310896"/>
          </a:xfrm>
          <a:prstGeom prst="rect">
            <a:avLst/>
          </a:prstGeom>
          <a:noFill/>
          <a:ln/>
        </p:spPr>
        <p:txBody>
          <a:bodyPr wrap="square" lIns="0" tIns="0" rIns="0" bIns="0" rtlCol="0" anchor="ctr"/>
          <a:lstStyle/>
          <a:p>
            <a:pPr indent="0" marL="0">
              <a:buNone/>
            </a:pPr>
            <a:r>
              <a:rPr lang="en-US" sz="1400" b="1" spc="200" kern="0" dirty="0">
                <a:solidFill>
                  <a:srgbClr val="202124"/>
                </a:solidFill>
                <a:latin typeface="Arial" pitchFamily="34" charset="0"/>
                <a:ea typeface="Arial" pitchFamily="34" charset="-122"/>
                <a:cs typeface="Arial" pitchFamily="34" charset="-120"/>
              </a:rPr>
              <a:t>TEAM ECHO</a:t>
            </a:r>
            <a:endParaRPr lang="en-US" sz="1400" dirty="0"/>
          </a:p>
        </p:txBody>
      </p:sp>
      <p:sp>
        <p:nvSpPr>
          <p:cNvPr id="34" name="Text 27"/>
          <p:cNvSpPr txBox="1"/>
          <p:nvPr/>
        </p:nvSpPr>
        <p:spPr>
          <a:xfrm>
            <a:off x="7635240" y="4498848"/>
            <a:ext cx="4007815" cy="274320"/>
          </a:xfrm>
          <a:prstGeom prst="rect">
            <a:avLst/>
          </a:prstGeom>
          <a:noFill/>
          <a:ln/>
        </p:spPr>
        <p:txBody>
          <a:bodyPr wrap="square" lIns="0" tIns="0" rIns="0" bIns="0" rtlCol="0" anchor="t"/>
          <a:lstStyle/>
          <a:p>
            <a:pPr algn="ctr" indent="0" marL="0">
              <a:buNone/>
            </a:pPr>
            <a:r>
              <a:rPr lang="en-US" sz="1200" dirty="0">
                <a:solidFill>
                  <a:srgbClr val="5F6368"/>
                </a:solidFill>
                <a:latin typeface="Arial" pitchFamily="34" charset="0"/>
                <a:ea typeface="Arial" pitchFamily="34" charset="-122"/>
                <a:cs typeface="Arial" pitchFamily="34" charset="-120"/>
              </a:rPr>
              <a:t>Charan  ·  Vishal</a:t>
            </a:r>
            <a:endParaRPr lang="en-US" sz="1200" dirty="0"/>
          </a:p>
        </p:txBody>
      </p:sp>
      <p:sp>
        <p:nvSpPr>
          <p:cNvPr id="35" name="Text 28"/>
          <p:cNvSpPr txBox="1"/>
          <p:nvPr/>
        </p:nvSpPr>
        <p:spPr>
          <a:xfrm>
            <a:off x="7635240" y="4937760"/>
            <a:ext cx="4007815" cy="868680"/>
          </a:xfrm>
          <a:prstGeom prst="rect">
            <a:avLst/>
          </a:prstGeom>
          <a:noFill/>
          <a:ln/>
        </p:spPr>
        <p:txBody>
          <a:bodyPr wrap="square" lIns="0" tIns="0" rIns="0" bIns="0" rtlCol="0" anchor="t"/>
          <a:lstStyle/>
          <a:p>
            <a:pPr algn="ctr" indent="0" marL="0">
              <a:spcAft>
                <a:spcPts val="300"/>
              </a:spcAft>
              <a:buNone/>
            </a:pPr>
            <a:r>
              <a:rPr lang="en-US" sz="1150" b="1" u="sng" dirty="0">
                <a:solidFill>
                  <a:srgbClr val="1967D2"/>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Live app</a:t>
            </a:r>
            <a:endParaRPr lang="en-US" sz="1150" dirty="0"/>
          </a:p>
          <a:p>
            <a:pPr algn="ctr" indent="0" marL="0">
              <a:spcAft>
                <a:spcPts val="300"/>
              </a:spcAft>
              <a:buNone/>
            </a:pPr>
            <a:r>
              <a:rPr lang="en-US" sz="1150" dirty="0">
                <a:solidFill>
                  <a:srgbClr val="5F6368"/>
                </a:solidFill>
                <a:latin typeface="Arial" pitchFamily="34" charset="0"/>
                <a:ea typeface="Arial" pitchFamily="34" charset="-122"/>
                <a:cs typeface="Arial" pitchFamily="34" charset="-120"/>
              </a:rPr>
              <a:t>Demo video: [add link]</a:t>
            </a:r>
            <a:endParaRPr lang="en-US" sz="1150" dirty="0"/>
          </a:p>
          <a:p>
            <a:pPr algn="ctr" indent="0" marL="0">
              <a:spcAft>
                <a:spcPts val="300"/>
              </a:spcAft>
              <a:buNone/>
            </a:pPr>
            <a:r>
              <a:rPr lang="en-US" sz="1150" dirty="0">
                <a:solidFill>
                  <a:srgbClr val="5F6368"/>
                </a:solidFill>
                <a:latin typeface="Arial" pitchFamily="34" charset="0"/>
                <a:ea typeface="Arial" pitchFamily="34" charset="-122"/>
                <a:cs typeface="Arial" pitchFamily="34" charset="-120"/>
              </a:rPr>
              <a:t>Code: [add link]</a:t>
            </a:r>
            <a:endParaRPr lang="en-US" sz="1150" dirty="0"/>
          </a:p>
        </p:txBody>
      </p:sp>
      <p:sp>
        <p:nvSpPr>
          <p:cNvPr id="36" name="Shape 29"/>
          <p:cNvSpPr/>
          <p:nvPr/>
        </p:nvSpPr>
        <p:spPr>
          <a:xfrm>
            <a:off x="548640" y="6492240"/>
            <a:ext cx="73152" cy="73152"/>
          </a:xfrm>
          <a:prstGeom prst="ellipse">
            <a:avLst/>
          </a:prstGeom>
          <a:solidFill>
            <a:srgbClr val="1A73E8"/>
          </a:solidFill>
          <a:ln/>
        </p:spPr>
      </p:sp>
      <p:sp>
        <p:nvSpPr>
          <p:cNvPr id="37" name="Shape 30"/>
          <p:cNvSpPr/>
          <p:nvPr/>
        </p:nvSpPr>
        <p:spPr>
          <a:xfrm>
            <a:off x="658368" y="6492240"/>
            <a:ext cx="73152" cy="73152"/>
          </a:xfrm>
          <a:prstGeom prst="ellipse">
            <a:avLst/>
          </a:prstGeom>
          <a:solidFill>
            <a:srgbClr val="EA4335"/>
          </a:solidFill>
          <a:ln/>
        </p:spPr>
      </p:sp>
      <p:sp>
        <p:nvSpPr>
          <p:cNvPr id="38" name="Shape 31"/>
          <p:cNvSpPr/>
          <p:nvPr/>
        </p:nvSpPr>
        <p:spPr>
          <a:xfrm>
            <a:off x="768096" y="6492240"/>
            <a:ext cx="73152" cy="73152"/>
          </a:xfrm>
          <a:prstGeom prst="ellipse">
            <a:avLst/>
          </a:prstGeom>
          <a:solidFill>
            <a:srgbClr val="FBBC04"/>
          </a:solidFill>
          <a:ln/>
        </p:spPr>
      </p:sp>
      <p:sp>
        <p:nvSpPr>
          <p:cNvPr id="39" name="Shape 32"/>
          <p:cNvSpPr/>
          <p:nvPr/>
        </p:nvSpPr>
        <p:spPr>
          <a:xfrm>
            <a:off x="877824" y="6492240"/>
            <a:ext cx="73152" cy="73152"/>
          </a:xfrm>
          <a:prstGeom prst="ellipse">
            <a:avLst/>
          </a:prstGeom>
          <a:solidFill>
            <a:srgbClr val="34A853"/>
          </a:solidFill>
          <a:ln/>
        </p:spPr>
      </p:sp>
      <p:sp>
        <p:nvSpPr>
          <p:cNvPr id="40" name="Text 33"/>
          <p:cNvSpPr txBox="1"/>
          <p:nvPr/>
        </p:nvSpPr>
        <p:spPr>
          <a:xfrm>
            <a:off x="1024128" y="6419088"/>
            <a:ext cx="4572000" cy="228600"/>
          </a:xfrm>
          <a:prstGeom prst="rect">
            <a:avLst/>
          </a:prstGeom>
          <a:noFill/>
          <a:ln/>
        </p:spPr>
        <p:txBody>
          <a:bodyPr wrap="square" lIns="0" tIns="0" rIns="0" bIns="0" rtlCol="0" anchor="ctr"/>
          <a:lstStyle/>
          <a:p>
            <a:pPr indent="0" marL="0">
              <a:buNone/>
            </a:pPr>
            <a:r>
              <a:rPr lang="en-US" sz="950" dirty="0">
                <a:solidFill>
                  <a:srgbClr val="A8C7FA"/>
                </a:solidFill>
                <a:latin typeface="Arial" pitchFamily="34" charset="0"/>
                <a:ea typeface="Arial" pitchFamily="34" charset="-122"/>
                <a:cs typeface="Arial" pitchFamily="34" charset="-120"/>
              </a:rPr>
              <a:t>Team Echo  ·  SurgeSight</a:t>
            </a:r>
            <a:endParaRPr lang="en-US" sz="950" dirty="0"/>
          </a:p>
        </p:txBody>
      </p:sp>
      <p:sp>
        <p:nvSpPr>
          <p:cNvPr id="41" name="Text 34"/>
          <p:cNvSpPr txBox="1"/>
          <p:nvPr/>
        </p:nvSpPr>
        <p:spPr>
          <a:xfrm>
            <a:off x="11094415" y="6419088"/>
            <a:ext cx="548640" cy="228600"/>
          </a:xfrm>
          <a:prstGeom prst="rect">
            <a:avLst/>
          </a:prstGeom>
          <a:noFill/>
          <a:ln/>
        </p:spPr>
        <p:txBody>
          <a:bodyPr wrap="square" lIns="0" tIns="0" rIns="0" bIns="0" rtlCol="0" anchor="ctr"/>
          <a:lstStyle/>
          <a:p>
            <a:pPr algn="r" indent="0" marL="0">
              <a:buNone/>
            </a:pPr>
            <a:r>
              <a:rPr lang="en-US" sz="950" dirty="0">
                <a:solidFill>
                  <a:srgbClr val="A8C7FA"/>
                </a:solidFill>
                <a:latin typeface="Arial" pitchFamily="34" charset="0"/>
                <a:ea typeface="Arial" pitchFamily="34" charset="-122"/>
                <a:cs typeface="Arial" pitchFamily="34" charset="-120"/>
              </a:rPr>
              <a:t>12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SurgeSight, Team Echo</dc:title>
  <dc:subject>PptxGenJS Presentation</dc:subject>
  <dc:creator>Team Echo (Charan, Vishal)</dc:creator>
  <cp:lastModifiedBy>Team Echo (Charan, Vishal)</cp:lastModifiedBy>
  <cp:revision>1</cp:revision>
  <dcterms:created xsi:type="dcterms:W3CDTF">2026-09-30T16:36:13Z</dcterms:created>
  <dcterms:modified xsi:type="dcterms:W3CDTF">2026-09-30T16:36:13Z</dcterms:modified>
</cp:coreProperties>
</file>